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92" r:id="rId3"/>
    <p:sldId id="271" r:id="rId4"/>
    <p:sldId id="257" r:id="rId5"/>
    <p:sldId id="258" r:id="rId6"/>
    <p:sldId id="259" r:id="rId7"/>
    <p:sldId id="260" r:id="rId8"/>
    <p:sldId id="295" r:id="rId9"/>
    <p:sldId id="261" r:id="rId10"/>
    <p:sldId id="262" r:id="rId11"/>
    <p:sldId id="297" r:id="rId12"/>
    <p:sldId id="298" r:id="rId13"/>
    <p:sldId id="263" r:id="rId14"/>
    <p:sldId id="277" r:id="rId15"/>
    <p:sldId id="264" r:id="rId16"/>
    <p:sldId id="265" r:id="rId17"/>
    <p:sldId id="266" r:id="rId18"/>
    <p:sldId id="281" r:id="rId19"/>
    <p:sldId id="279" r:id="rId20"/>
    <p:sldId id="280" r:id="rId21"/>
    <p:sldId id="267" r:id="rId22"/>
    <p:sldId id="268" r:id="rId23"/>
    <p:sldId id="269" r:id="rId24"/>
    <p:sldId id="272" r:id="rId25"/>
    <p:sldId id="293" r:id="rId26"/>
    <p:sldId id="288" r:id="rId27"/>
    <p:sldId id="286" r:id="rId28"/>
    <p:sldId id="296" r:id="rId29"/>
    <p:sldId id="287" r:id="rId30"/>
    <p:sldId id="299" r:id="rId31"/>
    <p:sldId id="289" r:id="rId32"/>
    <p:sldId id="290" r:id="rId33"/>
    <p:sldId id="291" r:id="rId34"/>
    <p:sldId id="300" r:id="rId35"/>
    <p:sldId id="270" r:id="rId36"/>
    <p:sldId id="273" r:id="rId37"/>
    <p:sldId id="274" r:id="rId38"/>
    <p:sldId id="275" r:id="rId39"/>
    <p:sldId id="276" r:id="rId40"/>
    <p:sldId id="278" r:id="rId41"/>
    <p:sldId id="283" r:id="rId42"/>
    <p:sldId id="284" r:id="rId43"/>
    <p:sldId id="285"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C94D30-6E03-7DD3-DF6F-7D6D929399C2}" v="70" dt="2024-01-06T16:07:37.597"/>
    <p1510:client id="{1E61ACE8-397F-F2B9-042E-86063B521ACD}" v="147" dt="2023-12-22T11:29:31.8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8935" autoAdjust="0"/>
  </p:normalViewPr>
  <p:slideViewPr>
    <p:cSldViewPr snapToGrid="0">
      <p:cViewPr>
        <p:scale>
          <a:sx n="87" d="100"/>
          <a:sy n="87" d="100"/>
        </p:scale>
        <p:origin x="9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5.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69.svg"/><Relationship Id="rId5" Type="http://schemas.openxmlformats.org/officeDocument/2006/relationships/image" Target="../media/image68.png"/><Relationship Id="rId10" Type="http://schemas.openxmlformats.org/officeDocument/2006/relationships/image" Target="../media/image73.svg"/><Relationship Id="rId4" Type="http://schemas.openxmlformats.org/officeDocument/2006/relationships/image" Target="../media/image67.svg"/><Relationship Id="rId9" Type="http://schemas.openxmlformats.org/officeDocument/2006/relationships/image" Target="../media/image7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69.svg"/><Relationship Id="rId5" Type="http://schemas.openxmlformats.org/officeDocument/2006/relationships/image" Target="../media/image68.png"/><Relationship Id="rId10" Type="http://schemas.openxmlformats.org/officeDocument/2006/relationships/image" Target="../media/image73.svg"/><Relationship Id="rId4" Type="http://schemas.openxmlformats.org/officeDocument/2006/relationships/image" Target="../media/image67.svg"/><Relationship Id="rId9" Type="http://schemas.openxmlformats.org/officeDocument/2006/relationships/image" Target="../media/image7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CFED5A-08F0-4DFA-BA51-829C008482D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4B2C5A2-ACB7-4455-A0B9-37C919B0C293}">
      <dgm:prSet/>
      <dgm:spPr/>
      <dgm:t>
        <a:bodyPr/>
        <a:lstStyle/>
        <a:p>
          <a:pPr>
            <a:lnSpc>
              <a:spcPct val="100000"/>
            </a:lnSpc>
          </a:pPr>
          <a:r>
            <a:rPr lang="en-US"/>
            <a:t>Computers are fundamentally deterministic</a:t>
          </a:r>
        </a:p>
      </dgm:t>
    </dgm:pt>
    <dgm:pt modelId="{3A03BB4A-6596-4DE6-B7B8-6FF1B9331014}" type="parTrans" cxnId="{1CD3D9A2-5758-4063-8EC2-0F4F02A1F7F2}">
      <dgm:prSet/>
      <dgm:spPr/>
      <dgm:t>
        <a:bodyPr/>
        <a:lstStyle/>
        <a:p>
          <a:endParaRPr lang="en-US"/>
        </a:p>
      </dgm:t>
    </dgm:pt>
    <dgm:pt modelId="{F95A3F6C-7A2E-4D6E-8AF0-7894F0A0C001}" type="sibTrans" cxnId="{1CD3D9A2-5758-4063-8EC2-0F4F02A1F7F2}">
      <dgm:prSet/>
      <dgm:spPr/>
      <dgm:t>
        <a:bodyPr/>
        <a:lstStyle/>
        <a:p>
          <a:endParaRPr lang="en-US"/>
        </a:p>
      </dgm:t>
    </dgm:pt>
    <dgm:pt modelId="{4F2D7F43-D38C-403E-B4DA-EA7BAF6531B4}">
      <dgm:prSet/>
      <dgm:spPr/>
      <dgm:t>
        <a:bodyPr/>
        <a:lstStyle/>
        <a:p>
          <a:pPr>
            <a:lnSpc>
              <a:spcPct val="100000"/>
            </a:lnSpc>
          </a:pPr>
          <a:r>
            <a:rPr lang="en-US"/>
            <a:t>it is possible to define algorithms that generate sequences of numbers whose properties are very close to the properties of theoretical random numbers sequences</a:t>
          </a:r>
        </a:p>
      </dgm:t>
    </dgm:pt>
    <dgm:pt modelId="{8A99F248-30F6-4821-94B0-4B70A6376CBD}" type="parTrans" cxnId="{C8508FA6-6058-4DF1-A21F-064D16D80DD7}">
      <dgm:prSet/>
      <dgm:spPr/>
      <dgm:t>
        <a:bodyPr/>
        <a:lstStyle/>
        <a:p>
          <a:endParaRPr lang="en-US"/>
        </a:p>
      </dgm:t>
    </dgm:pt>
    <dgm:pt modelId="{DF826188-AA4A-4F1F-8801-1E8C23C0346F}" type="sibTrans" cxnId="{C8508FA6-6058-4DF1-A21F-064D16D80DD7}">
      <dgm:prSet/>
      <dgm:spPr/>
      <dgm:t>
        <a:bodyPr/>
        <a:lstStyle/>
        <a:p>
          <a:endParaRPr lang="en-US"/>
        </a:p>
      </dgm:t>
    </dgm:pt>
    <dgm:pt modelId="{BF89940E-1E90-41AC-A39C-BEE6183A52AE}">
      <dgm:prSet/>
      <dgm:spPr/>
      <dgm:t>
        <a:bodyPr/>
        <a:lstStyle/>
        <a:p>
          <a:pPr>
            <a:lnSpc>
              <a:spcPct val="100000"/>
            </a:lnSpc>
          </a:pPr>
          <a:r>
            <a:rPr lang="en-US"/>
            <a:t>Methods: </a:t>
          </a:r>
          <a:r>
            <a:rPr lang="en-US" b="1"/>
            <a:t>inverse transform method, rejection sampling, Metropolis-Hasting algorithm </a:t>
          </a:r>
          <a:r>
            <a:rPr lang="en-US"/>
            <a:t>and others</a:t>
          </a:r>
        </a:p>
      </dgm:t>
    </dgm:pt>
    <dgm:pt modelId="{7AC68E0F-2902-4E67-AA50-6A3D37C3ACCB}" type="parTrans" cxnId="{D567C753-08CE-4EAB-9B7A-B44DABCBFDF7}">
      <dgm:prSet/>
      <dgm:spPr/>
      <dgm:t>
        <a:bodyPr/>
        <a:lstStyle/>
        <a:p>
          <a:endParaRPr lang="en-US"/>
        </a:p>
      </dgm:t>
    </dgm:pt>
    <dgm:pt modelId="{417664F8-EC85-440F-8106-FFE0CA8AD8B9}" type="sibTrans" cxnId="{D567C753-08CE-4EAB-9B7A-B44DABCBFDF7}">
      <dgm:prSet/>
      <dgm:spPr/>
      <dgm:t>
        <a:bodyPr/>
        <a:lstStyle/>
        <a:p>
          <a:endParaRPr lang="en-US"/>
        </a:p>
      </dgm:t>
    </dgm:pt>
    <dgm:pt modelId="{7DC877BD-49E8-4659-9DAF-88D07A4BF8A2}" type="pres">
      <dgm:prSet presAssocID="{EACFED5A-08F0-4DFA-BA51-829C008482DF}" presName="root" presStyleCnt="0">
        <dgm:presLayoutVars>
          <dgm:dir/>
          <dgm:resizeHandles val="exact"/>
        </dgm:presLayoutVars>
      </dgm:prSet>
      <dgm:spPr/>
    </dgm:pt>
    <dgm:pt modelId="{90A1720F-7AD8-4029-863A-EF0825001353}" type="pres">
      <dgm:prSet presAssocID="{64B2C5A2-ACB7-4455-A0B9-37C919B0C293}" presName="compNode" presStyleCnt="0"/>
      <dgm:spPr/>
    </dgm:pt>
    <dgm:pt modelId="{944B2AF8-222B-4E75-85AB-5C51F99918F0}" type="pres">
      <dgm:prSet presAssocID="{64B2C5A2-ACB7-4455-A0B9-37C919B0C293}" presName="bgRect" presStyleLbl="bgShp" presStyleIdx="0" presStyleCnt="3"/>
      <dgm:spPr/>
    </dgm:pt>
    <dgm:pt modelId="{0651ECC4-E4FB-47E5-BAC7-A4961EF9301F}" type="pres">
      <dgm:prSet presAssocID="{64B2C5A2-ACB7-4455-A0B9-37C919B0C29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313B56A1-AB14-4CFB-B8F4-03DA686AD500}" type="pres">
      <dgm:prSet presAssocID="{64B2C5A2-ACB7-4455-A0B9-37C919B0C293}" presName="spaceRect" presStyleCnt="0"/>
      <dgm:spPr/>
    </dgm:pt>
    <dgm:pt modelId="{370C4C74-14C8-48E9-BE09-5A95E3199449}" type="pres">
      <dgm:prSet presAssocID="{64B2C5A2-ACB7-4455-A0B9-37C919B0C293}" presName="parTx" presStyleLbl="revTx" presStyleIdx="0" presStyleCnt="3">
        <dgm:presLayoutVars>
          <dgm:chMax val="0"/>
          <dgm:chPref val="0"/>
        </dgm:presLayoutVars>
      </dgm:prSet>
      <dgm:spPr/>
    </dgm:pt>
    <dgm:pt modelId="{7D00A01F-39EB-4845-B2F7-085E91FE9992}" type="pres">
      <dgm:prSet presAssocID="{F95A3F6C-7A2E-4D6E-8AF0-7894F0A0C001}" presName="sibTrans" presStyleCnt="0"/>
      <dgm:spPr/>
    </dgm:pt>
    <dgm:pt modelId="{E1FA7179-CB5E-4A52-9559-D89FB1C932DC}" type="pres">
      <dgm:prSet presAssocID="{4F2D7F43-D38C-403E-B4DA-EA7BAF6531B4}" presName="compNode" presStyleCnt="0"/>
      <dgm:spPr/>
    </dgm:pt>
    <dgm:pt modelId="{B7405B99-4464-4D8E-9132-7CCD1D07318F}" type="pres">
      <dgm:prSet presAssocID="{4F2D7F43-D38C-403E-B4DA-EA7BAF6531B4}" presName="bgRect" presStyleLbl="bgShp" presStyleIdx="1" presStyleCnt="3"/>
      <dgm:spPr/>
    </dgm:pt>
    <dgm:pt modelId="{2AC33EFF-DDA4-4A7B-B74C-2C971FDA6534}" type="pres">
      <dgm:prSet presAssocID="{4F2D7F43-D38C-403E-B4DA-EA7BAF6531B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icroscope"/>
        </a:ext>
      </dgm:extLst>
    </dgm:pt>
    <dgm:pt modelId="{BE623F97-D4E1-4390-9C74-8392B746D457}" type="pres">
      <dgm:prSet presAssocID="{4F2D7F43-D38C-403E-B4DA-EA7BAF6531B4}" presName="spaceRect" presStyleCnt="0"/>
      <dgm:spPr/>
    </dgm:pt>
    <dgm:pt modelId="{EC81AFB3-880B-4768-80A0-5E3A60D775B3}" type="pres">
      <dgm:prSet presAssocID="{4F2D7F43-D38C-403E-B4DA-EA7BAF6531B4}" presName="parTx" presStyleLbl="revTx" presStyleIdx="1" presStyleCnt="3">
        <dgm:presLayoutVars>
          <dgm:chMax val="0"/>
          <dgm:chPref val="0"/>
        </dgm:presLayoutVars>
      </dgm:prSet>
      <dgm:spPr/>
    </dgm:pt>
    <dgm:pt modelId="{8424CD79-B949-4C93-812B-6825190977DF}" type="pres">
      <dgm:prSet presAssocID="{DF826188-AA4A-4F1F-8801-1E8C23C0346F}" presName="sibTrans" presStyleCnt="0"/>
      <dgm:spPr/>
    </dgm:pt>
    <dgm:pt modelId="{DC15F889-BF8D-40F7-BC56-B5A2EE99114E}" type="pres">
      <dgm:prSet presAssocID="{BF89940E-1E90-41AC-A39C-BEE6183A52AE}" presName="compNode" presStyleCnt="0"/>
      <dgm:spPr/>
    </dgm:pt>
    <dgm:pt modelId="{1278DAA2-4AEF-4938-8798-D51F25601A92}" type="pres">
      <dgm:prSet presAssocID="{BF89940E-1E90-41AC-A39C-BEE6183A52AE}" presName="bgRect" presStyleLbl="bgShp" presStyleIdx="2" presStyleCnt="3"/>
      <dgm:spPr/>
    </dgm:pt>
    <dgm:pt modelId="{181B919C-E63E-427D-B231-9D7A06B8558F}" type="pres">
      <dgm:prSet presAssocID="{BF89940E-1E90-41AC-A39C-BEE6183A52A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nfinity"/>
        </a:ext>
      </dgm:extLst>
    </dgm:pt>
    <dgm:pt modelId="{0110128A-80D6-4E7A-A88E-A18C8CF755E0}" type="pres">
      <dgm:prSet presAssocID="{BF89940E-1E90-41AC-A39C-BEE6183A52AE}" presName="spaceRect" presStyleCnt="0"/>
      <dgm:spPr/>
    </dgm:pt>
    <dgm:pt modelId="{E880EF2E-82F0-4920-B867-825D172BA77D}" type="pres">
      <dgm:prSet presAssocID="{BF89940E-1E90-41AC-A39C-BEE6183A52AE}" presName="parTx" presStyleLbl="revTx" presStyleIdx="2" presStyleCnt="3">
        <dgm:presLayoutVars>
          <dgm:chMax val="0"/>
          <dgm:chPref val="0"/>
        </dgm:presLayoutVars>
      </dgm:prSet>
      <dgm:spPr/>
    </dgm:pt>
  </dgm:ptLst>
  <dgm:cxnLst>
    <dgm:cxn modelId="{59EBA044-651C-4BAF-A24E-1AF16430A691}" type="presOf" srcId="{4F2D7F43-D38C-403E-B4DA-EA7BAF6531B4}" destId="{EC81AFB3-880B-4768-80A0-5E3A60D775B3}" srcOrd="0" destOrd="0" presId="urn:microsoft.com/office/officeart/2018/2/layout/IconVerticalSolidList"/>
    <dgm:cxn modelId="{D567C753-08CE-4EAB-9B7A-B44DABCBFDF7}" srcId="{EACFED5A-08F0-4DFA-BA51-829C008482DF}" destId="{BF89940E-1E90-41AC-A39C-BEE6183A52AE}" srcOrd="2" destOrd="0" parTransId="{7AC68E0F-2902-4E67-AA50-6A3D37C3ACCB}" sibTransId="{417664F8-EC85-440F-8106-FFE0CA8AD8B9}"/>
    <dgm:cxn modelId="{7F2BAE76-820B-4424-9E97-B6733E1B6C2C}" type="presOf" srcId="{64B2C5A2-ACB7-4455-A0B9-37C919B0C293}" destId="{370C4C74-14C8-48E9-BE09-5A95E3199449}" srcOrd="0" destOrd="0" presId="urn:microsoft.com/office/officeart/2018/2/layout/IconVerticalSolidList"/>
    <dgm:cxn modelId="{68528793-3202-4B29-90E7-92BFE0E759C5}" type="presOf" srcId="{BF89940E-1E90-41AC-A39C-BEE6183A52AE}" destId="{E880EF2E-82F0-4920-B867-825D172BA77D}" srcOrd="0" destOrd="0" presId="urn:microsoft.com/office/officeart/2018/2/layout/IconVerticalSolidList"/>
    <dgm:cxn modelId="{1CD3D9A2-5758-4063-8EC2-0F4F02A1F7F2}" srcId="{EACFED5A-08F0-4DFA-BA51-829C008482DF}" destId="{64B2C5A2-ACB7-4455-A0B9-37C919B0C293}" srcOrd="0" destOrd="0" parTransId="{3A03BB4A-6596-4DE6-B7B8-6FF1B9331014}" sibTransId="{F95A3F6C-7A2E-4D6E-8AF0-7894F0A0C001}"/>
    <dgm:cxn modelId="{C8508FA6-6058-4DF1-A21F-064D16D80DD7}" srcId="{EACFED5A-08F0-4DFA-BA51-829C008482DF}" destId="{4F2D7F43-D38C-403E-B4DA-EA7BAF6531B4}" srcOrd="1" destOrd="0" parTransId="{8A99F248-30F6-4821-94B0-4B70A6376CBD}" sibTransId="{DF826188-AA4A-4F1F-8801-1E8C23C0346F}"/>
    <dgm:cxn modelId="{DE21A7ED-46C8-4397-A98A-7BACF050FCAB}" type="presOf" srcId="{EACFED5A-08F0-4DFA-BA51-829C008482DF}" destId="{7DC877BD-49E8-4659-9DAF-88D07A4BF8A2}" srcOrd="0" destOrd="0" presId="urn:microsoft.com/office/officeart/2018/2/layout/IconVerticalSolidList"/>
    <dgm:cxn modelId="{72125BE8-7C76-4151-BC09-2B6DA724E332}" type="presParOf" srcId="{7DC877BD-49E8-4659-9DAF-88D07A4BF8A2}" destId="{90A1720F-7AD8-4029-863A-EF0825001353}" srcOrd="0" destOrd="0" presId="urn:microsoft.com/office/officeart/2018/2/layout/IconVerticalSolidList"/>
    <dgm:cxn modelId="{76F8F705-676F-4895-872D-36BB3CDE9F4E}" type="presParOf" srcId="{90A1720F-7AD8-4029-863A-EF0825001353}" destId="{944B2AF8-222B-4E75-85AB-5C51F99918F0}" srcOrd="0" destOrd="0" presId="urn:microsoft.com/office/officeart/2018/2/layout/IconVerticalSolidList"/>
    <dgm:cxn modelId="{C61A37C6-6026-46A2-BAFA-D1D3FCFD4B7C}" type="presParOf" srcId="{90A1720F-7AD8-4029-863A-EF0825001353}" destId="{0651ECC4-E4FB-47E5-BAC7-A4961EF9301F}" srcOrd="1" destOrd="0" presId="urn:microsoft.com/office/officeart/2018/2/layout/IconVerticalSolidList"/>
    <dgm:cxn modelId="{9EE4A3D5-C71C-4BB4-A899-E1FA927CA033}" type="presParOf" srcId="{90A1720F-7AD8-4029-863A-EF0825001353}" destId="{313B56A1-AB14-4CFB-B8F4-03DA686AD500}" srcOrd="2" destOrd="0" presId="urn:microsoft.com/office/officeart/2018/2/layout/IconVerticalSolidList"/>
    <dgm:cxn modelId="{910CC24A-3835-4E0A-AFBA-C2AE5D4C17C5}" type="presParOf" srcId="{90A1720F-7AD8-4029-863A-EF0825001353}" destId="{370C4C74-14C8-48E9-BE09-5A95E3199449}" srcOrd="3" destOrd="0" presId="urn:microsoft.com/office/officeart/2018/2/layout/IconVerticalSolidList"/>
    <dgm:cxn modelId="{B441DF57-D586-41FE-BF61-76CF8869FB0F}" type="presParOf" srcId="{7DC877BD-49E8-4659-9DAF-88D07A4BF8A2}" destId="{7D00A01F-39EB-4845-B2F7-085E91FE9992}" srcOrd="1" destOrd="0" presId="urn:microsoft.com/office/officeart/2018/2/layout/IconVerticalSolidList"/>
    <dgm:cxn modelId="{9EBDD497-A8F0-4764-BA9B-766D0E8A74E9}" type="presParOf" srcId="{7DC877BD-49E8-4659-9DAF-88D07A4BF8A2}" destId="{E1FA7179-CB5E-4A52-9559-D89FB1C932DC}" srcOrd="2" destOrd="0" presId="urn:microsoft.com/office/officeart/2018/2/layout/IconVerticalSolidList"/>
    <dgm:cxn modelId="{339E0E5A-934C-45FF-8D55-3A46ECAD2B01}" type="presParOf" srcId="{E1FA7179-CB5E-4A52-9559-D89FB1C932DC}" destId="{B7405B99-4464-4D8E-9132-7CCD1D07318F}" srcOrd="0" destOrd="0" presId="urn:microsoft.com/office/officeart/2018/2/layout/IconVerticalSolidList"/>
    <dgm:cxn modelId="{959086BB-7FE6-4CC3-840C-C3C64A4CFFF5}" type="presParOf" srcId="{E1FA7179-CB5E-4A52-9559-D89FB1C932DC}" destId="{2AC33EFF-DDA4-4A7B-B74C-2C971FDA6534}" srcOrd="1" destOrd="0" presId="urn:microsoft.com/office/officeart/2018/2/layout/IconVerticalSolidList"/>
    <dgm:cxn modelId="{CBCBC5AA-D902-478E-AB07-6015B2736777}" type="presParOf" srcId="{E1FA7179-CB5E-4A52-9559-D89FB1C932DC}" destId="{BE623F97-D4E1-4390-9C74-8392B746D457}" srcOrd="2" destOrd="0" presId="urn:microsoft.com/office/officeart/2018/2/layout/IconVerticalSolidList"/>
    <dgm:cxn modelId="{1E6444E3-9092-44FE-8E9B-D40800CB78D0}" type="presParOf" srcId="{E1FA7179-CB5E-4A52-9559-D89FB1C932DC}" destId="{EC81AFB3-880B-4768-80A0-5E3A60D775B3}" srcOrd="3" destOrd="0" presId="urn:microsoft.com/office/officeart/2018/2/layout/IconVerticalSolidList"/>
    <dgm:cxn modelId="{C0C01548-9164-474F-8FA0-395B21586BF6}" type="presParOf" srcId="{7DC877BD-49E8-4659-9DAF-88D07A4BF8A2}" destId="{8424CD79-B949-4C93-812B-6825190977DF}" srcOrd="3" destOrd="0" presId="urn:microsoft.com/office/officeart/2018/2/layout/IconVerticalSolidList"/>
    <dgm:cxn modelId="{44818944-FD58-439D-8209-9FAE6909003F}" type="presParOf" srcId="{7DC877BD-49E8-4659-9DAF-88D07A4BF8A2}" destId="{DC15F889-BF8D-40F7-BC56-B5A2EE99114E}" srcOrd="4" destOrd="0" presId="urn:microsoft.com/office/officeart/2018/2/layout/IconVerticalSolidList"/>
    <dgm:cxn modelId="{3494FEE0-2B6A-44BC-8F3C-A80C57D8DA19}" type="presParOf" srcId="{DC15F889-BF8D-40F7-BC56-B5A2EE99114E}" destId="{1278DAA2-4AEF-4938-8798-D51F25601A92}" srcOrd="0" destOrd="0" presId="urn:microsoft.com/office/officeart/2018/2/layout/IconVerticalSolidList"/>
    <dgm:cxn modelId="{8E58C98B-8198-4279-A436-74676A295C1F}" type="presParOf" srcId="{DC15F889-BF8D-40F7-BC56-B5A2EE99114E}" destId="{181B919C-E63E-427D-B231-9D7A06B8558F}" srcOrd="1" destOrd="0" presId="urn:microsoft.com/office/officeart/2018/2/layout/IconVerticalSolidList"/>
    <dgm:cxn modelId="{17FD893C-39B1-4BCD-AF30-8216E5BE436D}" type="presParOf" srcId="{DC15F889-BF8D-40F7-BC56-B5A2EE99114E}" destId="{0110128A-80D6-4E7A-A88E-A18C8CF755E0}" srcOrd="2" destOrd="0" presId="urn:microsoft.com/office/officeart/2018/2/layout/IconVerticalSolidList"/>
    <dgm:cxn modelId="{A9561599-2977-4376-9FAE-57A41C7382DF}" type="presParOf" srcId="{DC15F889-BF8D-40F7-BC56-B5A2EE99114E}" destId="{E880EF2E-82F0-4920-B867-825D172BA77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8BDDEE-5DA5-4B81-B39D-2963E074E4E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1A09BBA-D9CA-43A6-8C63-FB55FCFE69FF}">
      <dgm:prSet/>
      <dgm:spPr/>
      <dgm:t>
        <a:bodyPr/>
        <a:lstStyle/>
        <a:p>
          <a:pPr>
            <a:lnSpc>
              <a:spcPct val="100000"/>
            </a:lnSpc>
          </a:pPr>
          <a:r>
            <a:rPr lang="en-US" b="0" i="0"/>
            <a:t>downstream task of GANs is a discrimination task between true and generated samples [</a:t>
          </a:r>
          <a:r>
            <a:rPr lang="en-US" b="1" i="0"/>
            <a:t>Discriminator</a:t>
          </a:r>
          <a:r>
            <a:rPr lang="en-US" b="0" i="0"/>
            <a:t>]</a:t>
          </a:r>
          <a:endParaRPr lang="en-US"/>
        </a:p>
      </dgm:t>
    </dgm:pt>
    <dgm:pt modelId="{839A1848-BAA6-46FE-9290-7DBDF35E62EF}" type="parTrans" cxnId="{5A5B7382-91A0-4CCD-BDA6-F16AB17D182E}">
      <dgm:prSet/>
      <dgm:spPr/>
      <dgm:t>
        <a:bodyPr/>
        <a:lstStyle/>
        <a:p>
          <a:endParaRPr lang="en-US"/>
        </a:p>
      </dgm:t>
    </dgm:pt>
    <dgm:pt modelId="{2B9A40E7-4903-4EEB-8B57-283EBD57E2B5}" type="sibTrans" cxnId="{5A5B7382-91A0-4CCD-BDA6-F16AB17D182E}">
      <dgm:prSet/>
      <dgm:spPr/>
      <dgm:t>
        <a:bodyPr/>
        <a:lstStyle/>
        <a:p>
          <a:endParaRPr lang="en-US"/>
        </a:p>
      </dgm:t>
    </dgm:pt>
    <dgm:pt modelId="{32DC1390-DC5E-4374-8D2D-A72C7FAC676F}">
      <dgm:prSet/>
      <dgm:spPr/>
      <dgm:t>
        <a:bodyPr/>
        <a:lstStyle/>
        <a:p>
          <a:pPr>
            <a:lnSpc>
              <a:spcPct val="100000"/>
            </a:lnSpc>
          </a:pPr>
          <a:r>
            <a:rPr lang="en-US" b="0" i="0"/>
            <a:t>If the two distributions are far apart, the discriminator will be able to classify easily</a:t>
          </a:r>
          <a:endParaRPr lang="en-US"/>
        </a:p>
      </dgm:t>
    </dgm:pt>
    <dgm:pt modelId="{F86290E4-E874-4D5B-905D-A81E8A010F0E}" type="parTrans" cxnId="{5FB0D541-3A8D-44B3-B636-737E13ABD797}">
      <dgm:prSet/>
      <dgm:spPr/>
      <dgm:t>
        <a:bodyPr/>
        <a:lstStyle/>
        <a:p>
          <a:endParaRPr lang="en-US"/>
        </a:p>
      </dgm:t>
    </dgm:pt>
    <dgm:pt modelId="{791B07CC-5849-4713-9F34-44AC49F6F683}" type="sibTrans" cxnId="{5FB0D541-3A8D-44B3-B636-737E13ABD797}">
      <dgm:prSet/>
      <dgm:spPr/>
      <dgm:t>
        <a:bodyPr/>
        <a:lstStyle/>
        <a:p>
          <a:endParaRPr lang="en-US"/>
        </a:p>
      </dgm:t>
    </dgm:pt>
    <dgm:pt modelId="{1E1C0A09-EF68-4A12-9F5C-886CE3D079C1}" type="pres">
      <dgm:prSet presAssocID="{C18BDDEE-5DA5-4B81-B39D-2963E074E4E7}" presName="root" presStyleCnt="0">
        <dgm:presLayoutVars>
          <dgm:dir/>
          <dgm:resizeHandles val="exact"/>
        </dgm:presLayoutVars>
      </dgm:prSet>
      <dgm:spPr/>
    </dgm:pt>
    <dgm:pt modelId="{9BBB48D9-0B83-4EF7-B00A-6334C68271CE}" type="pres">
      <dgm:prSet presAssocID="{81A09BBA-D9CA-43A6-8C63-FB55FCFE69FF}" presName="compNode" presStyleCnt="0"/>
      <dgm:spPr/>
    </dgm:pt>
    <dgm:pt modelId="{11661753-B502-427E-A758-86BC4E872272}" type="pres">
      <dgm:prSet presAssocID="{81A09BBA-D9CA-43A6-8C63-FB55FCFE69FF}" presName="bgRect" presStyleLbl="bgShp" presStyleIdx="0" presStyleCnt="2"/>
      <dgm:spPr/>
    </dgm:pt>
    <dgm:pt modelId="{8D3D4CCC-46EB-4F7F-B875-30843E7E36DB}" type="pres">
      <dgm:prSet presAssocID="{81A09BBA-D9CA-43A6-8C63-FB55FCFE69F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Question mark"/>
        </a:ext>
      </dgm:extLst>
    </dgm:pt>
    <dgm:pt modelId="{408352B5-8D44-4743-BB8B-83DE8975FEDE}" type="pres">
      <dgm:prSet presAssocID="{81A09BBA-D9CA-43A6-8C63-FB55FCFE69FF}" presName="spaceRect" presStyleCnt="0"/>
      <dgm:spPr/>
    </dgm:pt>
    <dgm:pt modelId="{561D5498-3839-4B9D-ABF1-1BD053137E86}" type="pres">
      <dgm:prSet presAssocID="{81A09BBA-D9CA-43A6-8C63-FB55FCFE69FF}" presName="parTx" presStyleLbl="revTx" presStyleIdx="0" presStyleCnt="2">
        <dgm:presLayoutVars>
          <dgm:chMax val="0"/>
          <dgm:chPref val="0"/>
        </dgm:presLayoutVars>
      </dgm:prSet>
      <dgm:spPr/>
    </dgm:pt>
    <dgm:pt modelId="{E4678D14-5CD3-4C63-9C14-6F86B507BFB6}" type="pres">
      <dgm:prSet presAssocID="{2B9A40E7-4903-4EEB-8B57-283EBD57E2B5}" presName="sibTrans" presStyleCnt="0"/>
      <dgm:spPr/>
    </dgm:pt>
    <dgm:pt modelId="{1EC92598-0518-4A9D-B971-53DF25B35A3B}" type="pres">
      <dgm:prSet presAssocID="{32DC1390-DC5E-4374-8D2D-A72C7FAC676F}" presName="compNode" presStyleCnt="0"/>
      <dgm:spPr/>
    </dgm:pt>
    <dgm:pt modelId="{B5A2B670-AFFA-4095-AA13-E219E1B0C799}" type="pres">
      <dgm:prSet presAssocID="{32DC1390-DC5E-4374-8D2D-A72C7FAC676F}" presName="bgRect" presStyleLbl="bgShp" presStyleIdx="1" presStyleCnt="2"/>
      <dgm:spPr/>
    </dgm:pt>
    <dgm:pt modelId="{047D8D8D-C922-4E9C-A5A3-989DF1426DF1}" type="pres">
      <dgm:prSet presAssocID="{32DC1390-DC5E-4374-8D2D-A72C7FAC676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ze"/>
        </a:ext>
      </dgm:extLst>
    </dgm:pt>
    <dgm:pt modelId="{9F08FF63-A29C-422E-AEE4-3A781EDA64E4}" type="pres">
      <dgm:prSet presAssocID="{32DC1390-DC5E-4374-8D2D-A72C7FAC676F}" presName="spaceRect" presStyleCnt="0"/>
      <dgm:spPr/>
    </dgm:pt>
    <dgm:pt modelId="{F3F88C24-5865-41EF-9261-600D1FC87BFC}" type="pres">
      <dgm:prSet presAssocID="{32DC1390-DC5E-4374-8D2D-A72C7FAC676F}" presName="parTx" presStyleLbl="revTx" presStyleIdx="1" presStyleCnt="2">
        <dgm:presLayoutVars>
          <dgm:chMax val="0"/>
          <dgm:chPref val="0"/>
        </dgm:presLayoutVars>
      </dgm:prSet>
      <dgm:spPr/>
    </dgm:pt>
  </dgm:ptLst>
  <dgm:cxnLst>
    <dgm:cxn modelId="{5FE32F08-6A1C-4799-8DAE-8B1B7EE8A327}" type="presOf" srcId="{81A09BBA-D9CA-43A6-8C63-FB55FCFE69FF}" destId="{561D5498-3839-4B9D-ABF1-1BD053137E86}" srcOrd="0" destOrd="0" presId="urn:microsoft.com/office/officeart/2018/2/layout/IconVerticalSolidList"/>
    <dgm:cxn modelId="{01A14A08-FCE2-439F-B314-87C88CBCD087}" type="presOf" srcId="{32DC1390-DC5E-4374-8D2D-A72C7FAC676F}" destId="{F3F88C24-5865-41EF-9261-600D1FC87BFC}" srcOrd="0" destOrd="0" presId="urn:microsoft.com/office/officeart/2018/2/layout/IconVerticalSolidList"/>
    <dgm:cxn modelId="{5FB0D541-3A8D-44B3-B636-737E13ABD797}" srcId="{C18BDDEE-5DA5-4B81-B39D-2963E074E4E7}" destId="{32DC1390-DC5E-4374-8D2D-A72C7FAC676F}" srcOrd="1" destOrd="0" parTransId="{F86290E4-E874-4D5B-905D-A81E8A010F0E}" sibTransId="{791B07CC-5849-4713-9F34-44AC49F6F683}"/>
    <dgm:cxn modelId="{5A5B7382-91A0-4CCD-BDA6-F16AB17D182E}" srcId="{C18BDDEE-5DA5-4B81-B39D-2963E074E4E7}" destId="{81A09BBA-D9CA-43A6-8C63-FB55FCFE69FF}" srcOrd="0" destOrd="0" parTransId="{839A1848-BAA6-46FE-9290-7DBDF35E62EF}" sibTransId="{2B9A40E7-4903-4EEB-8B57-283EBD57E2B5}"/>
    <dgm:cxn modelId="{686C2996-30CF-4CCF-A64A-FA40164C0EEB}" type="presOf" srcId="{C18BDDEE-5DA5-4B81-B39D-2963E074E4E7}" destId="{1E1C0A09-EF68-4A12-9F5C-886CE3D079C1}" srcOrd="0" destOrd="0" presId="urn:microsoft.com/office/officeart/2018/2/layout/IconVerticalSolidList"/>
    <dgm:cxn modelId="{8F8DFD30-82C3-4E89-BB41-63963610034E}" type="presParOf" srcId="{1E1C0A09-EF68-4A12-9F5C-886CE3D079C1}" destId="{9BBB48D9-0B83-4EF7-B00A-6334C68271CE}" srcOrd="0" destOrd="0" presId="urn:microsoft.com/office/officeart/2018/2/layout/IconVerticalSolidList"/>
    <dgm:cxn modelId="{680694D2-468A-48F0-B53B-6FDAF4CC877B}" type="presParOf" srcId="{9BBB48D9-0B83-4EF7-B00A-6334C68271CE}" destId="{11661753-B502-427E-A758-86BC4E872272}" srcOrd="0" destOrd="0" presId="urn:microsoft.com/office/officeart/2018/2/layout/IconVerticalSolidList"/>
    <dgm:cxn modelId="{ABF750E6-F4E5-4D03-A3BA-68CD6A750D2B}" type="presParOf" srcId="{9BBB48D9-0B83-4EF7-B00A-6334C68271CE}" destId="{8D3D4CCC-46EB-4F7F-B875-30843E7E36DB}" srcOrd="1" destOrd="0" presId="urn:microsoft.com/office/officeart/2018/2/layout/IconVerticalSolidList"/>
    <dgm:cxn modelId="{BF3BA734-F5D0-4935-814F-C6CD026696B1}" type="presParOf" srcId="{9BBB48D9-0B83-4EF7-B00A-6334C68271CE}" destId="{408352B5-8D44-4743-BB8B-83DE8975FEDE}" srcOrd="2" destOrd="0" presId="urn:microsoft.com/office/officeart/2018/2/layout/IconVerticalSolidList"/>
    <dgm:cxn modelId="{4A373307-D292-454A-9FCF-BC8E711052EE}" type="presParOf" srcId="{9BBB48D9-0B83-4EF7-B00A-6334C68271CE}" destId="{561D5498-3839-4B9D-ABF1-1BD053137E86}" srcOrd="3" destOrd="0" presId="urn:microsoft.com/office/officeart/2018/2/layout/IconVerticalSolidList"/>
    <dgm:cxn modelId="{DB026501-C739-456C-BDB3-50A225668D77}" type="presParOf" srcId="{1E1C0A09-EF68-4A12-9F5C-886CE3D079C1}" destId="{E4678D14-5CD3-4C63-9C14-6F86B507BFB6}" srcOrd="1" destOrd="0" presId="urn:microsoft.com/office/officeart/2018/2/layout/IconVerticalSolidList"/>
    <dgm:cxn modelId="{2D4492B2-3D2C-4D7D-BD12-9C47F21F71F2}" type="presParOf" srcId="{1E1C0A09-EF68-4A12-9F5C-886CE3D079C1}" destId="{1EC92598-0518-4A9D-B971-53DF25B35A3B}" srcOrd="2" destOrd="0" presId="urn:microsoft.com/office/officeart/2018/2/layout/IconVerticalSolidList"/>
    <dgm:cxn modelId="{3FB57545-0407-4E55-9753-AD1E178EB8EA}" type="presParOf" srcId="{1EC92598-0518-4A9D-B971-53DF25B35A3B}" destId="{B5A2B670-AFFA-4095-AA13-E219E1B0C799}" srcOrd="0" destOrd="0" presId="urn:microsoft.com/office/officeart/2018/2/layout/IconVerticalSolidList"/>
    <dgm:cxn modelId="{0BE16795-0B02-4B0E-8500-44A9A511B562}" type="presParOf" srcId="{1EC92598-0518-4A9D-B971-53DF25B35A3B}" destId="{047D8D8D-C922-4E9C-A5A3-989DF1426DF1}" srcOrd="1" destOrd="0" presId="urn:microsoft.com/office/officeart/2018/2/layout/IconVerticalSolidList"/>
    <dgm:cxn modelId="{98FDE863-BF43-4E58-87D7-1E3F1A003254}" type="presParOf" srcId="{1EC92598-0518-4A9D-B971-53DF25B35A3B}" destId="{9F08FF63-A29C-422E-AEE4-3A781EDA64E4}" srcOrd="2" destOrd="0" presId="urn:microsoft.com/office/officeart/2018/2/layout/IconVerticalSolidList"/>
    <dgm:cxn modelId="{435898E0-F6B0-4968-9DC3-D81C68943D18}" type="presParOf" srcId="{1EC92598-0518-4A9D-B971-53DF25B35A3B}" destId="{F3F88C24-5865-41EF-9261-600D1FC87BF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ACFED5A-08F0-4DFA-BA51-829C008482D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4B2C5A2-ACB7-4455-A0B9-37C919B0C293}">
      <dgm:prSet/>
      <dgm:spPr/>
      <dgm:t>
        <a:bodyPr/>
        <a:lstStyle/>
        <a:p>
          <a:pPr>
            <a:lnSpc>
              <a:spcPct val="100000"/>
            </a:lnSpc>
          </a:pPr>
          <a:r>
            <a:rPr lang="en-US"/>
            <a:t>Computers are fundamentally deterministic</a:t>
          </a:r>
        </a:p>
      </dgm:t>
    </dgm:pt>
    <dgm:pt modelId="{3A03BB4A-6596-4DE6-B7B8-6FF1B9331014}" type="parTrans" cxnId="{1CD3D9A2-5758-4063-8EC2-0F4F02A1F7F2}">
      <dgm:prSet/>
      <dgm:spPr/>
      <dgm:t>
        <a:bodyPr/>
        <a:lstStyle/>
        <a:p>
          <a:endParaRPr lang="en-US"/>
        </a:p>
      </dgm:t>
    </dgm:pt>
    <dgm:pt modelId="{F95A3F6C-7A2E-4D6E-8AF0-7894F0A0C001}" type="sibTrans" cxnId="{1CD3D9A2-5758-4063-8EC2-0F4F02A1F7F2}">
      <dgm:prSet/>
      <dgm:spPr/>
      <dgm:t>
        <a:bodyPr/>
        <a:lstStyle/>
        <a:p>
          <a:endParaRPr lang="en-US"/>
        </a:p>
      </dgm:t>
    </dgm:pt>
    <dgm:pt modelId="{4F2D7F43-D38C-403E-B4DA-EA7BAF6531B4}">
      <dgm:prSet/>
      <dgm:spPr/>
      <dgm:t>
        <a:bodyPr/>
        <a:lstStyle/>
        <a:p>
          <a:pPr>
            <a:lnSpc>
              <a:spcPct val="100000"/>
            </a:lnSpc>
          </a:pPr>
          <a:r>
            <a:rPr lang="en-US"/>
            <a:t>it is possible to define algorithms that generate sequences of numbers whose properties are very close to the properties of theoretical random numbers sequences</a:t>
          </a:r>
        </a:p>
      </dgm:t>
    </dgm:pt>
    <dgm:pt modelId="{8A99F248-30F6-4821-94B0-4B70A6376CBD}" type="parTrans" cxnId="{C8508FA6-6058-4DF1-A21F-064D16D80DD7}">
      <dgm:prSet/>
      <dgm:spPr/>
      <dgm:t>
        <a:bodyPr/>
        <a:lstStyle/>
        <a:p>
          <a:endParaRPr lang="en-US"/>
        </a:p>
      </dgm:t>
    </dgm:pt>
    <dgm:pt modelId="{DF826188-AA4A-4F1F-8801-1E8C23C0346F}" type="sibTrans" cxnId="{C8508FA6-6058-4DF1-A21F-064D16D80DD7}">
      <dgm:prSet/>
      <dgm:spPr/>
      <dgm:t>
        <a:bodyPr/>
        <a:lstStyle/>
        <a:p>
          <a:endParaRPr lang="en-US"/>
        </a:p>
      </dgm:t>
    </dgm:pt>
    <dgm:pt modelId="{BF89940E-1E90-41AC-A39C-BEE6183A52AE}">
      <dgm:prSet/>
      <dgm:spPr/>
      <dgm:t>
        <a:bodyPr/>
        <a:lstStyle/>
        <a:p>
          <a:pPr>
            <a:lnSpc>
              <a:spcPct val="100000"/>
            </a:lnSpc>
          </a:pPr>
          <a:r>
            <a:rPr lang="en-US"/>
            <a:t>Methods: </a:t>
          </a:r>
          <a:r>
            <a:rPr lang="en-US" b="1"/>
            <a:t>inverse transform method, rejection sampling, Metropolis-Hasting algorithm </a:t>
          </a:r>
          <a:r>
            <a:rPr lang="en-US"/>
            <a:t>and others</a:t>
          </a:r>
        </a:p>
      </dgm:t>
    </dgm:pt>
    <dgm:pt modelId="{7AC68E0F-2902-4E67-AA50-6A3D37C3ACCB}" type="parTrans" cxnId="{D567C753-08CE-4EAB-9B7A-B44DABCBFDF7}">
      <dgm:prSet/>
      <dgm:spPr/>
      <dgm:t>
        <a:bodyPr/>
        <a:lstStyle/>
        <a:p>
          <a:endParaRPr lang="en-US"/>
        </a:p>
      </dgm:t>
    </dgm:pt>
    <dgm:pt modelId="{417664F8-EC85-440F-8106-FFE0CA8AD8B9}" type="sibTrans" cxnId="{D567C753-08CE-4EAB-9B7A-B44DABCBFDF7}">
      <dgm:prSet/>
      <dgm:spPr/>
      <dgm:t>
        <a:bodyPr/>
        <a:lstStyle/>
        <a:p>
          <a:endParaRPr lang="en-US"/>
        </a:p>
      </dgm:t>
    </dgm:pt>
    <dgm:pt modelId="{7DC877BD-49E8-4659-9DAF-88D07A4BF8A2}" type="pres">
      <dgm:prSet presAssocID="{EACFED5A-08F0-4DFA-BA51-829C008482DF}" presName="root" presStyleCnt="0">
        <dgm:presLayoutVars>
          <dgm:dir/>
          <dgm:resizeHandles val="exact"/>
        </dgm:presLayoutVars>
      </dgm:prSet>
      <dgm:spPr/>
    </dgm:pt>
    <dgm:pt modelId="{90A1720F-7AD8-4029-863A-EF0825001353}" type="pres">
      <dgm:prSet presAssocID="{64B2C5A2-ACB7-4455-A0B9-37C919B0C293}" presName="compNode" presStyleCnt="0"/>
      <dgm:spPr/>
    </dgm:pt>
    <dgm:pt modelId="{944B2AF8-222B-4E75-85AB-5C51F99918F0}" type="pres">
      <dgm:prSet presAssocID="{64B2C5A2-ACB7-4455-A0B9-37C919B0C293}" presName="bgRect" presStyleLbl="bgShp" presStyleIdx="0" presStyleCnt="3"/>
      <dgm:spPr/>
    </dgm:pt>
    <dgm:pt modelId="{0651ECC4-E4FB-47E5-BAC7-A4961EF9301F}" type="pres">
      <dgm:prSet presAssocID="{64B2C5A2-ACB7-4455-A0B9-37C919B0C29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313B56A1-AB14-4CFB-B8F4-03DA686AD500}" type="pres">
      <dgm:prSet presAssocID="{64B2C5A2-ACB7-4455-A0B9-37C919B0C293}" presName="spaceRect" presStyleCnt="0"/>
      <dgm:spPr/>
    </dgm:pt>
    <dgm:pt modelId="{370C4C74-14C8-48E9-BE09-5A95E3199449}" type="pres">
      <dgm:prSet presAssocID="{64B2C5A2-ACB7-4455-A0B9-37C919B0C293}" presName="parTx" presStyleLbl="revTx" presStyleIdx="0" presStyleCnt="3">
        <dgm:presLayoutVars>
          <dgm:chMax val="0"/>
          <dgm:chPref val="0"/>
        </dgm:presLayoutVars>
      </dgm:prSet>
      <dgm:spPr/>
    </dgm:pt>
    <dgm:pt modelId="{7D00A01F-39EB-4845-B2F7-085E91FE9992}" type="pres">
      <dgm:prSet presAssocID="{F95A3F6C-7A2E-4D6E-8AF0-7894F0A0C001}" presName="sibTrans" presStyleCnt="0"/>
      <dgm:spPr/>
    </dgm:pt>
    <dgm:pt modelId="{E1FA7179-CB5E-4A52-9559-D89FB1C932DC}" type="pres">
      <dgm:prSet presAssocID="{4F2D7F43-D38C-403E-B4DA-EA7BAF6531B4}" presName="compNode" presStyleCnt="0"/>
      <dgm:spPr/>
    </dgm:pt>
    <dgm:pt modelId="{B7405B99-4464-4D8E-9132-7CCD1D07318F}" type="pres">
      <dgm:prSet presAssocID="{4F2D7F43-D38C-403E-B4DA-EA7BAF6531B4}" presName="bgRect" presStyleLbl="bgShp" presStyleIdx="1" presStyleCnt="3"/>
      <dgm:spPr/>
    </dgm:pt>
    <dgm:pt modelId="{2AC33EFF-DDA4-4A7B-B74C-2C971FDA6534}" type="pres">
      <dgm:prSet presAssocID="{4F2D7F43-D38C-403E-B4DA-EA7BAF6531B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icroscope"/>
        </a:ext>
      </dgm:extLst>
    </dgm:pt>
    <dgm:pt modelId="{BE623F97-D4E1-4390-9C74-8392B746D457}" type="pres">
      <dgm:prSet presAssocID="{4F2D7F43-D38C-403E-B4DA-EA7BAF6531B4}" presName="spaceRect" presStyleCnt="0"/>
      <dgm:spPr/>
    </dgm:pt>
    <dgm:pt modelId="{EC81AFB3-880B-4768-80A0-5E3A60D775B3}" type="pres">
      <dgm:prSet presAssocID="{4F2D7F43-D38C-403E-B4DA-EA7BAF6531B4}" presName="parTx" presStyleLbl="revTx" presStyleIdx="1" presStyleCnt="3">
        <dgm:presLayoutVars>
          <dgm:chMax val="0"/>
          <dgm:chPref val="0"/>
        </dgm:presLayoutVars>
      </dgm:prSet>
      <dgm:spPr/>
    </dgm:pt>
    <dgm:pt modelId="{8424CD79-B949-4C93-812B-6825190977DF}" type="pres">
      <dgm:prSet presAssocID="{DF826188-AA4A-4F1F-8801-1E8C23C0346F}" presName="sibTrans" presStyleCnt="0"/>
      <dgm:spPr/>
    </dgm:pt>
    <dgm:pt modelId="{DC15F889-BF8D-40F7-BC56-B5A2EE99114E}" type="pres">
      <dgm:prSet presAssocID="{BF89940E-1E90-41AC-A39C-BEE6183A52AE}" presName="compNode" presStyleCnt="0"/>
      <dgm:spPr/>
    </dgm:pt>
    <dgm:pt modelId="{1278DAA2-4AEF-4938-8798-D51F25601A92}" type="pres">
      <dgm:prSet presAssocID="{BF89940E-1E90-41AC-A39C-BEE6183A52AE}" presName="bgRect" presStyleLbl="bgShp" presStyleIdx="2" presStyleCnt="3"/>
      <dgm:spPr/>
    </dgm:pt>
    <dgm:pt modelId="{181B919C-E63E-427D-B231-9D7A06B8558F}" type="pres">
      <dgm:prSet presAssocID="{BF89940E-1E90-41AC-A39C-BEE6183A52A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nfinity"/>
        </a:ext>
      </dgm:extLst>
    </dgm:pt>
    <dgm:pt modelId="{0110128A-80D6-4E7A-A88E-A18C8CF755E0}" type="pres">
      <dgm:prSet presAssocID="{BF89940E-1E90-41AC-A39C-BEE6183A52AE}" presName="spaceRect" presStyleCnt="0"/>
      <dgm:spPr/>
    </dgm:pt>
    <dgm:pt modelId="{E880EF2E-82F0-4920-B867-825D172BA77D}" type="pres">
      <dgm:prSet presAssocID="{BF89940E-1E90-41AC-A39C-BEE6183A52AE}" presName="parTx" presStyleLbl="revTx" presStyleIdx="2" presStyleCnt="3">
        <dgm:presLayoutVars>
          <dgm:chMax val="0"/>
          <dgm:chPref val="0"/>
        </dgm:presLayoutVars>
      </dgm:prSet>
      <dgm:spPr/>
    </dgm:pt>
  </dgm:ptLst>
  <dgm:cxnLst>
    <dgm:cxn modelId="{59EBA044-651C-4BAF-A24E-1AF16430A691}" type="presOf" srcId="{4F2D7F43-D38C-403E-B4DA-EA7BAF6531B4}" destId="{EC81AFB3-880B-4768-80A0-5E3A60D775B3}" srcOrd="0" destOrd="0" presId="urn:microsoft.com/office/officeart/2018/2/layout/IconVerticalSolidList"/>
    <dgm:cxn modelId="{D567C753-08CE-4EAB-9B7A-B44DABCBFDF7}" srcId="{EACFED5A-08F0-4DFA-BA51-829C008482DF}" destId="{BF89940E-1E90-41AC-A39C-BEE6183A52AE}" srcOrd="2" destOrd="0" parTransId="{7AC68E0F-2902-4E67-AA50-6A3D37C3ACCB}" sibTransId="{417664F8-EC85-440F-8106-FFE0CA8AD8B9}"/>
    <dgm:cxn modelId="{7F2BAE76-820B-4424-9E97-B6733E1B6C2C}" type="presOf" srcId="{64B2C5A2-ACB7-4455-A0B9-37C919B0C293}" destId="{370C4C74-14C8-48E9-BE09-5A95E3199449}" srcOrd="0" destOrd="0" presId="urn:microsoft.com/office/officeart/2018/2/layout/IconVerticalSolidList"/>
    <dgm:cxn modelId="{68528793-3202-4B29-90E7-92BFE0E759C5}" type="presOf" srcId="{BF89940E-1E90-41AC-A39C-BEE6183A52AE}" destId="{E880EF2E-82F0-4920-B867-825D172BA77D}" srcOrd="0" destOrd="0" presId="urn:microsoft.com/office/officeart/2018/2/layout/IconVerticalSolidList"/>
    <dgm:cxn modelId="{1CD3D9A2-5758-4063-8EC2-0F4F02A1F7F2}" srcId="{EACFED5A-08F0-4DFA-BA51-829C008482DF}" destId="{64B2C5A2-ACB7-4455-A0B9-37C919B0C293}" srcOrd="0" destOrd="0" parTransId="{3A03BB4A-6596-4DE6-B7B8-6FF1B9331014}" sibTransId="{F95A3F6C-7A2E-4D6E-8AF0-7894F0A0C001}"/>
    <dgm:cxn modelId="{C8508FA6-6058-4DF1-A21F-064D16D80DD7}" srcId="{EACFED5A-08F0-4DFA-BA51-829C008482DF}" destId="{4F2D7F43-D38C-403E-B4DA-EA7BAF6531B4}" srcOrd="1" destOrd="0" parTransId="{8A99F248-30F6-4821-94B0-4B70A6376CBD}" sibTransId="{DF826188-AA4A-4F1F-8801-1E8C23C0346F}"/>
    <dgm:cxn modelId="{DE21A7ED-46C8-4397-A98A-7BACF050FCAB}" type="presOf" srcId="{EACFED5A-08F0-4DFA-BA51-829C008482DF}" destId="{7DC877BD-49E8-4659-9DAF-88D07A4BF8A2}" srcOrd="0" destOrd="0" presId="urn:microsoft.com/office/officeart/2018/2/layout/IconVerticalSolidList"/>
    <dgm:cxn modelId="{72125BE8-7C76-4151-BC09-2B6DA724E332}" type="presParOf" srcId="{7DC877BD-49E8-4659-9DAF-88D07A4BF8A2}" destId="{90A1720F-7AD8-4029-863A-EF0825001353}" srcOrd="0" destOrd="0" presId="urn:microsoft.com/office/officeart/2018/2/layout/IconVerticalSolidList"/>
    <dgm:cxn modelId="{76F8F705-676F-4895-872D-36BB3CDE9F4E}" type="presParOf" srcId="{90A1720F-7AD8-4029-863A-EF0825001353}" destId="{944B2AF8-222B-4E75-85AB-5C51F99918F0}" srcOrd="0" destOrd="0" presId="urn:microsoft.com/office/officeart/2018/2/layout/IconVerticalSolidList"/>
    <dgm:cxn modelId="{C61A37C6-6026-46A2-BAFA-D1D3FCFD4B7C}" type="presParOf" srcId="{90A1720F-7AD8-4029-863A-EF0825001353}" destId="{0651ECC4-E4FB-47E5-BAC7-A4961EF9301F}" srcOrd="1" destOrd="0" presId="urn:microsoft.com/office/officeart/2018/2/layout/IconVerticalSolidList"/>
    <dgm:cxn modelId="{9EE4A3D5-C71C-4BB4-A899-E1FA927CA033}" type="presParOf" srcId="{90A1720F-7AD8-4029-863A-EF0825001353}" destId="{313B56A1-AB14-4CFB-B8F4-03DA686AD500}" srcOrd="2" destOrd="0" presId="urn:microsoft.com/office/officeart/2018/2/layout/IconVerticalSolidList"/>
    <dgm:cxn modelId="{910CC24A-3835-4E0A-AFBA-C2AE5D4C17C5}" type="presParOf" srcId="{90A1720F-7AD8-4029-863A-EF0825001353}" destId="{370C4C74-14C8-48E9-BE09-5A95E3199449}" srcOrd="3" destOrd="0" presId="urn:microsoft.com/office/officeart/2018/2/layout/IconVerticalSolidList"/>
    <dgm:cxn modelId="{B441DF57-D586-41FE-BF61-76CF8869FB0F}" type="presParOf" srcId="{7DC877BD-49E8-4659-9DAF-88D07A4BF8A2}" destId="{7D00A01F-39EB-4845-B2F7-085E91FE9992}" srcOrd="1" destOrd="0" presId="urn:microsoft.com/office/officeart/2018/2/layout/IconVerticalSolidList"/>
    <dgm:cxn modelId="{9EBDD497-A8F0-4764-BA9B-766D0E8A74E9}" type="presParOf" srcId="{7DC877BD-49E8-4659-9DAF-88D07A4BF8A2}" destId="{E1FA7179-CB5E-4A52-9559-D89FB1C932DC}" srcOrd="2" destOrd="0" presId="urn:microsoft.com/office/officeart/2018/2/layout/IconVerticalSolidList"/>
    <dgm:cxn modelId="{339E0E5A-934C-45FF-8D55-3A46ECAD2B01}" type="presParOf" srcId="{E1FA7179-CB5E-4A52-9559-D89FB1C932DC}" destId="{B7405B99-4464-4D8E-9132-7CCD1D07318F}" srcOrd="0" destOrd="0" presId="urn:microsoft.com/office/officeart/2018/2/layout/IconVerticalSolidList"/>
    <dgm:cxn modelId="{959086BB-7FE6-4CC3-840C-C3C64A4CFFF5}" type="presParOf" srcId="{E1FA7179-CB5E-4A52-9559-D89FB1C932DC}" destId="{2AC33EFF-DDA4-4A7B-B74C-2C971FDA6534}" srcOrd="1" destOrd="0" presId="urn:microsoft.com/office/officeart/2018/2/layout/IconVerticalSolidList"/>
    <dgm:cxn modelId="{CBCBC5AA-D902-478E-AB07-6015B2736777}" type="presParOf" srcId="{E1FA7179-CB5E-4A52-9559-D89FB1C932DC}" destId="{BE623F97-D4E1-4390-9C74-8392B746D457}" srcOrd="2" destOrd="0" presId="urn:microsoft.com/office/officeart/2018/2/layout/IconVerticalSolidList"/>
    <dgm:cxn modelId="{1E6444E3-9092-44FE-8E9B-D40800CB78D0}" type="presParOf" srcId="{E1FA7179-CB5E-4A52-9559-D89FB1C932DC}" destId="{EC81AFB3-880B-4768-80A0-5E3A60D775B3}" srcOrd="3" destOrd="0" presId="urn:microsoft.com/office/officeart/2018/2/layout/IconVerticalSolidList"/>
    <dgm:cxn modelId="{C0C01548-9164-474F-8FA0-395B21586BF6}" type="presParOf" srcId="{7DC877BD-49E8-4659-9DAF-88D07A4BF8A2}" destId="{8424CD79-B949-4C93-812B-6825190977DF}" srcOrd="3" destOrd="0" presId="urn:microsoft.com/office/officeart/2018/2/layout/IconVerticalSolidList"/>
    <dgm:cxn modelId="{44818944-FD58-439D-8209-9FAE6909003F}" type="presParOf" srcId="{7DC877BD-49E8-4659-9DAF-88D07A4BF8A2}" destId="{DC15F889-BF8D-40F7-BC56-B5A2EE99114E}" srcOrd="4" destOrd="0" presId="urn:microsoft.com/office/officeart/2018/2/layout/IconVerticalSolidList"/>
    <dgm:cxn modelId="{3494FEE0-2B6A-44BC-8F3C-A80C57D8DA19}" type="presParOf" srcId="{DC15F889-BF8D-40F7-BC56-B5A2EE99114E}" destId="{1278DAA2-4AEF-4938-8798-D51F25601A92}" srcOrd="0" destOrd="0" presId="urn:microsoft.com/office/officeart/2018/2/layout/IconVerticalSolidList"/>
    <dgm:cxn modelId="{8E58C98B-8198-4279-A436-74676A295C1F}" type="presParOf" srcId="{DC15F889-BF8D-40F7-BC56-B5A2EE99114E}" destId="{181B919C-E63E-427D-B231-9D7A06B8558F}" srcOrd="1" destOrd="0" presId="urn:microsoft.com/office/officeart/2018/2/layout/IconVerticalSolidList"/>
    <dgm:cxn modelId="{17FD893C-39B1-4BCD-AF30-8216E5BE436D}" type="presParOf" srcId="{DC15F889-BF8D-40F7-BC56-B5A2EE99114E}" destId="{0110128A-80D6-4E7A-A88E-A18C8CF755E0}" srcOrd="2" destOrd="0" presId="urn:microsoft.com/office/officeart/2018/2/layout/IconVerticalSolidList"/>
    <dgm:cxn modelId="{A9561599-2977-4376-9FAE-57A41C7382DF}" type="presParOf" srcId="{DC15F889-BF8D-40F7-BC56-B5A2EE99114E}" destId="{E880EF2E-82F0-4920-B867-825D172BA77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091E7B-ADE6-4929-B633-13965382D75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63DA596-378B-4F95-8C7C-500C5F13DD22}">
      <dgm:prSet/>
      <dgm:spPr/>
      <dgm:t>
        <a:bodyPr/>
        <a:lstStyle/>
        <a:p>
          <a:r>
            <a:rPr lang="en-US"/>
            <a:t>Rejection sampling</a:t>
          </a:r>
        </a:p>
      </dgm:t>
    </dgm:pt>
    <dgm:pt modelId="{0CF1AA07-9E39-4C8F-AE0E-3E9943BDD3E5}" type="parTrans" cxnId="{8894B202-B54B-4CA7-9C54-B913165C38A0}">
      <dgm:prSet/>
      <dgm:spPr/>
      <dgm:t>
        <a:bodyPr/>
        <a:lstStyle/>
        <a:p>
          <a:endParaRPr lang="en-US"/>
        </a:p>
      </dgm:t>
    </dgm:pt>
    <dgm:pt modelId="{95798824-5370-4FC3-AF0D-6F6911646750}" type="sibTrans" cxnId="{8894B202-B54B-4CA7-9C54-B913165C38A0}">
      <dgm:prSet/>
      <dgm:spPr/>
      <dgm:t>
        <a:bodyPr/>
        <a:lstStyle/>
        <a:p>
          <a:endParaRPr lang="en-US"/>
        </a:p>
      </dgm:t>
    </dgm:pt>
    <dgm:pt modelId="{FE3A7ACF-3490-4D74-9271-01E0E51FF205}">
      <dgm:prSet/>
      <dgm:spPr/>
      <dgm:t>
        <a:bodyPr/>
        <a:lstStyle/>
        <a:p>
          <a:r>
            <a:rPr lang="en-US" dirty="0"/>
            <a:t>Sampling from a well-known simple distribution</a:t>
          </a:r>
        </a:p>
      </dgm:t>
    </dgm:pt>
    <dgm:pt modelId="{3518FF76-48CD-4587-ADE5-91975EE91F5A}" type="parTrans" cxnId="{7A9B9C98-5AA7-4796-AE44-3409327F1581}">
      <dgm:prSet/>
      <dgm:spPr/>
      <dgm:t>
        <a:bodyPr/>
        <a:lstStyle/>
        <a:p>
          <a:endParaRPr lang="en-US"/>
        </a:p>
      </dgm:t>
    </dgm:pt>
    <dgm:pt modelId="{6066E084-51C1-4A06-9393-A963EA6FE945}" type="sibTrans" cxnId="{7A9B9C98-5AA7-4796-AE44-3409327F1581}">
      <dgm:prSet/>
      <dgm:spPr/>
      <dgm:t>
        <a:bodyPr/>
        <a:lstStyle/>
        <a:p>
          <a:endParaRPr lang="en-US"/>
        </a:p>
      </dgm:t>
    </dgm:pt>
    <dgm:pt modelId="{F41E82BC-DB0B-421A-9644-E795B3E4EC96}">
      <dgm:prSet/>
      <dgm:spPr/>
      <dgm:t>
        <a:bodyPr/>
        <a:lstStyle/>
        <a:p>
          <a:r>
            <a:rPr lang="en-US"/>
            <a:t>Accept or reject the sampled value depending on some condition</a:t>
          </a:r>
        </a:p>
      </dgm:t>
    </dgm:pt>
    <dgm:pt modelId="{58FE5B54-59DC-4C00-B82E-5E56B65203C1}" type="parTrans" cxnId="{4574095C-8557-4E8F-A1D4-E9C607038360}">
      <dgm:prSet/>
      <dgm:spPr/>
      <dgm:t>
        <a:bodyPr/>
        <a:lstStyle/>
        <a:p>
          <a:endParaRPr lang="en-US"/>
        </a:p>
      </dgm:t>
    </dgm:pt>
    <dgm:pt modelId="{097CDCC1-BC37-4C6D-A02F-E6F543E2363B}" type="sibTrans" cxnId="{4574095C-8557-4E8F-A1D4-E9C607038360}">
      <dgm:prSet/>
      <dgm:spPr/>
      <dgm:t>
        <a:bodyPr/>
        <a:lstStyle/>
        <a:p>
          <a:endParaRPr lang="en-US"/>
        </a:p>
      </dgm:t>
    </dgm:pt>
    <dgm:pt modelId="{03B834A0-4B06-4BAD-AD3A-AE31C26091DC}">
      <dgm:prSet/>
      <dgm:spPr/>
      <dgm:t>
        <a:bodyPr/>
        <a:lstStyle/>
        <a:p>
          <a:r>
            <a:rPr lang="en-US"/>
            <a:t>Repeating this process until the sampled value is accepted</a:t>
          </a:r>
        </a:p>
      </dgm:t>
    </dgm:pt>
    <dgm:pt modelId="{D0504C80-D53E-4EE3-9AB0-9728F3C2F286}" type="parTrans" cxnId="{B21E228D-4677-4A28-B5BA-E6494D516914}">
      <dgm:prSet/>
      <dgm:spPr/>
      <dgm:t>
        <a:bodyPr/>
        <a:lstStyle/>
        <a:p>
          <a:endParaRPr lang="en-US"/>
        </a:p>
      </dgm:t>
    </dgm:pt>
    <dgm:pt modelId="{9578657D-5D23-4DDF-AFB2-0E05D8B3C6EF}" type="sibTrans" cxnId="{B21E228D-4677-4A28-B5BA-E6494D516914}">
      <dgm:prSet/>
      <dgm:spPr/>
      <dgm:t>
        <a:bodyPr/>
        <a:lstStyle/>
        <a:p>
          <a:endParaRPr lang="en-US"/>
        </a:p>
      </dgm:t>
    </dgm:pt>
    <dgm:pt modelId="{902079E0-6AAB-4640-B2C6-1D4F7B2F00DA}">
      <dgm:prSet/>
      <dgm:spPr/>
      <dgm:t>
        <a:bodyPr/>
        <a:lstStyle/>
        <a:p>
          <a:r>
            <a:rPr lang="en-US"/>
            <a:t>Metropolis-Hasting algorithm</a:t>
          </a:r>
        </a:p>
      </dgm:t>
    </dgm:pt>
    <dgm:pt modelId="{266E5AD8-4C85-4545-BB3A-9C52C3BAE5C5}" type="parTrans" cxnId="{B425EB98-A21E-435D-B476-9C85B283E8F3}">
      <dgm:prSet/>
      <dgm:spPr/>
      <dgm:t>
        <a:bodyPr/>
        <a:lstStyle/>
        <a:p>
          <a:endParaRPr lang="en-US"/>
        </a:p>
      </dgm:t>
    </dgm:pt>
    <dgm:pt modelId="{F94E8660-F458-4E70-80D4-9307DDE0993A}" type="sibTrans" cxnId="{B425EB98-A21E-435D-B476-9C85B283E8F3}">
      <dgm:prSet/>
      <dgm:spPr/>
      <dgm:t>
        <a:bodyPr/>
        <a:lstStyle/>
        <a:p>
          <a:endParaRPr lang="en-US"/>
        </a:p>
      </dgm:t>
    </dgm:pt>
    <dgm:pt modelId="{DDA90939-218B-4FB9-9C45-C6073DB28C1B}">
      <dgm:prSet/>
      <dgm:spPr/>
      <dgm:t>
        <a:bodyPr/>
        <a:lstStyle/>
        <a:p>
          <a:r>
            <a:rPr lang="en-US"/>
            <a:t>find a Markov Chain (MC) such that the stationary distribution of this MC corresponds to the distribution from which we would like to sample our random variable</a:t>
          </a:r>
        </a:p>
      </dgm:t>
    </dgm:pt>
    <dgm:pt modelId="{A10CDC53-FF55-48CC-AA32-AD68F3340FFD}" type="parTrans" cxnId="{C2BC1707-628A-478D-B088-41040B55E318}">
      <dgm:prSet/>
      <dgm:spPr/>
      <dgm:t>
        <a:bodyPr/>
        <a:lstStyle/>
        <a:p>
          <a:endParaRPr lang="en-US"/>
        </a:p>
      </dgm:t>
    </dgm:pt>
    <dgm:pt modelId="{A854D55A-3364-40C5-B68F-4C2846234D7C}" type="sibTrans" cxnId="{C2BC1707-628A-478D-B088-41040B55E318}">
      <dgm:prSet/>
      <dgm:spPr/>
      <dgm:t>
        <a:bodyPr/>
        <a:lstStyle/>
        <a:p>
          <a:endParaRPr lang="en-US"/>
        </a:p>
      </dgm:t>
    </dgm:pt>
    <dgm:pt modelId="{C2F750DA-CD7F-4E5E-BE1A-B1671F5343EE}">
      <dgm:prSet/>
      <dgm:spPr/>
      <dgm:t>
        <a:bodyPr/>
        <a:lstStyle/>
        <a:p>
          <a:r>
            <a:rPr lang="en-US"/>
            <a:t>Once this MC found, we can simulate a long enough trajectory over this MC to consider that we have reach a steady state</a:t>
          </a:r>
        </a:p>
      </dgm:t>
    </dgm:pt>
    <dgm:pt modelId="{D6AC91C3-26A3-4F35-9DA4-BD5515CE56B0}" type="parTrans" cxnId="{D823832D-F6EA-4B79-8461-6BC46699DDBA}">
      <dgm:prSet/>
      <dgm:spPr/>
      <dgm:t>
        <a:bodyPr/>
        <a:lstStyle/>
        <a:p>
          <a:endParaRPr lang="en-US"/>
        </a:p>
      </dgm:t>
    </dgm:pt>
    <dgm:pt modelId="{A6601F53-E5C2-4B23-9F5A-A5FC0A3588F9}" type="sibTrans" cxnId="{D823832D-F6EA-4B79-8461-6BC46699DDBA}">
      <dgm:prSet/>
      <dgm:spPr/>
      <dgm:t>
        <a:bodyPr/>
        <a:lstStyle/>
        <a:p>
          <a:endParaRPr lang="en-US"/>
        </a:p>
      </dgm:t>
    </dgm:pt>
    <dgm:pt modelId="{972DBD1A-F285-480F-927F-6EE675C37AA0}" type="pres">
      <dgm:prSet presAssocID="{6E091E7B-ADE6-4929-B633-13965382D75A}" presName="linear" presStyleCnt="0">
        <dgm:presLayoutVars>
          <dgm:animLvl val="lvl"/>
          <dgm:resizeHandles val="exact"/>
        </dgm:presLayoutVars>
      </dgm:prSet>
      <dgm:spPr/>
    </dgm:pt>
    <dgm:pt modelId="{2C57BA2A-99B1-4D95-B4B4-9975979568F2}" type="pres">
      <dgm:prSet presAssocID="{363DA596-378B-4F95-8C7C-500C5F13DD22}" presName="parentText" presStyleLbl="node1" presStyleIdx="0" presStyleCnt="2">
        <dgm:presLayoutVars>
          <dgm:chMax val="0"/>
          <dgm:bulletEnabled val="1"/>
        </dgm:presLayoutVars>
      </dgm:prSet>
      <dgm:spPr/>
    </dgm:pt>
    <dgm:pt modelId="{53C6298D-3591-4AF0-AD9E-83BC3740DBA2}" type="pres">
      <dgm:prSet presAssocID="{363DA596-378B-4F95-8C7C-500C5F13DD22}" presName="childText" presStyleLbl="revTx" presStyleIdx="0" presStyleCnt="2">
        <dgm:presLayoutVars>
          <dgm:bulletEnabled val="1"/>
        </dgm:presLayoutVars>
      </dgm:prSet>
      <dgm:spPr/>
    </dgm:pt>
    <dgm:pt modelId="{C6AC40C8-3A14-4066-86C7-3EA973FC2904}" type="pres">
      <dgm:prSet presAssocID="{902079E0-6AAB-4640-B2C6-1D4F7B2F00DA}" presName="parentText" presStyleLbl="node1" presStyleIdx="1" presStyleCnt="2">
        <dgm:presLayoutVars>
          <dgm:chMax val="0"/>
          <dgm:bulletEnabled val="1"/>
        </dgm:presLayoutVars>
      </dgm:prSet>
      <dgm:spPr/>
    </dgm:pt>
    <dgm:pt modelId="{E05C007B-4E06-49BB-9110-46274B5FA996}" type="pres">
      <dgm:prSet presAssocID="{902079E0-6AAB-4640-B2C6-1D4F7B2F00DA}" presName="childText" presStyleLbl="revTx" presStyleIdx="1" presStyleCnt="2">
        <dgm:presLayoutVars>
          <dgm:bulletEnabled val="1"/>
        </dgm:presLayoutVars>
      </dgm:prSet>
      <dgm:spPr/>
    </dgm:pt>
  </dgm:ptLst>
  <dgm:cxnLst>
    <dgm:cxn modelId="{8894B202-B54B-4CA7-9C54-B913165C38A0}" srcId="{6E091E7B-ADE6-4929-B633-13965382D75A}" destId="{363DA596-378B-4F95-8C7C-500C5F13DD22}" srcOrd="0" destOrd="0" parTransId="{0CF1AA07-9E39-4C8F-AE0E-3E9943BDD3E5}" sibTransId="{95798824-5370-4FC3-AF0D-6F6911646750}"/>
    <dgm:cxn modelId="{C2BC1707-628A-478D-B088-41040B55E318}" srcId="{902079E0-6AAB-4640-B2C6-1D4F7B2F00DA}" destId="{DDA90939-218B-4FB9-9C45-C6073DB28C1B}" srcOrd="0" destOrd="0" parTransId="{A10CDC53-FF55-48CC-AA32-AD68F3340FFD}" sibTransId="{A854D55A-3364-40C5-B68F-4C2846234D7C}"/>
    <dgm:cxn modelId="{4CD9670E-92B8-40D5-89AC-06E4694A51D0}" type="presOf" srcId="{03B834A0-4B06-4BAD-AD3A-AE31C26091DC}" destId="{53C6298D-3591-4AF0-AD9E-83BC3740DBA2}" srcOrd="0" destOrd="2" presId="urn:microsoft.com/office/officeart/2005/8/layout/vList2"/>
    <dgm:cxn modelId="{F4540C14-D654-4DC5-BC43-10F28AA758AE}" type="presOf" srcId="{F41E82BC-DB0B-421A-9644-E795B3E4EC96}" destId="{53C6298D-3591-4AF0-AD9E-83BC3740DBA2}" srcOrd="0" destOrd="1" presId="urn:microsoft.com/office/officeart/2005/8/layout/vList2"/>
    <dgm:cxn modelId="{BC242F18-F655-4A49-A00A-873EAFF7D0CA}" type="presOf" srcId="{363DA596-378B-4F95-8C7C-500C5F13DD22}" destId="{2C57BA2A-99B1-4D95-B4B4-9975979568F2}" srcOrd="0" destOrd="0" presId="urn:microsoft.com/office/officeart/2005/8/layout/vList2"/>
    <dgm:cxn modelId="{D823832D-F6EA-4B79-8461-6BC46699DDBA}" srcId="{902079E0-6AAB-4640-B2C6-1D4F7B2F00DA}" destId="{C2F750DA-CD7F-4E5E-BE1A-B1671F5343EE}" srcOrd="1" destOrd="0" parTransId="{D6AC91C3-26A3-4F35-9DA4-BD5515CE56B0}" sibTransId="{A6601F53-E5C2-4B23-9F5A-A5FC0A3588F9}"/>
    <dgm:cxn modelId="{4574095C-8557-4E8F-A1D4-E9C607038360}" srcId="{363DA596-378B-4F95-8C7C-500C5F13DD22}" destId="{F41E82BC-DB0B-421A-9644-E795B3E4EC96}" srcOrd="1" destOrd="0" parTransId="{58FE5B54-59DC-4C00-B82E-5E56B65203C1}" sibTransId="{097CDCC1-BC37-4C6D-A02F-E6F543E2363B}"/>
    <dgm:cxn modelId="{C50C0859-D740-4B6C-9C24-7C1D2E8D98AB}" type="presOf" srcId="{902079E0-6AAB-4640-B2C6-1D4F7B2F00DA}" destId="{C6AC40C8-3A14-4066-86C7-3EA973FC2904}" srcOrd="0" destOrd="0" presId="urn:microsoft.com/office/officeart/2005/8/layout/vList2"/>
    <dgm:cxn modelId="{0907847A-2A3B-4134-B0B5-74A948BCE276}" type="presOf" srcId="{6E091E7B-ADE6-4929-B633-13965382D75A}" destId="{972DBD1A-F285-480F-927F-6EE675C37AA0}" srcOrd="0" destOrd="0" presId="urn:microsoft.com/office/officeart/2005/8/layout/vList2"/>
    <dgm:cxn modelId="{B21E228D-4677-4A28-B5BA-E6494D516914}" srcId="{363DA596-378B-4F95-8C7C-500C5F13DD22}" destId="{03B834A0-4B06-4BAD-AD3A-AE31C26091DC}" srcOrd="2" destOrd="0" parTransId="{D0504C80-D53E-4EE3-9AB0-9728F3C2F286}" sibTransId="{9578657D-5D23-4DDF-AFB2-0E05D8B3C6EF}"/>
    <dgm:cxn modelId="{7A9B9C98-5AA7-4796-AE44-3409327F1581}" srcId="{363DA596-378B-4F95-8C7C-500C5F13DD22}" destId="{FE3A7ACF-3490-4D74-9271-01E0E51FF205}" srcOrd="0" destOrd="0" parTransId="{3518FF76-48CD-4587-ADE5-91975EE91F5A}" sibTransId="{6066E084-51C1-4A06-9393-A963EA6FE945}"/>
    <dgm:cxn modelId="{B425EB98-A21E-435D-B476-9C85B283E8F3}" srcId="{6E091E7B-ADE6-4929-B633-13965382D75A}" destId="{902079E0-6AAB-4640-B2C6-1D4F7B2F00DA}" srcOrd="1" destOrd="0" parTransId="{266E5AD8-4C85-4545-BB3A-9C52C3BAE5C5}" sibTransId="{F94E8660-F458-4E70-80D4-9307DDE0993A}"/>
    <dgm:cxn modelId="{523BC4CB-6B40-46BA-9825-D4E410F6C3A1}" type="presOf" srcId="{FE3A7ACF-3490-4D74-9271-01E0E51FF205}" destId="{53C6298D-3591-4AF0-AD9E-83BC3740DBA2}" srcOrd="0" destOrd="0" presId="urn:microsoft.com/office/officeart/2005/8/layout/vList2"/>
    <dgm:cxn modelId="{1BB26DD3-C1A0-4593-9FD4-902B14B6F6E6}" type="presOf" srcId="{DDA90939-218B-4FB9-9C45-C6073DB28C1B}" destId="{E05C007B-4E06-49BB-9110-46274B5FA996}" srcOrd="0" destOrd="0" presId="urn:microsoft.com/office/officeart/2005/8/layout/vList2"/>
    <dgm:cxn modelId="{ABEF92DE-84AD-46BE-9F1A-D483B70E63CE}" type="presOf" srcId="{C2F750DA-CD7F-4E5E-BE1A-B1671F5343EE}" destId="{E05C007B-4E06-49BB-9110-46274B5FA996}" srcOrd="0" destOrd="1" presId="urn:microsoft.com/office/officeart/2005/8/layout/vList2"/>
    <dgm:cxn modelId="{053E91E8-D738-41F8-9F6A-A7AB7C5C3ED5}" type="presParOf" srcId="{972DBD1A-F285-480F-927F-6EE675C37AA0}" destId="{2C57BA2A-99B1-4D95-B4B4-9975979568F2}" srcOrd="0" destOrd="0" presId="urn:microsoft.com/office/officeart/2005/8/layout/vList2"/>
    <dgm:cxn modelId="{C2FB6180-A368-4590-909B-2B223BE8020A}" type="presParOf" srcId="{972DBD1A-F285-480F-927F-6EE675C37AA0}" destId="{53C6298D-3591-4AF0-AD9E-83BC3740DBA2}" srcOrd="1" destOrd="0" presId="urn:microsoft.com/office/officeart/2005/8/layout/vList2"/>
    <dgm:cxn modelId="{A6096D40-CCD0-4844-80B7-9B1154925187}" type="presParOf" srcId="{972DBD1A-F285-480F-927F-6EE675C37AA0}" destId="{C6AC40C8-3A14-4066-86C7-3EA973FC2904}" srcOrd="2" destOrd="0" presId="urn:microsoft.com/office/officeart/2005/8/layout/vList2"/>
    <dgm:cxn modelId="{2EDD9FBC-539D-4C04-B43C-021D7BF37B3F}" type="presParOf" srcId="{972DBD1A-F285-480F-927F-6EE675C37AA0}" destId="{E05C007B-4E06-49BB-9110-46274B5FA99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BEA2941-FA53-49B6-9D10-D88EF4CF9D7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A161762-C826-40C8-9ABA-C46965C9AF35}">
      <dgm:prSet/>
      <dgm:spPr/>
      <dgm:t>
        <a:bodyPr/>
        <a:lstStyle/>
        <a:p>
          <a:pPr>
            <a:lnSpc>
              <a:spcPct val="100000"/>
            </a:lnSpc>
          </a:pPr>
          <a:r>
            <a:rPr lang="en-US"/>
            <a:t>B</a:t>
          </a:r>
          <a:r>
            <a:rPr lang="en-US" b="0" i="0"/>
            <a:t>ased on conditional GAN (cGAN) architecture</a:t>
          </a:r>
          <a:endParaRPr lang="en-US"/>
        </a:p>
      </dgm:t>
    </dgm:pt>
    <dgm:pt modelId="{3B475A5B-E875-4459-8625-B87B36B5F618}" type="parTrans" cxnId="{1B78AB4B-0ABA-4CEC-892B-CC099FEB204A}">
      <dgm:prSet/>
      <dgm:spPr/>
      <dgm:t>
        <a:bodyPr/>
        <a:lstStyle/>
        <a:p>
          <a:endParaRPr lang="en-US"/>
        </a:p>
      </dgm:t>
    </dgm:pt>
    <dgm:pt modelId="{6662C509-1D05-4B7E-A1EE-420B34A60B4F}" type="sibTrans" cxnId="{1B78AB4B-0ABA-4CEC-892B-CC099FEB204A}">
      <dgm:prSet/>
      <dgm:spPr/>
      <dgm:t>
        <a:bodyPr/>
        <a:lstStyle/>
        <a:p>
          <a:endParaRPr lang="en-US"/>
        </a:p>
      </dgm:t>
    </dgm:pt>
    <dgm:pt modelId="{FF555156-A894-4479-B9C3-C37BAEDFCFD9}">
      <dgm:prSet/>
      <dgm:spPr/>
      <dgm:t>
        <a:bodyPr/>
        <a:lstStyle/>
        <a:p>
          <a:pPr>
            <a:lnSpc>
              <a:spcPct val="100000"/>
            </a:lnSpc>
          </a:pPr>
          <a:r>
            <a:rPr lang="en-US" b="0" i="0"/>
            <a:t>Trained on paired set of images or scenes from two domains to be used for translation</a:t>
          </a:r>
          <a:endParaRPr lang="en-US"/>
        </a:p>
      </dgm:t>
    </dgm:pt>
    <dgm:pt modelId="{CEDFD44C-DEE8-4BF5-9105-AD2C9DA0246B}" type="parTrans" cxnId="{DB95FE4A-1624-4846-9FD2-4A618574103D}">
      <dgm:prSet/>
      <dgm:spPr/>
      <dgm:t>
        <a:bodyPr/>
        <a:lstStyle/>
        <a:p>
          <a:endParaRPr lang="en-US"/>
        </a:p>
      </dgm:t>
    </dgm:pt>
    <dgm:pt modelId="{0433310F-05E8-47F6-8FBB-1E40EA806720}" type="sibTrans" cxnId="{DB95FE4A-1624-4846-9FD2-4A618574103D}">
      <dgm:prSet/>
      <dgm:spPr/>
      <dgm:t>
        <a:bodyPr/>
        <a:lstStyle/>
        <a:p>
          <a:endParaRPr lang="en-US"/>
        </a:p>
      </dgm:t>
    </dgm:pt>
    <dgm:pt modelId="{8BA102E4-7829-414B-B397-CE04B02C19D6}">
      <dgm:prSet/>
      <dgm:spPr/>
      <dgm:t>
        <a:bodyPr/>
        <a:lstStyle/>
        <a:p>
          <a:pPr>
            <a:lnSpc>
              <a:spcPct val="100000"/>
            </a:lnSpc>
          </a:pPr>
          <a:r>
            <a:rPr lang="en-US"/>
            <a:t>A</a:t>
          </a:r>
          <a:r>
            <a:rPr lang="en-US" b="0" i="0"/>
            <a:t>rchitecture consists of a Generator G and a Discriminator D</a:t>
          </a:r>
          <a:endParaRPr lang="en-US"/>
        </a:p>
      </dgm:t>
    </dgm:pt>
    <dgm:pt modelId="{7580F4BC-E56F-4763-ADDC-D4A7118EC139}" type="parTrans" cxnId="{8536A2B8-F56B-46BF-B563-8319E8D95E68}">
      <dgm:prSet/>
      <dgm:spPr/>
      <dgm:t>
        <a:bodyPr/>
        <a:lstStyle/>
        <a:p>
          <a:endParaRPr lang="en-US"/>
        </a:p>
      </dgm:t>
    </dgm:pt>
    <dgm:pt modelId="{2EAEEF81-8822-47ED-BA68-E659E3CEE5F6}" type="sibTrans" cxnId="{8536A2B8-F56B-46BF-B563-8319E8D95E68}">
      <dgm:prSet/>
      <dgm:spPr/>
      <dgm:t>
        <a:bodyPr/>
        <a:lstStyle/>
        <a:p>
          <a:endParaRPr lang="en-US"/>
        </a:p>
      </dgm:t>
    </dgm:pt>
    <dgm:pt modelId="{43208356-DAD8-417B-A2C6-73E238C6F534}">
      <dgm:prSet/>
      <dgm:spPr/>
      <dgm:t>
        <a:bodyPr/>
        <a:lstStyle/>
        <a:p>
          <a:pPr>
            <a:lnSpc>
              <a:spcPct val="100000"/>
            </a:lnSpc>
          </a:pPr>
          <a:r>
            <a:rPr lang="en-US" b="0" i="0"/>
            <a:t>Generator G is an encoder-decoder net or U-Net with skip connection</a:t>
          </a:r>
          <a:endParaRPr lang="en-US"/>
        </a:p>
      </dgm:t>
    </dgm:pt>
    <dgm:pt modelId="{7B200C0A-12F7-4B0D-B6D3-89CA0E21D44C}" type="parTrans" cxnId="{D1F0DE93-C860-49C8-8C89-A25C12124DCE}">
      <dgm:prSet/>
      <dgm:spPr/>
      <dgm:t>
        <a:bodyPr/>
        <a:lstStyle/>
        <a:p>
          <a:endParaRPr lang="en-US"/>
        </a:p>
      </dgm:t>
    </dgm:pt>
    <dgm:pt modelId="{B4332563-E0A3-4098-B031-2B90804E7FA8}" type="sibTrans" cxnId="{D1F0DE93-C860-49C8-8C89-A25C12124DCE}">
      <dgm:prSet/>
      <dgm:spPr/>
      <dgm:t>
        <a:bodyPr/>
        <a:lstStyle/>
        <a:p>
          <a:endParaRPr lang="en-US"/>
        </a:p>
      </dgm:t>
    </dgm:pt>
    <dgm:pt modelId="{494738D6-30A5-4AAF-ACC9-3CECFCF80340}">
      <dgm:prSet/>
      <dgm:spPr/>
      <dgm:t>
        <a:bodyPr/>
        <a:lstStyle/>
        <a:p>
          <a:pPr>
            <a:lnSpc>
              <a:spcPct val="100000"/>
            </a:lnSpc>
          </a:pPr>
          <a:r>
            <a:rPr lang="en-US" b="0" i="0"/>
            <a:t>Discriminator is a patch-GAN architecture, which penalizes at scale of patches</a:t>
          </a:r>
          <a:endParaRPr lang="en-US"/>
        </a:p>
      </dgm:t>
    </dgm:pt>
    <dgm:pt modelId="{338133D8-FDDF-4DF2-814D-949ABFAB6997}" type="parTrans" cxnId="{9C67BD7F-1702-453C-9617-A7F09DED210E}">
      <dgm:prSet/>
      <dgm:spPr/>
      <dgm:t>
        <a:bodyPr/>
        <a:lstStyle/>
        <a:p>
          <a:endParaRPr lang="en-US"/>
        </a:p>
      </dgm:t>
    </dgm:pt>
    <dgm:pt modelId="{ED54CCB8-E5AD-4515-A1C9-A85500A32497}" type="sibTrans" cxnId="{9C67BD7F-1702-453C-9617-A7F09DED210E}">
      <dgm:prSet/>
      <dgm:spPr/>
      <dgm:t>
        <a:bodyPr/>
        <a:lstStyle/>
        <a:p>
          <a:endParaRPr lang="en-US"/>
        </a:p>
      </dgm:t>
    </dgm:pt>
    <dgm:pt modelId="{6D8EA47F-87FF-4A0D-A604-B139ED1595C8}" type="pres">
      <dgm:prSet presAssocID="{7BEA2941-FA53-49B6-9D10-D88EF4CF9D7B}" presName="root" presStyleCnt="0">
        <dgm:presLayoutVars>
          <dgm:dir/>
          <dgm:resizeHandles val="exact"/>
        </dgm:presLayoutVars>
      </dgm:prSet>
      <dgm:spPr/>
    </dgm:pt>
    <dgm:pt modelId="{FFC0183D-861F-4E0A-BAA3-8B0FD01E94CD}" type="pres">
      <dgm:prSet presAssocID="{0A161762-C826-40C8-9ABA-C46965C9AF35}" presName="compNode" presStyleCnt="0"/>
      <dgm:spPr/>
    </dgm:pt>
    <dgm:pt modelId="{A83C41D9-9A53-4365-B781-C62B9961A801}" type="pres">
      <dgm:prSet presAssocID="{0A161762-C826-40C8-9ABA-C46965C9AF35}" presName="bgRect" presStyleLbl="bgShp" presStyleIdx="0" presStyleCnt="5"/>
      <dgm:spPr/>
    </dgm:pt>
    <dgm:pt modelId="{93F8AC05-B08D-4357-A658-05D8A90B65FA}" type="pres">
      <dgm:prSet presAssocID="{0A161762-C826-40C8-9ABA-C46965C9AF3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99D07980-B42F-4798-9266-1F0D5C4AA87E}" type="pres">
      <dgm:prSet presAssocID="{0A161762-C826-40C8-9ABA-C46965C9AF35}" presName="spaceRect" presStyleCnt="0"/>
      <dgm:spPr/>
    </dgm:pt>
    <dgm:pt modelId="{0B53D107-30B7-4529-AFD5-C7B34053E1E5}" type="pres">
      <dgm:prSet presAssocID="{0A161762-C826-40C8-9ABA-C46965C9AF35}" presName="parTx" presStyleLbl="revTx" presStyleIdx="0" presStyleCnt="5">
        <dgm:presLayoutVars>
          <dgm:chMax val="0"/>
          <dgm:chPref val="0"/>
        </dgm:presLayoutVars>
      </dgm:prSet>
      <dgm:spPr/>
    </dgm:pt>
    <dgm:pt modelId="{26D73A14-725F-436C-8FFA-381268B054EC}" type="pres">
      <dgm:prSet presAssocID="{6662C509-1D05-4B7E-A1EE-420B34A60B4F}" presName="sibTrans" presStyleCnt="0"/>
      <dgm:spPr/>
    </dgm:pt>
    <dgm:pt modelId="{0308ADBF-D697-4738-B7D9-231E93FAE37B}" type="pres">
      <dgm:prSet presAssocID="{FF555156-A894-4479-B9C3-C37BAEDFCFD9}" presName="compNode" presStyleCnt="0"/>
      <dgm:spPr/>
    </dgm:pt>
    <dgm:pt modelId="{CC7C1903-7F9D-4259-8AD8-7DF4ADFEC4A9}" type="pres">
      <dgm:prSet presAssocID="{FF555156-A894-4479-B9C3-C37BAEDFCFD9}" presName="bgRect" presStyleLbl="bgShp" presStyleIdx="1" presStyleCnt="5"/>
      <dgm:spPr/>
    </dgm:pt>
    <dgm:pt modelId="{0A68F63B-1939-45EA-BE62-BF4555058612}" type="pres">
      <dgm:prSet presAssocID="{FF555156-A894-4479-B9C3-C37BAEDFCFD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8D966A60-7F47-4E34-B035-AF13D2FF0F9D}" type="pres">
      <dgm:prSet presAssocID="{FF555156-A894-4479-B9C3-C37BAEDFCFD9}" presName="spaceRect" presStyleCnt="0"/>
      <dgm:spPr/>
    </dgm:pt>
    <dgm:pt modelId="{A57A40B7-4F88-4155-A70F-7407C371F505}" type="pres">
      <dgm:prSet presAssocID="{FF555156-A894-4479-B9C3-C37BAEDFCFD9}" presName="parTx" presStyleLbl="revTx" presStyleIdx="1" presStyleCnt="5">
        <dgm:presLayoutVars>
          <dgm:chMax val="0"/>
          <dgm:chPref val="0"/>
        </dgm:presLayoutVars>
      </dgm:prSet>
      <dgm:spPr/>
    </dgm:pt>
    <dgm:pt modelId="{233CE264-F4B1-4F6E-93C5-4248E49BF238}" type="pres">
      <dgm:prSet presAssocID="{0433310F-05E8-47F6-8FBB-1E40EA806720}" presName="sibTrans" presStyleCnt="0"/>
      <dgm:spPr/>
    </dgm:pt>
    <dgm:pt modelId="{855571CC-58B9-4272-A0F1-AA04A140F674}" type="pres">
      <dgm:prSet presAssocID="{8BA102E4-7829-414B-B397-CE04B02C19D6}" presName="compNode" presStyleCnt="0"/>
      <dgm:spPr/>
    </dgm:pt>
    <dgm:pt modelId="{AB0B7878-232D-4265-89AD-85D031584E63}" type="pres">
      <dgm:prSet presAssocID="{8BA102E4-7829-414B-B397-CE04B02C19D6}" presName="bgRect" presStyleLbl="bgShp" presStyleIdx="2" presStyleCnt="5"/>
      <dgm:spPr/>
    </dgm:pt>
    <dgm:pt modelId="{99400D49-6002-4A2E-9F8E-E2E547892F87}" type="pres">
      <dgm:prSet presAssocID="{8BA102E4-7829-414B-B397-CE04B02C19D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CF72DC1A-DB1E-4685-BA65-F9C72098238A}" type="pres">
      <dgm:prSet presAssocID="{8BA102E4-7829-414B-B397-CE04B02C19D6}" presName="spaceRect" presStyleCnt="0"/>
      <dgm:spPr/>
    </dgm:pt>
    <dgm:pt modelId="{BD036B25-C7CC-44EE-8B25-313063DD3FB9}" type="pres">
      <dgm:prSet presAssocID="{8BA102E4-7829-414B-B397-CE04B02C19D6}" presName="parTx" presStyleLbl="revTx" presStyleIdx="2" presStyleCnt="5">
        <dgm:presLayoutVars>
          <dgm:chMax val="0"/>
          <dgm:chPref val="0"/>
        </dgm:presLayoutVars>
      </dgm:prSet>
      <dgm:spPr/>
    </dgm:pt>
    <dgm:pt modelId="{74DB7421-C3F1-4779-B2D5-CA186972C2B8}" type="pres">
      <dgm:prSet presAssocID="{2EAEEF81-8822-47ED-BA68-E659E3CEE5F6}" presName="sibTrans" presStyleCnt="0"/>
      <dgm:spPr/>
    </dgm:pt>
    <dgm:pt modelId="{86430536-6842-41F9-9B68-4FD493B95086}" type="pres">
      <dgm:prSet presAssocID="{43208356-DAD8-417B-A2C6-73E238C6F534}" presName="compNode" presStyleCnt="0"/>
      <dgm:spPr/>
    </dgm:pt>
    <dgm:pt modelId="{73ECAB53-0BD9-4011-8CB0-422B4E65C762}" type="pres">
      <dgm:prSet presAssocID="{43208356-DAD8-417B-A2C6-73E238C6F534}" presName="bgRect" presStyleLbl="bgShp" presStyleIdx="3" presStyleCnt="5"/>
      <dgm:spPr/>
    </dgm:pt>
    <dgm:pt modelId="{979F2097-A263-4B3F-B39E-456491E3C09A}" type="pres">
      <dgm:prSet presAssocID="{43208356-DAD8-417B-A2C6-73E238C6F53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Wireless router"/>
        </a:ext>
      </dgm:extLst>
    </dgm:pt>
    <dgm:pt modelId="{0F8A9F5F-1E23-4984-9D39-CDA33CE73F2C}" type="pres">
      <dgm:prSet presAssocID="{43208356-DAD8-417B-A2C6-73E238C6F534}" presName="spaceRect" presStyleCnt="0"/>
      <dgm:spPr/>
    </dgm:pt>
    <dgm:pt modelId="{F190F731-0938-431D-AA32-2C3926D65E8D}" type="pres">
      <dgm:prSet presAssocID="{43208356-DAD8-417B-A2C6-73E238C6F534}" presName="parTx" presStyleLbl="revTx" presStyleIdx="3" presStyleCnt="5">
        <dgm:presLayoutVars>
          <dgm:chMax val="0"/>
          <dgm:chPref val="0"/>
        </dgm:presLayoutVars>
      </dgm:prSet>
      <dgm:spPr/>
    </dgm:pt>
    <dgm:pt modelId="{BC1F73CB-3C73-4302-B3F6-A900FDE46D9E}" type="pres">
      <dgm:prSet presAssocID="{B4332563-E0A3-4098-B031-2B90804E7FA8}" presName="sibTrans" presStyleCnt="0"/>
      <dgm:spPr/>
    </dgm:pt>
    <dgm:pt modelId="{528A8C61-5190-4FB6-BF37-904522645E15}" type="pres">
      <dgm:prSet presAssocID="{494738D6-30A5-4AAF-ACC9-3CECFCF80340}" presName="compNode" presStyleCnt="0"/>
      <dgm:spPr/>
    </dgm:pt>
    <dgm:pt modelId="{B74E2572-DB2D-49BD-8141-9892F8B95DFD}" type="pres">
      <dgm:prSet presAssocID="{494738D6-30A5-4AAF-ACC9-3CECFCF80340}" presName="bgRect" presStyleLbl="bgShp" presStyleIdx="4" presStyleCnt="5"/>
      <dgm:spPr/>
    </dgm:pt>
    <dgm:pt modelId="{64874BDD-8999-4488-B86B-BBEDE54B8EE1}" type="pres">
      <dgm:prSet presAssocID="{494738D6-30A5-4AAF-ACC9-3CECFCF8034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Web Design"/>
        </a:ext>
      </dgm:extLst>
    </dgm:pt>
    <dgm:pt modelId="{41CCEF62-6EA8-4FF8-9040-7E1553362CA9}" type="pres">
      <dgm:prSet presAssocID="{494738D6-30A5-4AAF-ACC9-3CECFCF80340}" presName="spaceRect" presStyleCnt="0"/>
      <dgm:spPr/>
    </dgm:pt>
    <dgm:pt modelId="{395807E2-2266-4D1E-9544-8058C0A13FD3}" type="pres">
      <dgm:prSet presAssocID="{494738D6-30A5-4AAF-ACC9-3CECFCF80340}" presName="parTx" presStyleLbl="revTx" presStyleIdx="4" presStyleCnt="5">
        <dgm:presLayoutVars>
          <dgm:chMax val="0"/>
          <dgm:chPref val="0"/>
        </dgm:presLayoutVars>
      </dgm:prSet>
      <dgm:spPr/>
    </dgm:pt>
  </dgm:ptLst>
  <dgm:cxnLst>
    <dgm:cxn modelId="{D1169D08-053F-4A64-BA68-BA8876A97C5E}" type="presOf" srcId="{43208356-DAD8-417B-A2C6-73E238C6F534}" destId="{F190F731-0938-431D-AA32-2C3926D65E8D}" srcOrd="0" destOrd="0" presId="urn:microsoft.com/office/officeart/2018/2/layout/IconVerticalSolidList"/>
    <dgm:cxn modelId="{DB95FE4A-1624-4846-9FD2-4A618574103D}" srcId="{7BEA2941-FA53-49B6-9D10-D88EF4CF9D7B}" destId="{FF555156-A894-4479-B9C3-C37BAEDFCFD9}" srcOrd="1" destOrd="0" parTransId="{CEDFD44C-DEE8-4BF5-9105-AD2C9DA0246B}" sibTransId="{0433310F-05E8-47F6-8FBB-1E40EA806720}"/>
    <dgm:cxn modelId="{1B78AB4B-0ABA-4CEC-892B-CC099FEB204A}" srcId="{7BEA2941-FA53-49B6-9D10-D88EF4CF9D7B}" destId="{0A161762-C826-40C8-9ABA-C46965C9AF35}" srcOrd="0" destOrd="0" parTransId="{3B475A5B-E875-4459-8625-B87B36B5F618}" sibTransId="{6662C509-1D05-4B7E-A1EE-420B34A60B4F}"/>
    <dgm:cxn modelId="{9C67BD7F-1702-453C-9617-A7F09DED210E}" srcId="{7BEA2941-FA53-49B6-9D10-D88EF4CF9D7B}" destId="{494738D6-30A5-4AAF-ACC9-3CECFCF80340}" srcOrd="4" destOrd="0" parTransId="{338133D8-FDDF-4DF2-814D-949ABFAB6997}" sibTransId="{ED54CCB8-E5AD-4515-A1C9-A85500A32497}"/>
    <dgm:cxn modelId="{D1F0DE93-C860-49C8-8C89-A25C12124DCE}" srcId="{7BEA2941-FA53-49B6-9D10-D88EF4CF9D7B}" destId="{43208356-DAD8-417B-A2C6-73E238C6F534}" srcOrd="3" destOrd="0" parTransId="{7B200C0A-12F7-4B0D-B6D3-89CA0E21D44C}" sibTransId="{B4332563-E0A3-4098-B031-2B90804E7FA8}"/>
    <dgm:cxn modelId="{B0A98195-23E7-4F69-B8E7-233D34A3067C}" type="presOf" srcId="{494738D6-30A5-4AAF-ACC9-3CECFCF80340}" destId="{395807E2-2266-4D1E-9544-8058C0A13FD3}" srcOrd="0" destOrd="0" presId="urn:microsoft.com/office/officeart/2018/2/layout/IconVerticalSolidList"/>
    <dgm:cxn modelId="{C9072196-AE6E-4F22-8C8A-134E29E4ED9C}" type="presOf" srcId="{8BA102E4-7829-414B-B397-CE04B02C19D6}" destId="{BD036B25-C7CC-44EE-8B25-313063DD3FB9}" srcOrd="0" destOrd="0" presId="urn:microsoft.com/office/officeart/2018/2/layout/IconVerticalSolidList"/>
    <dgm:cxn modelId="{8536A2B8-F56B-46BF-B563-8319E8D95E68}" srcId="{7BEA2941-FA53-49B6-9D10-D88EF4CF9D7B}" destId="{8BA102E4-7829-414B-B397-CE04B02C19D6}" srcOrd="2" destOrd="0" parTransId="{7580F4BC-E56F-4763-ADDC-D4A7118EC139}" sibTransId="{2EAEEF81-8822-47ED-BA68-E659E3CEE5F6}"/>
    <dgm:cxn modelId="{EC06E5E5-98C6-4875-BC40-2DC56E5A010F}" type="presOf" srcId="{7BEA2941-FA53-49B6-9D10-D88EF4CF9D7B}" destId="{6D8EA47F-87FF-4A0D-A604-B139ED1595C8}" srcOrd="0" destOrd="0" presId="urn:microsoft.com/office/officeart/2018/2/layout/IconVerticalSolidList"/>
    <dgm:cxn modelId="{C1A3F8E9-0A1F-4C6D-9E08-4FC3FE0CD00C}" type="presOf" srcId="{0A161762-C826-40C8-9ABA-C46965C9AF35}" destId="{0B53D107-30B7-4529-AFD5-C7B34053E1E5}" srcOrd="0" destOrd="0" presId="urn:microsoft.com/office/officeart/2018/2/layout/IconVerticalSolidList"/>
    <dgm:cxn modelId="{803EAFF4-7C53-4933-AE63-E5899D809F95}" type="presOf" srcId="{FF555156-A894-4479-B9C3-C37BAEDFCFD9}" destId="{A57A40B7-4F88-4155-A70F-7407C371F505}" srcOrd="0" destOrd="0" presId="urn:microsoft.com/office/officeart/2018/2/layout/IconVerticalSolidList"/>
    <dgm:cxn modelId="{DAEEFC5E-D85E-4E78-9088-592A6BE745BF}" type="presParOf" srcId="{6D8EA47F-87FF-4A0D-A604-B139ED1595C8}" destId="{FFC0183D-861F-4E0A-BAA3-8B0FD01E94CD}" srcOrd="0" destOrd="0" presId="urn:microsoft.com/office/officeart/2018/2/layout/IconVerticalSolidList"/>
    <dgm:cxn modelId="{8B10A3DB-17E0-4E93-8279-EF5F6DD200D4}" type="presParOf" srcId="{FFC0183D-861F-4E0A-BAA3-8B0FD01E94CD}" destId="{A83C41D9-9A53-4365-B781-C62B9961A801}" srcOrd="0" destOrd="0" presId="urn:microsoft.com/office/officeart/2018/2/layout/IconVerticalSolidList"/>
    <dgm:cxn modelId="{147E0BF3-CAFD-443B-9296-89E343D445BA}" type="presParOf" srcId="{FFC0183D-861F-4E0A-BAA3-8B0FD01E94CD}" destId="{93F8AC05-B08D-4357-A658-05D8A90B65FA}" srcOrd="1" destOrd="0" presId="urn:microsoft.com/office/officeart/2018/2/layout/IconVerticalSolidList"/>
    <dgm:cxn modelId="{042A0AC2-6F3A-4178-BE13-89E55F5D570D}" type="presParOf" srcId="{FFC0183D-861F-4E0A-BAA3-8B0FD01E94CD}" destId="{99D07980-B42F-4798-9266-1F0D5C4AA87E}" srcOrd="2" destOrd="0" presId="urn:microsoft.com/office/officeart/2018/2/layout/IconVerticalSolidList"/>
    <dgm:cxn modelId="{ED207C62-181C-4352-8732-DED3E2588EED}" type="presParOf" srcId="{FFC0183D-861F-4E0A-BAA3-8B0FD01E94CD}" destId="{0B53D107-30B7-4529-AFD5-C7B34053E1E5}" srcOrd="3" destOrd="0" presId="urn:microsoft.com/office/officeart/2018/2/layout/IconVerticalSolidList"/>
    <dgm:cxn modelId="{B29EBB0E-CDC7-4497-81AB-1574FFF20FFF}" type="presParOf" srcId="{6D8EA47F-87FF-4A0D-A604-B139ED1595C8}" destId="{26D73A14-725F-436C-8FFA-381268B054EC}" srcOrd="1" destOrd="0" presId="urn:microsoft.com/office/officeart/2018/2/layout/IconVerticalSolidList"/>
    <dgm:cxn modelId="{4974434B-9F81-4C79-89D5-60F9A1AC534F}" type="presParOf" srcId="{6D8EA47F-87FF-4A0D-A604-B139ED1595C8}" destId="{0308ADBF-D697-4738-B7D9-231E93FAE37B}" srcOrd="2" destOrd="0" presId="urn:microsoft.com/office/officeart/2018/2/layout/IconVerticalSolidList"/>
    <dgm:cxn modelId="{44BC7124-1530-4680-8EAB-2225E63C6EFF}" type="presParOf" srcId="{0308ADBF-D697-4738-B7D9-231E93FAE37B}" destId="{CC7C1903-7F9D-4259-8AD8-7DF4ADFEC4A9}" srcOrd="0" destOrd="0" presId="urn:microsoft.com/office/officeart/2018/2/layout/IconVerticalSolidList"/>
    <dgm:cxn modelId="{215DE1C9-3651-4718-97B0-64B3C3C5B943}" type="presParOf" srcId="{0308ADBF-D697-4738-B7D9-231E93FAE37B}" destId="{0A68F63B-1939-45EA-BE62-BF4555058612}" srcOrd="1" destOrd="0" presId="urn:microsoft.com/office/officeart/2018/2/layout/IconVerticalSolidList"/>
    <dgm:cxn modelId="{51717CBF-4314-4980-8079-FBBC8AE1350F}" type="presParOf" srcId="{0308ADBF-D697-4738-B7D9-231E93FAE37B}" destId="{8D966A60-7F47-4E34-B035-AF13D2FF0F9D}" srcOrd="2" destOrd="0" presId="urn:microsoft.com/office/officeart/2018/2/layout/IconVerticalSolidList"/>
    <dgm:cxn modelId="{E9A8CFCE-519C-4D58-BD01-77594E0EC1F5}" type="presParOf" srcId="{0308ADBF-D697-4738-B7D9-231E93FAE37B}" destId="{A57A40B7-4F88-4155-A70F-7407C371F505}" srcOrd="3" destOrd="0" presId="urn:microsoft.com/office/officeart/2018/2/layout/IconVerticalSolidList"/>
    <dgm:cxn modelId="{7543348F-7233-411E-9930-B851F46ECBF8}" type="presParOf" srcId="{6D8EA47F-87FF-4A0D-A604-B139ED1595C8}" destId="{233CE264-F4B1-4F6E-93C5-4248E49BF238}" srcOrd="3" destOrd="0" presId="urn:microsoft.com/office/officeart/2018/2/layout/IconVerticalSolidList"/>
    <dgm:cxn modelId="{96E9AE9F-C9FF-49F2-80B1-D26750F1AA19}" type="presParOf" srcId="{6D8EA47F-87FF-4A0D-A604-B139ED1595C8}" destId="{855571CC-58B9-4272-A0F1-AA04A140F674}" srcOrd="4" destOrd="0" presId="urn:microsoft.com/office/officeart/2018/2/layout/IconVerticalSolidList"/>
    <dgm:cxn modelId="{1C32BB1A-1E06-46ED-A236-D3C95856EA99}" type="presParOf" srcId="{855571CC-58B9-4272-A0F1-AA04A140F674}" destId="{AB0B7878-232D-4265-89AD-85D031584E63}" srcOrd="0" destOrd="0" presId="urn:microsoft.com/office/officeart/2018/2/layout/IconVerticalSolidList"/>
    <dgm:cxn modelId="{E18C037F-5DF8-4974-BC6E-40EEFD67D165}" type="presParOf" srcId="{855571CC-58B9-4272-A0F1-AA04A140F674}" destId="{99400D49-6002-4A2E-9F8E-E2E547892F87}" srcOrd="1" destOrd="0" presId="urn:microsoft.com/office/officeart/2018/2/layout/IconVerticalSolidList"/>
    <dgm:cxn modelId="{2E386EAD-DEF1-4C99-9834-34C1DFE82F05}" type="presParOf" srcId="{855571CC-58B9-4272-A0F1-AA04A140F674}" destId="{CF72DC1A-DB1E-4685-BA65-F9C72098238A}" srcOrd="2" destOrd="0" presId="urn:microsoft.com/office/officeart/2018/2/layout/IconVerticalSolidList"/>
    <dgm:cxn modelId="{33B07FEC-D2FE-48DA-AFA1-3A4DD63CB3A8}" type="presParOf" srcId="{855571CC-58B9-4272-A0F1-AA04A140F674}" destId="{BD036B25-C7CC-44EE-8B25-313063DD3FB9}" srcOrd="3" destOrd="0" presId="urn:microsoft.com/office/officeart/2018/2/layout/IconVerticalSolidList"/>
    <dgm:cxn modelId="{86C7CD83-2D16-48B3-A40B-93FACBE4B075}" type="presParOf" srcId="{6D8EA47F-87FF-4A0D-A604-B139ED1595C8}" destId="{74DB7421-C3F1-4779-B2D5-CA186972C2B8}" srcOrd="5" destOrd="0" presId="urn:microsoft.com/office/officeart/2018/2/layout/IconVerticalSolidList"/>
    <dgm:cxn modelId="{B127A15B-FAD7-4B29-B551-0E7C310E3B1C}" type="presParOf" srcId="{6D8EA47F-87FF-4A0D-A604-B139ED1595C8}" destId="{86430536-6842-41F9-9B68-4FD493B95086}" srcOrd="6" destOrd="0" presId="urn:microsoft.com/office/officeart/2018/2/layout/IconVerticalSolidList"/>
    <dgm:cxn modelId="{F60E572E-C77B-4120-9DD1-D64B19D56CE4}" type="presParOf" srcId="{86430536-6842-41F9-9B68-4FD493B95086}" destId="{73ECAB53-0BD9-4011-8CB0-422B4E65C762}" srcOrd="0" destOrd="0" presId="urn:microsoft.com/office/officeart/2018/2/layout/IconVerticalSolidList"/>
    <dgm:cxn modelId="{A2FB5453-C821-46CB-B45B-BD8A5C6AF56E}" type="presParOf" srcId="{86430536-6842-41F9-9B68-4FD493B95086}" destId="{979F2097-A263-4B3F-B39E-456491E3C09A}" srcOrd="1" destOrd="0" presId="urn:microsoft.com/office/officeart/2018/2/layout/IconVerticalSolidList"/>
    <dgm:cxn modelId="{83D741C8-B50A-46AE-A5C6-BFFF06617EF5}" type="presParOf" srcId="{86430536-6842-41F9-9B68-4FD493B95086}" destId="{0F8A9F5F-1E23-4984-9D39-CDA33CE73F2C}" srcOrd="2" destOrd="0" presId="urn:microsoft.com/office/officeart/2018/2/layout/IconVerticalSolidList"/>
    <dgm:cxn modelId="{AD22A5EF-84CF-4944-9934-3F9A0DEC22CC}" type="presParOf" srcId="{86430536-6842-41F9-9B68-4FD493B95086}" destId="{F190F731-0938-431D-AA32-2C3926D65E8D}" srcOrd="3" destOrd="0" presId="urn:microsoft.com/office/officeart/2018/2/layout/IconVerticalSolidList"/>
    <dgm:cxn modelId="{7A4AF7AD-5375-4C61-BEC2-F96A0EB4538B}" type="presParOf" srcId="{6D8EA47F-87FF-4A0D-A604-B139ED1595C8}" destId="{BC1F73CB-3C73-4302-B3F6-A900FDE46D9E}" srcOrd="7" destOrd="0" presId="urn:microsoft.com/office/officeart/2018/2/layout/IconVerticalSolidList"/>
    <dgm:cxn modelId="{55A19B8A-F051-4584-A52D-B314AB259BE3}" type="presParOf" srcId="{6D8EA47F-87FF-4A0D-A604-B139ED1595C8}" destId="{528A8C61-5190-4FB6-BF37-904522645E15}" srcOrd="8" destOrd="0" presId="urn:microsoft.com/office/officeart/2018/2/layout/IconVerticalSolidList"/>
    <dgm:cxn modelId="{B6A428C2-75B9-4B65-A370-0B34B3CA34D6}" type="presParOf" srcId="{528A8C61-5190-4FB6-BF37-904522645E15}" destId="{B74E2572-DB2D-49BD-8141-9892F8B95DFD}" srcOrd="0" destOrd="0" presId="urn:microsoft.com/office/officeart/2018/2/layout/IconVerticalSolidList"/>
    <dgm:cxn modelId="{1D792FB3-45CB-4389-AB3F-53296AD3E291}" type="presParOf" srcId="{528A8C61-5190-4FB6-BF37-904522645E15}" destId="{64874BDD-8999-4488-B86B-BBEDE54B8EE1}" srcOrd="1" destOrd="0" presId="urn:microsoft.com/office/officeart/2018/2/layout/IconVerticalSolidList"/>
    <dgm:cxn modelId="{A0DFE8AA-04BB-45F9-A130-EEE03A108D30}" type="presParOf" srcId="{528A8C61-5190-4FB6-BF37-904522645E15}" destId="{41CCEF62-6EA8-4FF8-9040-7E1553362CA9}" srcOrd="2" destOrd="0" presId="urn:microsoft.com/office/officeart/2018/2/layout/IconVerticalSolidList"/>
    <dgm:cxn modelId="{773D1ED7-4CB8-4581-8984-A99E80B3D0CB}" type="presParOf" srcId="{528A8C61-5190-4FB6-BF37-904522645E15}" destId="{395807E2-2266-4D1E-9544-8058C0A13FD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4B2AF8-222B-4E75-85AB-5C51F99918F0}">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51ECC4-E4FB-47E5-BAC7-A4961EF9301F}">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0C4C74-14C8-48E9-BE09-5A95E3199449}">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Computers are fundamentally deterministic</a:t>
          </a:r>
        </a:p>
      </dsp:txBody>
      <dsp:txXfrm>
        <a:off x="1435590" y="531"/>
        <a:ext cx="9080009" cy="1242935"/>
      </dsp:txXfrm>
    </dsp:sp>
    <dsp:sp modelId="{B7405B99-4464-4D8E-9132-7CCD1D07318F}">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C33EFF-DDA4-4A7B-B74C-2C971FDA6534}">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81AFB3-880B-4768-80A0-5E3A60D775B3}">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it is possible to define algorithms that generate sequences of numbers whose properties are very close to the properties of theoretical random numbers sequences</a:t>
          </a:r>
        </a:p>
      </dsp:txBody>
      <dsp:txXfrm>
        <a:off x="1435590" y="1554201"/>
        <a:ext cx="9080009" cy="1242935"/>
      </dsp:txXfrm>
    </dsp:sp>
    <dsp:sp modelId="{1278DAA2-4AEF-4938-8798-D51F25601A92}">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1B919C-E63E-427D-B231-9D7A06B8558F}">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80EF2E-82F0-4920-B867-825D172BA77D}">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Methods: </a:t>
          </a:r>
          <a:r>
            <a:rPr lang="en-US" sz="2100" b="1" kern="1200"/>
            <a:t>inverse transform method, rejection sampling, Metropolis-Hasting algorithm </a:t>
          </a:r>
          <a:r>
            <a:rPr lang="en-US" sz="2100" kern="1200"/>
            <a:t>and others</a:t>
          </a:r>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661753-B502-427E-A758-86BC4E872272}">
      <dsp:nvSpPr>
        <dsp:cNvPr id="0" name=""/>
        <dsp:cNvSpPr/>
      </dsp:nvSpPr>
      <dsp:spPr>
        <a:xfrm>
          <a:off x="0" y="646682"/>
          <a:ext cx="4559425" cy="11938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3D4CCC-46EB-4F7F-B875-30843E7E36DB}">
      <dsp:nvSpPr>
        <dsp:cNvPr id="0" name=""/>
        <dsp:cNvSpPr/>
      </dsp:nvSpPr>
      <dsp:spPr>
        <a:xfrm>
          <a:off x="361147" y="915304"/>
          <a:ext cx="656631" cy="6566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1D5498-3839-4B9D-ABF1-1BD053137E86}">
      <dsp:nvSpPr>
        <dsp:cNvPr id="0" name=""/>
        <dsp:cNvSpPr/>
      </dsp:nvSpPr>
      <dsp:spPr>
        <a:xfrm>
          <a:off x="1378926" y="646682"/>
          <a:ext cx="3180498" cy="1193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352" tIns="126352" rIns="126352" bIns="126352" numCol="1" spcCol="1270" anchor="ctr" anchorCtr="0">
          <a:noAutofit/>
        </a:bodyPr>
        <a:lstStyle/>
        <a:p>
          <a:pPr marL="0" lvl="0" indent="0" algn="l" defTabSz="666750">
            <a:lnSpc>
              <a:spcPct val="100000"/>
            </a:lnSpc>
            <a:spcBef>
              <a:spcPct val="0"/>
            </a:spcBef>
            <a:spcAft>
              <a:spcPct val="35000"/>
            </a:spcAft>
            <a:buNone/>
          </a:pPr>
          <a:r>
            <a:rPr lang="en-US" sz="1500" b="0" i="0" kern="1200"/>
            <a:t>downstream task of GANs is a discrimination task between true and generated samples [</a:t>
          </a:r>
          <a:r>
            <a:rPr lang="en-US" sz="1500" b="1" i="0" kern="1200"/>
            <a:t>Discriminator</a:t>
          </a:r>
          <a:r>
            <a:rPr lang="en-US" sz="1500" b="0" i="0" kern="1200"/>
            <a:t>]</a:t>
          </a:r>
          <a:endParaRPr lang="en-US" sz="1500" kern="1200"/>
        </a:p>
      </dsp:txBody>
      <dsp:txXfrm>
        <a:off x="1378926" y="646682"/>
        <a:ext cx="3180498" cy="1193875"/>
      </dsp:txXfrm>
    </dsp:sp>
    <dsp:sp modelId="{B5A2B670-AFFA-4095-AA13-E219E1B0C799}">
      <dsp:nvSpPr>
        <dsp:cNvPr id="0" name=""/>
        <dsp:cNvSpPr/>
      </dsp:nvSpPr>
      <dsp:spPr>
        <a:xfrm>
          <a:off x="0" y="2139026"/>
          <a:ext cx="4559425" cy="11938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7D8D8D-C922-4E9C-A5A3-989DF1426DF1}">
      <dsp:nvSpPr>
        <dsp:cNvPr id="0" name=""/>
        <dsp:cNvSpPr/>
      </dsp:nvSpPr>
      <dsp:spPr>
        <a:xfrm>
          <a:off x="361147" y="2407648"/>
          <a:ext cx="656631" cy="6566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F88C24-5865-41EF-9261-600D1FC87BFC}">
      <dsp:nvSpPr>
        <dsp:cNvPr id="0" name=""/>
        <dsp:cNvSpPr/>
      </dsp:nvSpPr>
      <dsp:spPr>
        <a:xfrm>
          <a:off x="1378926" y="2139026"/>
          <a:ext cx="3180498" cy="1193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352" tIns="126352" rIns="126352" bIns="126352" numCol="1" spcCol="1270" anchor="ctr" anchorCtr="0">
          <a:noAutofit/>
        </a:bodyPr>
        <a:lstStyle/>
        <a:p>
          <a:pPr marL="0" lvl="0" indent="0" algn="l" defTabSz="666750">
            <a:lnSpc>
              <a:spcPct val="100000"/>
            </a:lnSpc>
            <a:spcBef>
              <a:spcPct val="0"/>
            </a:spcBef>
            <a:spcAft>
              <a:spcPct val="35000"/>
            </a:spcAft>
            <a:buNone/>
          </a:pPr>
          <a:r>
            <a:rPr lang="en-US" sz="1500" b="0" i="0" kern="1200"/>
            <a:t>If the two distributions are far apart, the discriminator will be able to classify easily</a:t>
          </a:r>
          <a:endParaRPr lang="en-US" sz="1500" kern="1200"/>
        </a:p>
      </dsp:txBody>
      <dsp:txXfrm>
        <a:off x="1378926" y="2139026"/>
        <a:ext cx="3180498" cy="11938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4B2AF8-222B-4E75-85AB-5C51F99918F0}">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51ECC4-E4FB-47E5-BAC7-A4961EF9301F}">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0C4C74-14C8-48E9-BE09-5A95E3199449}">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Computers are fundamentally deterministic</a:t>
          </a:r>
        </a:p>
      </dsp:txBody>
      <dsp:txXfrm>
        <a:off x="1435590" y="531"/>
        <a:ext cx="9080009" cy="1242935"/>
      </dsp:txXfrm>
    </dsp:sp>
    <dsp:sp modelId="{B7405B99-4464-4D8E-9132-7CCD1D07318F}">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C33EFF-DDA4-4A7B-B74C-2C971FDA6534}">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81AFB3-880B-4768-80A0-5E3A60D775B3}">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it is possible to define algorithms that generate sequences of numbers whose properties are very close to the properties of theoretical random numbers sequences</a:t>
          </a:r>
        </a:p>
      </dsp:txBody>
      <dsp:txXfrm>
        <a:off x="1435590" y="1554201"/>
        <a:ext cx="9080009" cy="1242935"/>
      </dsp:txXfrm>
    </dsp:sp>
    <dsp:sp modelId="{1278DAA2-4AEF-4938-8798-D51F25601A92}">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1B919C-E63E-427D-B231-9D7A06B8558F}">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80EF2E-82F0-4920-B867-825D172BA77D}">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a:t>Methods: </a:t>
          </a:r>
          <a:r>
            <a:rPr lang="en-US" sz="2100" b="1" kern="1200"/>
            <a:t>inverse transform method, rejection sampling, Metropolis-Hasting algorithm </a:t>
          </a:r>
          <a:r>
            <a:rPr lang="en-US" sz="2100" kern="1200"/>
            <a:t>and others</a:t>
          </a:r>
        </a:p>
      </dsp:txBody>
      <dsp:txXfrm>
        <a:off x="1435590" y="3107870"/>
        <a:ext cx="908000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7BA2A-99B1-4D95-B4B4-9975979568F2}">
      <dsp:nvSpPr>
        <dsp:cNvPr id="0" name=""/>
        <dsp:cNvSpPr/>
      </dsp:nvSpPr>
      <dsp:spPr>
        <a:xfrm>
          <a:off x="0" y="243458"/>
          <a:ext cx="1051560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Rejection sampling</a:t>
          </a:r>
        </a:p>
      </dsp:txBody>
      <dsp:txXfrm>
        <a:off x="32784" y="276242"/>
        <a:ext cx="10450032" cy="606012"/>
      </dsp:txXfrm>
    </dsp:sp>
    <dsp:sp modelId="{53C6298D-3591-4AF0-AD9E-83BC3740DBA2}">
      <dsp:nvSpPr>
        <dsp:cNvPr id="0" name=""/>
        <dsp:cNvSpPr/>
      </dsp:nvSpPr>
      <dsp:spPr>
        <a:xfrm>
          <a:off x="0" y="915039"/>
          <a:ext cx="10515600"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dirty="0"/>
            <a:t>Sampling from a well-known simple distribution</a:t>
          </a:r>
        </a:p>
        <a:p>
          <a:pPr marL="228600" lvl="1" indent="-228600" algn="l" defTabSz="977900">
            <a:lnSpc>
              <a:spcPct val="90000"/>
            </a:lnSpc>
            <a:spcBef>
              <a:spcPct val="0"/>
            </a:spcBef>
            <a:spcAft>
              <a:spcPct val="20000"/>
            </a:spcAft>
            <a:buChar char="•"/>
          </a:pPr>
          <a:r>
            <a:rPr lang="en-US" sz="2200" kern="1200"/>
            <a:t>Accept or reject the sampled value depending on some condition</a:t>
          </a:r>
        </a:p>
        <a:p>
          <a:pPr marL="228600" lvl="1" indent="-228600" algn="l" defTabSz="977900">
            <a:lnSpc>
              <a:spcPct val="90000"/>
            </a:lnSpc>
            <a:spcBef>
              <a:spcPct val="0"/>
            </a:spcBef>
            <a:spcAft>
              <a:spcPct val="20000"/>
            </a:spcAft>
            <a:buChar char="•"/>
          </a:pPr>
          <a:r>
            <a:rPr lang="en-US" sz="2200" kern="1200"/>
            <a:t>Repeating this process until the sampled value is accepted</a:t>
          </a:r>
        </a:p>
      </dsp:txBody>
      <dsp:txXfrm>
        <a:off x="0" y="915039"/>
        <a:ext cx="10515600" cy="1130220"/>
      </dsp:txXfrm>
    </dsp:sp>
    <dsp:sp modelId="{C6AC40C8-3A14-4066-86C7-3EA973FC2904}">
      <dsp:nvSpPr>
        <dsp:cNvPr id="0" name=""/>
        <dsp:cNvSpPr/>
      </dsp:nvSpPr>
      <dsp:spPr>
        <a:xfrm>
          <a:off x="0" y="2045259"/>
          <a:ext cx="10515600"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Metropolis-Hasting algorithm</a:t>
          </a:r>
        </a:p>
      </dsp:txBody>
      <dsp:txXfrm>
        <a:off x="32784" y="2078043"/>
        <a:ext cx="10450032" cy="606012"/>
      </dsp:txXfrm>
    </dsp:sp>
    <dsp:sp modelId="{E05C007B-4E06-49BB-9110-46274B5FA996}">
      <dsp:nvSpPr>
        <dsp:cNvPr id="0" name=""/>
        <dsp:cNvSpPr/>
      </dsp:nvSpPr>
      <dsp:spPr>
        <a:xfrm>
          <a:off x="0" y="2716839"/>
          <a:ext cx="10515600" cy="1391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find a Markov Chain (MC) such that the stationary distribution of this MC corresponds to the distribution from which we would like to sample our random variable</a:t>
          </a:r>
        </a:p>
        <a:p>
          <a:pPr marL="228600" lvl="1" indent="-228600" algn="l" defTabSz="977900">
            <a:lnSpc>
              <a:spcPct val="90000"/>
            </a:lnSpc>
            <a:spcBef>
              <a:spcPct val="0"/>
            </a:spcBef>
            <a:spcAft>
              <a:spcPct val="20000"/>
            </a:spcAft>
            <a:buChar char="•"/>
          </a:pPr>
          <a:r>
            <a:rPr lang="en-US" sz="2200" kern="1200"/>
            <a:t>Once this MC found, we can simulate a long enough trajectory over this MC to consider that we have reach a steady state</a:t>
          </a:r>
        </a:p>
      </dsp:txBody>
      <dsp:txXfrm>
        <a:off x="0" y="2716839"/>
        <a:ext cx="10515600" cy="13910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3C41D9-9A53-4365-B781-C62B9961A801}">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F8AC05-B08D-4357-A658-05D8A90B65FA}">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53D107-30B7-4529-AFD5-C7B34053E1E5}">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B</a:t>
          </a:r>
          <a:r>
            <a:rPr lang="en-US" sz="1900" b="0" i="0" kern="1200"/>
            <a:t>ased on conditional GAN (cGAN) architecture</a:t>
          </a:r>
          <a:endParaRPr lang="en-US" sz="1900" kern="1200"/>
        </a:p>
      </dsp:txBody>
      <dsp:txXfrm>
        <a:off x="836323" y="3399"/>
        <a:ext cx="9679276" cy="724089"/>
      </dsp:txXfrm>
    </dsp:sp>
    <dsp:sp modelId="{CC7C1903-7F9D-4259-8AD8-7DF4ADFEC4A9}">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68F63B-1939-45EA-BE62-BF4555058612}">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7A40B7-4F88-4155-A70F-7407C371F505}">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b="0" i="0" kern="1200"/>
            <a:t>Trained on paired set of images or scenes from two domains to be used for translation</a:t>
          </a:r>
          <a:endParaRPr lang="en-US" sz="1900" kern="1200"/>
        </a:p>
      </dsp:txBody>
      <dsp:txXfrm>
        <a:off x="836323" y="908511"/>
        <a:ext cx="9679276" cy="724089"/>
      </dsp:txXfrm>
    </dsp:sp>
    <dsp:sp modelId="{AB0B7878-232D-4265-89AD-85D031584E63}">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400D49-6002-4A2E-9F8E-E2E547892F87}">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036B25-C7CC-44EE-8B25-313063DD3FB9}">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kern="1200"/>
            <a:t>A</a:t>
          </a:r>
          <a:r>
            <a:rPr lang="en-US" sz="1900" b="0" i="0" kern="1200"/>
            <a:t>rchitecture consists of a Generator G and a Discriminator D</a:t>
          </a:r>
          <a:endParaRPr lang="en-US" sz="1900" kern="1200"/>
        </a:p>
      </dsp:txBody>
      <dsp:txXfrm>
        <a:off x="836323" y="1813624"/>
        <a:ext cx="9679276" cy="724089"/>
      </dsp:txXfrm>
    </dsp:sp>
    <dsp:sp modelId="{73ECAB53-0BD9-4011-8CB0-422B4E65C762}">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9F2097-A263-4B3F-B39E-456491E3C09A}">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90F731-0938-431D-AA32-2C3926D65E8D}">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b="0" i="0" kern="1200"/>
            <a:t>Generator G is an encoder-decoder net or U-Net with skip connection</a:t>
          </a:r>
          <a:endParaRPr lang="en-US" sz="1900" kern="1200"/>
        </a:p>
      </dsp:txBody>
      <dsp:txXfrm>
        <a:off x="836323" y="2718736"/>
        <a:ext cx="9679276" cy="724089"/>
      </dsp:txXfrm>
    </dsp:sp>
    <dsp:sp modelId="{B74E2572-DB2D-49BD-8141-9892F8B95DFD}">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874BDD-8999-4488-B86B-BBEDE54B8EE1}">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5807E2-2266-4D1E-9544-8058C0A13FD3}">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n-US" sz="1900" b="0" i="0" kern="1200"/>
            <a:t>Discriminator is a patch-GAN architecture, which penalizes at scale of patches</a:t>
          </a:r>
          <a:endParaRPr lang="en-US" sz="1900" kern="1200"/>
        </a:p>
      </dsp:txBody>
      <dsp:txXfrm>
        <a:off x="836323" y="3623848"/>
        <a:ext cx="9679276" cy="72408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FA6AAD-00C3-4B15-8D2D-1DA728DD1418}" type="datetimeFigureOut">
              <a:rPr lang="en-US" smtClean="0"/>
              <a:t>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D2D93D-2F77-454C-98DD-E88D90513F99}" type="slidenum">
              <a:rPr lang="en-US" smtClean="0"/>
              <a:t>‹#›</a:t>
            </a:fld>
            <a:endParaRPr lang="en-US"/>
          </a:p>
        </p:txBody>
      </p:sp>
    </p:spTree>
    <p:extLst>
      <p:ext uri="{BB962C8B-B14F-4D97-AF65-F5344CB8AC3E}">
        <p14:creationId xmlns:p14="http://schemas.microsoft.com/office/powerpoint/2010/main" val="1764049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evelopers.google.com/machine-learning/glossary#backpropagation"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n.wikipedia.org/wiki/Extremum_estimator"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en.wikipedia.org/wiki/Independent_and_identically_distributed" TargetMode="External"/><Relationship Id="rId4" Type="http://schemas.openxmlformats.org/officeDocument/2006/relationships/hyperlink" Target="https://en.wikipedia.org/wiki/Objective_function"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evelopers.google.com/machine-learning/glossary#cross-entropy"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https://towardsdatascience.com/understanding-generative-adversarial-networks-gans-cd6e4651a29</a:t>
            </a:r>
          </a:p>
          <a:p>
            <a:endParaRPr lang="en-US" dirty="0"/>
          </a:p>
          <a:p>
            <a:r>
              <a:rPr lang="en-US" dirty="0"/>
              <a:t>https://developers.google.com/machine-learning/gan</a:t>
            </a:r>
          </a:p>
          <a:p>
            <a:endParaRPr lang="en-US" dirty="0"/>
          </a:p>
          <a:p>
            <a:r>
              <a:rPr lang="en-US"/>
              <a:t>https://developers.arcgis.com/python/guide/how-cyclegan-works/</a:t>
            </a:r>
            <a:endParaRPr lang="en-US" dirty="0"/>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a:t>
            </a:fld>
            <a:endParaRPr lang="en-US"/>
          </a:p>
        </p:txBody>
      </p:sp>
    </p:spTree>
    <p:extLst>
      <p:ext uri="{BB962C8B-B14F-4D97-AF65-F5344CB8AC3E}">
        <p14:creationId xmlns:p14="http://schemas.microsoft.com/office/powerpoint/2010/main" val="3904949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Roboto" panose="02000000000000000000" pitchFamily="2" charset="0"/>
              </a:rPr>
              <a:t>For example, GANs can create images that look like photographs of human faces, even though the faces don't belong to any real person.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Roboto" panose="02000000000000000000" pitchFamily="2" charset="0"/>
              </a:rPr>
              <a:t>Generator which learns to produce the target output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Roboto" panose="02000000000000000000" pitchFamily="2" charset="0"/>
              </a:rPr>
              <a:t>Discriminator tries to keep from being fooled.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4</a:t>
            </a:fld>
            <a:endParaRPr lang="en-US"/>
          </a:p>
        </p:txBody>
      </p:sp>
    </p:spTree>
    <p:extLst>
      <p:ext uri="{BB962C8B-B14F-4D97-AF65-F5344CB8AC3E}">
        <p14:creationId xmlns:p14="http://schemas.microsoft.com/office/powerpoint/2010/main" val="3806331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202124"/>
                </a:solidFill>
              </a:rPr>
              <a:t>There is another paradigm of learning where the model is only given the input variables (X) and the problem does not have any output variables (y).</a:t>
            </a:r>
            <a:endParaRPr lang="en-US" dirty="0"/>
          </a:p>
          <a:p>
            <a:r>
              <a:rPr lang="en-US" i="1" dirty="0">
                <a:solidFill>
                  <a:srgbClr val="202124"/>
                </a:solidFill>
              </a:rPr>
              <a:t>we are only given inputs, and the goal is to find “interesting patterns” in the data. […] This is a much less well-defined problem, since we are not told what kinds of patterns to look for, and there is no obvious error metric to use (unlike supervised learning, where we can compare our prediction of y for a given x to the observed value).</a:t>
            </a:r>
            <a:endParaRPr lang="en-US" dirty="0"/>
          </a:p>
          <a:p>
            <a:endParaRPr lang="en-US" i="1" dirty="0">
              <a:solidFill>
                <a:srgbClr val="202124"/>
              </a:solidFill>
              <a:latin typeface="Calibri"/>
              <a:ea typeface="Roboto"/>
              <a:cs typeface="Calibri"/>
            </a:endParaRPr>
          </a:p>
          <a:p>
            <a:r>
              <a:rPr lang="en-US" b="0" i="0" dirty="0">
                <a:solidFill>
                  <a:srgbClr val="202124"/>
                </a:solidFill>
                <a:effectLst/>
                <a:latin typeface="Roboto"/>
                <a:ea typeface="Roboto"/>
                <a:cs typeface="Roboto"/>
              </a:rPr>
              <a:t>A generative model </a:t>
            </a:r>
            <a:r>
              <a:rPr lang="en-US" dirty="0">
                <a:solidFill>
                  <a:srgbClr val="202124"/>
                </a:solidFill>
                <a:latin typeface="Roboto"/>
                <a:ea typeface="Roboto"/>
                <a:cs typeface="Roboto"/>
              </a:rPr>
              <a:t>could</a:t>
            </a:r>
            <a:r>
              <a:rPr lang="en-US" b="0" i="0" dirty="0">
                <a:solidFill>
                  <a:srgbClr val="202124"/>
                </a:solidFill>
                <a:effectLst/>
                <a:latin typeface="Roboto"/>
                <a:ea typeface="Roboto"/>
                <a:cs typeface="Roboto"/>
              </a:rPr>
              <a:t> generate new photos of animals that look like real animals, while a discriminative model could tell a dog from a cat. GANs are just one kind of generative model.</a:t>
            </a:r>
            <a:endParaRPr lang="en-US" dirty="0">
              <a:cs typeface="Calibri"/>
            </a:endParaRPr>
          </a:p>
          <a:p>
            <a:r>
              <a:rPr lang="en-US" b="0" i="0" dirty="0">
                <a:solidFill>
                  <a:srgbClr val="202124"/>
                </a:solidFill>
                <a:effectLst/>
                <a:latin typeface="Roboto" panose="02000000000000000000" pitchFamily="2" charset="0"/>
              </a:rPr>
              <a:t>A generative model includes the distribution of the data itself, and tells you how likely a given example is.</a:t>
            </a:r>
          </a:p>
          <a:p>
            <a:pPr algn="l"/>
            <a:r>
              <a:rPr lang="en-US" b="0" i="0" dirty="0">
                <a:solidFill>
                  <a:srgbClr val="202124"/>
                </a:solidFill>
                <a:effectLst/>
                <a:latin typeface="Roboto" panose="02000000000000000000" pitchFamily="2" charset="0"/>
              </a:rPr>
              <a:t>A discriminative model ignores the question of whether a given instance is likely, and just tells you how likely a label is to apply to the instance.</a:t>
            </a:r>
          </a:p>
          <a:p>
            <a:pPr algn="l"/>
            <a:r>
              <a:rPr lang="en-US" b="0" i="0" dirty="0">
                <a:solidFill>
                  <a:srgbClr val="202124"/>
                </a:solidFill>
                <a:effectLst/>
                <a:latin typeface="Roboto" panose="02000000000000000000" pitchFamily="2" charset="0"/>
              </a:rPr>
              <a:t>Note that this is a very general definition. There are many kinds of generative model. GANs are just one kind of generative model.</a:t>
            </a:r>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5</a:t>
            </a:fld>
            <a:endParaRPr lang="en-US"/>
          </a:p>
        </p:txBody>
      </p:sp>
    </p:spTree>
    <p:extLst>
      <p:ext uri="{BB962C8B-B14F-4D97-AF65-F5344CB8AC3E}">
        <p14:creationId xmlns:p14="http://schemas.microsoft.com/office/powerpoint/2010/main" val="3392339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Roboto" panose="02000000000000000000" pitchFamily="2" charset="0"/>
              </a:rPr>
              <a:t>In case of discriminative model, If it gets the line right, it can distinguish 0's from 1's without ever having to model exactly where the instances are placed in the data space on either side of the line.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Roboto" panose="02000000000000000000" pitchFamily="2" charset="0"/>
              </a:rPr>
              <a:t>In case of generative model, It has to model the distribution throughout the data space.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effectLst/>
              <a:latin typeface="Roboto" panose="02000000000000000000" pitchFamily="2" charset="0"/>
            </a:endParaRPr>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6</a:t>
            </a:fld>
            <a:endParaRPr lang="en-US"/>
          </a:p>
        </p:txBody>
      </p:sp>
    </p:spTree>
    <p:extLst>
      <p:ext uri="{BB962C8B-B14F-4D97-AF65-F5344CB8AC3E}">
        <p14:creationId xmlns:p14="http://schemas.microsoft.com/office/powerpoint/2010/main" val="996843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Roboto" panose="02000000000000000000" pitchFamily="2" charset="0"/>
              </a:rPr>
              <a:t>Through </a:t>
            </a:r>
            <a:r>
              <a:rPr lang="en-US" b="0" i="0" dirty="0">
                <a:effectLst/>
                <a:latin typeface="Roboto" panose="02000000000000000000" pitchFamily="2" charset="0"/>
                <a:hlinkClick r:id="rId3"/>
              </a:rPr>
              <a:t>backpropagation</a:t>
            </a:r>
            <a:r>
              <a:rPr lang="en-US" b="0" i="0" dirty="0">
                <a:solidFill>
                  <a:srgbClr val="202124"/>
                </a:solidFill>
                <a:effectLst/>
                <a:latin typeface="Roboto" panose="02000000000000000000" pitchFamily="2" charset="0"/>
              </a:rPr>
              <a:t>, the discriminator's classification provides a signal that the generator uses to update its weights.</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7</a:t>
            </a:fld>
            <a:endParaRPr lang="en-US"/>
          </a:p>
        </p:txBody>
      </p:sp>
    </p:spTree>
    <p:extLst>
      <p:ext uri="{BB962C8B-B14F-4D97-AF65-F5344CB8AC3E}">
        <p14:creationId xmlns:p14="http://schemas.microsoft.com/office/powerpoint/2010/main" val="3872609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Roboto" panose="02000000000000000000" pitchFamily="2" charset="0"/>
              </a:rPr>
              <a:t>Real data: The discriminator uses these instances as positive examples during training.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Roboto" panose="02000000000000000000" pitchFamily="2" charset="0"/>
              </a:rPr>
              <a:t>Fake data: The discriminator uses these instances as negative examples during training.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02124"/>
              </a:solidFill>
              <a:effectLst/>
              <a:latin typeface="Roboto" panose="02000000000000000000" pitchFamily="2" charset="0"/>
            </a:endParaRPr>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9</a:t>
            </a:fld>
            <a:endParaRPr lang="en-US"/>
          </a:p>
        </p:txBody>
      </p:sp>
    </p:spTree>
    <p:extLst>
      <p:ext uri="{BB962C8B-B14F-4D97-AF65-F5344CB8AC3E}">
        <p14:creationId xmlns:p14="http://schemas.microsoft.com/office/powerpoint/2010/main" val="1253398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Roboto" panose="02000000000000000000" pitchFamily="2" charset="0"/>
              </a:rPr>
              <a:t>The generator part of a GAN learns to create fake data by incorporating feedback from the discriminator. It learns to make the discriminator classify its output as real.</a:t>
            </a:r>
          </a:p>
          <a:p>
            <a:endParaRPr lang="en-US" b="0" i="0" dirty="0">
              <a:solidFill>
                <a:srgbClr val="202124"/>
              </a:solidFill>
              <a:effectLst/>
              <a:latin typeface="Roboto" panose="02000000000000000000" pitchFamily="2" charset="0"/>
            </a:endParaRPr>
          </a:p>
          <a:p>
            <a:pPr algn="l"/>
            <a:r>
              <a:rPr lang="en-US" b="0" i="0" dirty="0">
                <a:solidFill>
                  <a:srgbClr val="202124"/>
                </a:solidFill>
                <a:effectLst/>
                <a:latin typeface="Roboto" panose="02000000000000000000" pitchFamily="2" charset="0"/>
              </a:rPr>
              <a:t>In its most basic form, a GAN takes random noise as its input. The generator then transforms this noise into a meaningful output. By introducing noise, we can get the GAN to produce a wide variety of data, sampling from different places in the target distribution.</a:t>
            </a:r>
          </a:p>
          <a:p>
            <a:pPr algn="l"/>
            <a:r>
              <a:rPr lang="en-US" b="0" i="0" dirty="0">
                <a:solidFill>
                  <a:srgbClr val="202124"/>
                </a:solidFill>
                <a:effectLst/>
                <a:latin typeface="Roboto" panose="02000000000000000000" pitchFamily="2" charset="0"/>
              </a:rPr>
              <a:t>Experiments suggest that the distribution of the noise doesn't matter much, so we can choose something that's easy to sample from, like a uniform distribution. For convenience the space from which the noise is sampled is usually of smaller dimension than the dimensionality of the output space.</a:t>
            </a:r>
          </a:p>
          <a:p>
            <a:pPr algn="l"/>
            <a:endParaRPr lang="en-US" b="0" i="0" dirty="0">
              <a:solidFill>
                <a:srgbClr val="202124"/>
              </a:solidFill>
              <a:effectLst/>
              <a:latin typeface="Roboto" panose="02000000000000000000" pitchFamily="2"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10</a:t>
            </a:fld>
            <a:endParaRPr lang="en-US"/>
          </a:p>
        </p:txBody>
      </p:sp>
    </p:spTree>
    <p:extLst>
      <p:ext uri="{BB962C8B-B14F-4D97-AF65-F5344CB8AC3E}">
        <p14:creationId xmlns:p14="http://schemas.microsoft.com/office/powerpoint/2010/main" val="1295059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Computers are fundamentally deterministic. So, it is, in theory, impossible to generate numbers that are really random (even if we could say that the question “what really is randomness ?” is a difficult one). However, it is possible to define algorithms that generate sequences of numbers whose properties are very close to the properties of theoretical random numbers sequences. In particular, a computer is able, using a pseudorandom number generator, to generate a sequence of numbers that approximatively follows a uniform random distribution between 0 and 1. The uniform case is a very simple one upon which more complex random variables can be built in different ways.</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11</a:t>
            </a:fld>
            <a:endParaRPr lang="en-US"/>
          </a:p>
        </p:txBody>
      </p:sp>
    </p:spTree>
    <p:extLst>
      <p:ext uri="{BB962C8B-B14F-4D97-AF65-F5344CB8AC3E}">
        <p14:creationId xmlns:p14="http://schemas.microsoft.com/office/powerpoint/2010/main" val="925975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Original GAN : </a:t>
            </a:r>
          </a:p>
          <a:p>
            <a:r>
              <a:rPr lang="en-US"/>
              <a:t>A maximum likelihood estimator is an </a:t>
            </a:r>
            <a:r>
              <a:rPr lang="en-US" dirty="0">
                <a:hlinkClick r:id="rId3"/>
              </a:rPr>
              <a:t>extremum estimator</a:t>
            </a:r>
            <a:r>
              <a:rPr lang="en-US" dirty="0"/>
              <a:t> obtained by maximizing, as a function of </a:t>
            </a:r>
            <a:r>
              <a:rPr lang="en-US" i="1" dirty="0"/>
              <a:t>θ</a:t>
            </a:r>
            <a:r>
              <a:rPr lang="en-US" dirty="0"/>
              <a:t>, the </a:t>
            </a:r>
            <a:r>
              <a:rPr lang="en-US" dirty="0">
                <a:hlinkClick r:id="rId4"/>
              </a:rPr>
              <a:t>objective function</a:t>
            </a:r>
            <a:r>
              <a:rPr lang="en-US" dirty="0"/>
              <a:t> ℓ^(�;�). If the data are </a:t>
            </a:r>
            <a:r>
              <a:rPr lang="en-US" dirty="0">
                <a:hlinkClick r:id="rId5"/>
              </a:rPr>
              <a:t>independent and identically distributed</a:t>
            </a:r>
            <a:r>
              <a:rPr lang="en-US" dirty="0"/>
              <a:t>,</a:t>
            </a:r>
          </a:p>
          <a:p>
            <a:endParaRPr lang="en-US" dirty="0">
              <a:cs typeface="Calibri"/>
            </a:endParaRPr>
          </a:p>
        </p:txBody>
      </p:sp>
      <p:sp>
        <p:nvSpPr>
          <p:cNvPr id="4" name="Slide Number Placeholder 3"/>
          <p:cNvSpPr>
            <a:spLocks noGrp="1"/>
          </p:cNvSpPr>
          <p:nvPr>
            <p:ph type="sldNum" sz="quarter" idx="5"/>
          </p:nvPr>
        </p:nvSpPr>
        <p:spPr/>
        <p:txBody>
          <a:bodyPr/>
          <a:lstStyle/>
          <a:p>
            <a:fld id="{44D2D93D-2F77-454C-98DD-E88D90513F99}" type="slidenum">
              <a:rPr lang="en-US" smtClean="0"/>
              <a:t>12</a:t>
            </a:fld>
            <a:endParaRPr lang="en-US"/>
          </a:p>
        </p:txBody>
      </p:sp>
    </p:spTree>
    <p:extLst>
      <p:ext uri="{BB962C8B-B14F-4D97-AF65-F5344CB8AC3E}">
        <p14:creationId xmlns:p14="http://schemas.microsoft.com/office/powerpoint/2010/main" val="3204744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Roboto" panose="02000000000000000000" pitchFamily="2" charset="0"/>
              </a:rPr>
              <a:t>In our GAN, however, the generator is not directly connected to the loss that we're trying to affect. The generator feeds into the discriminator net, and the </a:t>
            </a:r>
            <a:r>
              <a:rPr lang="en-US" b="0" i="1" dirty="0">
                <a:solidFill>
                  <a:srgbClr val="202124"/>
                </a:solidFill>
                <a:effectLst/>
                <a:latin typeface="Roboto" panose="02000000000000000000" pitchFamily="2" charset="0"/>
              </a:rPr>
              <a:t>discriminator</a:t>
            </a:r>
            <a:r>
              <a:rPr lang="en-US" b="0" i="0" dirty="0">
                <a:solidFill>
                  <a:srgbClr val="202124"/>
                </a:solidFill>
                <a:effectLst/>
                <a:latin typeface="Roboto" panose="02000000000000000000" pitchFamily="2" charset="0"/>
              </a:rPr>
              <a:t> produces the output we're trying to affect. The generator loss penalizes the generator for producing a sample that the discriminator network classifies as fake.</a:t>
            </a:r>
          </a:p>
          <a:p>
            <a:endParaRPr lang="en-US" b="0" i="0" dirty="0">
              <a:solidFill>
                <a:srgbClr val="202124"/>
              </a:solidFill>
              <a:effectLst/>
              <a:latin typeface="Roboto" panose="02000000000000000000" pitchFamily="2" charset="0"/>
            </a:endParaRPr>
          </a:p>
          <a:p>
            <a:r>
              <a:rPr lang="en-US" b="0" i="0" dirty="0">
                <a:solidFill>
                  <a:srgbClr val="202124"/>
                </a:solidFill>
                <a:effectLst/>
                <a:latin typeface="Roboto" panose="02000000000000000000" pitchFamily="2" charset="0"/>
              </a:rPr>
              <a:t>Backpropagation adjusts each weight in the right direction by calculating the weight's impact on the output — how the output would change if you changed the weight. But the impact of a generator weight depends on the impact of the discriminator weights it feeds into. </a:t>
            </a:r>
          </a:p>
          <a:p>
            <a:endParaRPr lang="en-US" b="0" i="0" dirty="0">
              <a:solidFill>
                <a:srgbClr val="202124"/>
              </a:solidFill>
              <a:effectLst/>
              <a:latin typeface="Roboto" panose="02000000000000000000" pitchFamily="2" charset="0"/>
            </a:endParaRPr>
          </a:p>
          <a:p>
            <a:endParaRPr lang="en-US" b="0" i="0" dirty="0">
              <a:solidFill>
                <a:srgbClr val="202124"/>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Roboto" panose="02000000000000000000" pitchFamily="2" charset="0"/>
              </a:rPr>
              <a:t>In the next slide we'll see how to juggle the training of both the generator and the discriminator.</a:t>
            </a:r>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13</a:t>
            </a:fld>
            <a:endParaRPr lang="en-US"/>
          </a:p>
        </p:txBody>
      </p:sp>
    </p:spTree>
    <p:extLst>
      <p:ext uri="{BB962C8B-B14F-4D97-AF65-F5344CB8AC3E}">
        <p14:creationId xmlns:p14="http://schemas.microsoft.com/office/powerpoint/2010/main" val="3485786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as we know pretty well how to generate N uncorrelated uniform random variables, we could make use of the transform method.</a:t>
            </a:r>
          </a:p>
          <a:p>
            <a:r>
              <a:rPr lang="en-US" b="0" i="0" dirty="0">
                <a:solidFill>
                  <a:srgbClr val="242424"/>
                </a:solidFill>
                <a:effectLst/>
                <a:latin typeface="source-serif-pro"/>
              </a:rPr>
              <a:t>To do so, we need to express our N dimensional random variable as the result of a very complex function applied to a simple N dimensional random variable!</a:t>
            </a:r>
          </a:p>
          <a:p>
            <a:r>
              <a:rPr lang="en-US" b="0" i="0" dirty="0">
                <a:solidFill>
                  <a:srgbClr val="242424"/>
                </a:solidFill>
                <a:effectLst/>
                <a:latin typeface="source-serif-pro"/>
              </a:rPr>
              <a:t>However, finding the transform function is not as straightforward as just taking the closed-form inverse of the Cumulative Distribution Function </a:t>
            </a:r>
          </a:p>
          <a:p>
            <a:endParaRPr lang="en-US" b="0" i="0" dirty="0">
              <a:solidFill>
                <a:srgbClr val="242424"/>
              </a:solidFill>
              <a:effectLst/>
              <a:latin typeface="source-serif-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Computers are fundamentally deterministic. So, it is, in theory, impossible to generate numbers that are really random (even if we could say that the question “what really is randomness ?” is a difficult one). However, it is possible to define algorithms that generate sequences of numbers whose properties are very close to the properties of theoretical random numbers sequences. In particular, a computer is able, using a pseudorandom number generator, to generate a sequence of numbers that approximatively follows a uniform random distribution between 0 and 1. The uniform case is a very simple one upon which more complex random variables can be built in different ways.</a:t>
            </a:r>
            <a:endParaRPr lang="en-US" dirty="0"/>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14</a:t>
            </a:fld>
            <a:endParaRPr lang="en-US"/>
          </a:p>
        </p:txBody>
      </p:sp>
    </p:spTree>
    <p:extLst>
      <p:ext uri="{BB962C8B-B14F-4D97-AF65-F5344CB8AC3E}">
        <p14:creationId xmlns:p14="http://schemas.microsoft.com/office/powerpoint/2010/main" val="815234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02124"/>
                </a:solidFill>
                <a:effectLst/>
                <a:latin typeface="Roboto" panose="02000000000000000000" pitchFamily="2" charset="0"/>
              </a:rPr>
              <a:t>We keep the generator constant during the discriminator training phase. As discriminator training tries to figure out how to distinguish real data from fake, it has to learn how to recognize the generator's flaws. That's a different problem for a thoroughly trained generator than it is for an untrained generator that produces random output.</a:t>
            </a:r>
          </a:p>
          <a:p>
            <a:pPr algn="l"/>
            <a:endParaRPr lang="en-US" b="0" i="0" dirty="0">
              <a:solidFill>
                <a:srgbClr val="202124"/>
              </a:solidFill>
              <a:effectLst/>
              <a:latin typeface="Roboto" panose="02000000000000000000" pitchFamily="2" charset="0"/>
            </a:endParaRPr>
          </a:p>
          <a:p>
            <a:pPr algn="l"/>
            <a:r>
              <a:rPr lang="en-US" b="0" i="0" dirty="0">
                <a:solidFill>
                  <a:srgbClr val="202124"/>
                </a:solidFill>
                <a:effectLst/>
                <a:latin typeface="Roboto" panose="02000000000000000000" pitchFamily="2" charset="0"/>
              </a:rPr>
              <a:t>Similarly, we keep the discriminator constant during the generator training phase. Otherwise, the generator would be trying to hit a moving target and might never converge.</a:t>
            </a:r>
          </a:p>
          <a:p>
            <a:pPr algn="l"/>
            <a:endParaRPr lang="en-US" b="0" i="0" dirty="0">
              <a:solidFill>
                <a:srgbClr val="202124"/>
              </a:solidFill>
              <a:effectLst/>
              <a:latin typeface="Roboto" panose="02000000000000000000" pitchFamily="2" charset="0"/>
            </a:endParaRPr>
          </a:p>
          <a:p>
            <a:pPr algn="l"/>
            <a:r>
              <a:rPr lang="en-US" sz="2800" b="1" i="0" dirty="0">
                <a:solidFill>
                  <a:srgbClr val="202124"/>
                </a:solidFill>
                <a:effectLst/>
                <a:latin typeface="Roboto" panose="02000000000000000000" pitchFamily="2" charset="0"/>
              </a:rPr>
              <a:t>Convergence</a:t>
            </a:r>
          </a:p>
          <a:p>
            <a:pPr algn="l"/>
            <a:endParaRPr lang="en-US" b="0" i="0" dirty="0">
              <a:solidFill>
                <a:srgbClr val="202124"/>
              </a:solidFill>
              <a:effectLst/>
              <a:latin typeface="Roboto" panose="02000000000000000000" pitchFamily="2" charset="0"/>
            </a:endParaRPr>
          </a:p>
          <a:p>
            <a:pPr algn="l"/>
            <a:r>
              <a:rPr lang="en-US" b="0" i="0" dirty="0">
                <a:solidFill>
                  <a:srgbClr val="202124"/>
                </a:solidFill>
                <a:effectLst/>
                <a:latin typeface="Roboto" panose="02000000000000000000" pitchFamily="2" charset="0"/>
              </a:rPr>
              <a:t>As the generator improves with training, the discriminator performance gets worse because the discriminator can't easily tell the difference between real and fake. If the generator succeeds perfectly, then the discriminator has a 50% accuracy. In effect, the discriminator flips a coin to make its prediction.</a:t>
            </a:r>
          </a:p>
          <a:p>
            <a:pPr algn="l"/>
            <a:endParaRPr lang="en-US" b="0" i="0" dirty="0">
              <a:solidFill>
                <a:srgbClr val="202124"/>
              </a:solidFill>
              <a:effectLst/>
              <a:latin typeface="Roboto" panose="02000000000000000000" pitchFamily="2" charset="0"/>
            </a:endParaRPr>
          </a:p>
          <a:p>
            <a:pPr algn="l"/>
            <a:r>
              <a:rPr lang="en-US" b="0" i="0" dirty="0">
                <a:solidFill>
                  <a:srgbClr val="202124"/>
                </a:solidFill>
                <a:effectLst/>
                <a:latin typeface="Roboto" panose="02000000000000000000" pitchFamily="2" charset="0"/>
              </a:rPr>
              <a:t>This progression poses a problem for convergence of the GAN as a whole: the discriminator feedback gets less meaningful over time. If the GAN continues training past the point when the discriminator is giving completely random feedback, then the generator starts to train on junk feedback, and its own quality may collapse.</a:t>
            </a:r>
          </a:p>
          <a:p>
            <a:pPr algn="l"/>
            <a:endParaRPr lang="en-US" b="0" i="0" dirty="0">
              <a:solidFill>
                <a:srgbClr val="202124"/>
              </a:solidFill>
              <a:effectLst/>
              <a:latin typeface="Roboto" panose="02000000000000000000" pitchFamily="2" charset="0"/>
            </a:endParaRPr>
          </a:p>
          <a:p>
            <a:pPr algn="l"/>
            <a:endParaRPr lang="en-US" b="0" i="0" dirty="0">
              <a:solidFill>
                <a:srgbClr val="202124"/>
              </a:solidFill>
              <a:effectLst/>
              <a:latin typeface="Roboto" panose="02000000000000000000" pitchFamily="2" charset="0"/>
            </a:endParaRPr>
          </a:p>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15</a:t>
            </a:fld>
            <a:endParaRPr lang="en-US"/>
          </a:p>
        </p:txBody>
      </p:sp>
    </p:spTree>
    <p:extLst>
      <p:ext uri="{BB962C8B-B14F-4D97-AF65-F5344CB8AC3E}">
        <p14:creationId xmlns:p14="http://schemas.microsoft.com/office/powerpoint/2010/main" val="4033317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Roboto" panose="02000000000000000000" pitchFamily="2" charset="0"/>
              </a:rPr>
              <a:t>GANs try to replicate a probability distribution. They should therefore use loss functions that reflect the distance between the distribution of the data generated by the GAN and the distribution of the real data.</a:t>
            </a:r>
          </a:p>
          <a:p>
            <a:endParaRPr lang="en-US" b="0" i="0" dirty="0">
              <a:solidFill>
                <a:srgbClr val="202124"/>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02124"/>
                </a:solidFill>
                <a:effectLst/>
                <a:latin typeface="Roboto" panose="02000000000000000000" pitchFamily="2" charset="0"/>
              </a:rPr>
              <a:t>The formula derives from the </a:t>
            </a:r>
            <a:r>
              <a:rPr lang="en-US" b="0" i="0" dirty="0">
                <a:solidFill>
                  <a:srgbClr val="202124"/>
                </a:solidFill>
                <a:effectLst/>
                <a:latin typeface="Roboto" panose="02000000000000000000" pitchFamily="2" charset="0"/>
                <a:hlinkClick r:id="rId3"/>
              </a:rPr>
              <a:t>cross-entropy</a:t>
            </a:r>
            <a:r>
              <a:rPr lang="en-US" b="0" i="0" dirty="0">
                <a:solidFill>
                  <a:srgbClr val="202124"/>
                </a:solidFill>
                <a:effectLst/>
                <a:latin typeface="Roboto" panose="02000000000000000000" pitchFamily="2" charset="0"/>
              </a:rPr>
              <a:t> between the real and generated distributions.</a:t>
            </a:r>
          </a:p>
          <a:p>
            <a:endParaRPr lang="en-US" b="0" i="0" dirty="0">
              <a:solidFill>
                <a:srgbClr val="202124"/>
              </a:solidFill>
              <a:effectLst/>
              <a:latin typeface="Roboto" panose="02000000000000000000" pitchFamily="2" charset="0"/>
            </a:endParaRPr>
          </a:p>
          <a:p>
            <a:endParaRPr lang="en-US" b="0" i="0" dirty="0">
              <a:solidFill>
                <a:srgbClr val="202124"/>
              </a:solidFill>
              <a:effectLst/>
              <a:latin typeface="Roboto" panose="02000000000000000000" pitchFamily="2" charset="0"/>
            </a:endParaRPr>
          </a:p>
          <a:p>
            <a:r>
              <a:rPr lang="en-US" b="0" i="0" dirty="0">
                <a:solidFill>
                  <a:srgbClr val="202124"/>
                </a:solidFill>
                <a:effectLst/>
                <a:latin typeface="Roboto" panose="02000000000000000000" pitchFamily="2" charset="0"/>
              </a:rPr>
              <a:t>In the loss schemes we'll look at here, the </a:t>
            </a:r>
            <a:r>
              <a:rPr lang="en-US" b="1" i="0" dirty="0">
                <a:solidFill>
                  <a:srgbClr val="202124"/>
                </a:solidFill>
                <a:effectLst/>
                <a:latin typeface="Roboto" panose="02000000000000000000" pitchFamily="2" charset="0"/>
              </a:rPr>
              <a:t>generator and discriminator losses derive from a single measure of distance between probability distributions</a:t>
            </a:r>
            <a:r>
              <a:rPr lang="en-US" b="0" i="0" dirty="0">
                <a:solidFill>
                  <a:srgbClr val="202124"/>
                </a:solidFill>
                <a:effectLst/>
                <a:latin typeface="Roboto" panose="02000000000000000000" pitchFamily="2" charset="0"/>
              </a:rPr>
              <a:t>. In both of these schemes, however, the </a:t>
            </a:r>
            <a:r>
              <a:rPr lang="en-US" b="1" i="0" dirty="0">
                <a:solidFill>
                  <a:srgbClr val="202124"/>
                </a:solidFill>
                <a:effectLst/>
                <a:latin typeface="Roboto" panose="02000000000000000000" pitchFamily="2" charset="0"/>
              </a:rPr>
              <a:t>generator can only affect one term in the distance measure</a:t>
            </a:r>
            <a:r>
              <a:rPr lang="en-US" b="0" i="0" dirty="0">
                <a:solidFill>
                  <a:srgbClr val="202124"/>
                </a:solidFill>
                <a:effectLst/>
                <a:latin typeface="Roboto" panose="02000000000000000000" pitchFamily="2" charset="0"/>
              </a:rPr>
              <a:t>: </a:t>
            </a:r>
            <a:r>
              <a:rPr lang="en-US" b="1" i="0" dirty="0">
                <a:solidFill>
                  <a:srgbClr val="202124"/>
                </a:solidFill>
                <a:effectLst/>
                <a:latin typeface="Roboto" panose="02000000000000000000" pitchFamily="2" charset="0"/>
              </a:rPr>
              <a:t>the term that reflects the distribution of the fake data</a:t>
            </a:r>
            <a:r>
              <a:rPr lang="en-US" b="0" i="0" dirty="0">
                <a:solidFill>
                  <a:srgbClr val="202124"/>
                </a:solidFill>
                <a:effectLst/>
                <a:latin typeface="Roboto" panose="02000000000000000000" pitchFamily="2" charset="0"/>
              </a:rPr>
              <a:t>. So </a:t>
            </a:r>
            <a:r>
              <a:rPr lang="en-US" b="1" i="0" dirty="0">
                <a:solidFill>
                  <a:srgbClr val="202124"/>
                </a:solidFill>
                <a:effectLst/>
                <a:latin typeface="Roboto" panose="02000000000000000000" pitchFamily="2" charset="0"/>
              </a:rPr>
              <a:t>during generator training </a:t>
            </a:r>
            <a:r>
              <a:rPr lang="en-US" b="0" i="0" dirty="0">
                <a:solidFill>
                  <a:srgbClr val="202124"/>
                </a:solidFill>
                <a:effectLst/>
                <a:latin typeface="Roboto" panose="02000000000000000000" pitchFamily="2" charset="0"/>
              </a:rPr>
              <a:t>we </a:t>
            </a:r>
            <a:r>
              <a:rPr lang="en-US" b="1" i="0" dirty="0">
                <a:solidFill>
                  <a:srgbClr val="202124"/>
                </a:solidFill>
                <a:effectLst/>
                <a:latin typeface="Roboto" panose="02000000000000000000" pitchFamily="2" charset="0"/>
              </a:rPr>
              <a:t>drop</a:t>
            </a:r>
            <a:r>
              <a:rPr lang="en-US" b="0" i="0" dirty="0">
                <a:solidFill>
                  <a:srgbClr val="202124"/>
                </a:solidFill>
                <a:effectLst/>
                <a:latin typeface="Roboto" panose="02000000000000000000" pitchFamily="2" charset="0"/>
              </a:rPr>
              <a:t> the other term, which reflects the </a:t>
            </a:r>
            <a:r>
              <a:rPr lang="en-US" b="1" i="0" dirty="0">
                <a:solidFill>
                  <a:srgbClr val="202124"/>
                </a:solidFill>
                <a:effectLst/>
                <a:latin typeface="Roboto" panose="02000000000000000000" pitchFamily="2" charset="0"/>
              </a:rPr>
              <a:t>distribution of the real data</a:t>
            </a:r>
            <a:r>
              <a:rPr lang="en-US" b="0" i="0" dirty="0">
                <a:solidFill>
                  <a:srgbClr val="202124"/>
                </a:solidFill>
                <a:effectLst/>
                <a:latin typeface="Roboto" panose="02000000000000000000" pitchFamily="2" charset="0"/>
              </a:rPr>
              <a:t>.</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16</a:t>
            </a:fld>
            <a:endParaRPr lang="en-US"/>
          </a:p>
        </p:txBody>
      </p:sp>
    </p:spTree>
    <p:extLst>
      <p:ext uri="{BB962C8B-B14F-4D97-AF65-F5344CB8AC3E}">
        <p14:creationId xmlns:p14="http://schemas.microsoft.com/office/powerpoint/2010/main" val="1930591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Roboto" panose="02000000000000000000" pitchFamily="2" charset="0"/>
              </a:rPr>
              <a:t>This loss function depends on a modification of the GAN scheme</a:t>
            </a:r>
          </a:p>
          <a:p>
            <a:endParaRPr lang="en-US" b="0" i="0" dirty="0">
              <a:solidFill>
                <a:srgbClr val="202124"/>
              </a:solidFill>
              <a:effectLst/>
              <a:latin typeface="Roboto" panose="02000000000000000000" pitchFamily="2" charset="0"/>
            </a:endParaRPr>
          </a:p>
          <a:p>
            <a:r>
              <a:rPr lang="en-US" b="0" i="0" dirty="0">
                <a:solidFill>
                  <a:srgbClr val="202124"/>
                </a:solidFill>
                <a:effectLst/>
                <a:latin typeface="Roboto" panose="02000000000000000000" pitchFamily="2" charset="0"/>
              </a:rPr>
              <a:t>discriminator does not actually classify instances. For each instance it outputs a number. This number does not have to be less than one or greater than 0. </a:t>
            </a:r>
          </a:p>
          <a:p>
            <a:endParaRPr lang="en-US" b="0" i="0" dirty="0">
              <a:solidFill>
                <a:srgbClr val="202124"/>
              </a:solidFill>
              <a:effectLst/>
              <a:latin typeface="Roboto" panose="02000000000000000000" pitchFamily="2" charset="0"/>
            </a:endParaRPr>
          </a:p>
          <a:p>
            <a:r>
              <a:rPr lang="en-US" b="0" i="0" dirty="0">
                <a:solidFill>
                  <a:srgbClr val="202124"/>
                </a:solidFill>
                <a:effectLst/>
                <a:latin typeface="Roboto" panose="02000000000000000000" pitchFamily="2" charset="0"/>
              </a:rPr>
              <a:t>Discriminator training just tries to make the output bigger for real instances than for fake instances.</a:t>
            </a:r>
          </a:p>
          <a:p>
            <a:endParaRPr lang="en-US" b="0" i="0" dirty="0">
              <a:solidFill>
                <a:srgbClr val="202124"/>
              </a:solidFill>
              <a:effectLst/>
              <a:latin typeface="Roboto" panose="02000000000000000000" pitchFamily="2" charset="0"/>
            </a:endParaRPr>
          </a:p>
          <a:p>
            <a:r>
              <a:rPr lang="en-US" b="0" i="0" dirty="0">
                <a:solidFill>
                  <a:srgbClr val="202124"/>
                </a:solidFill>
                <a:effectLst/>
                <a:latin typeface="Roboto" panose="02000000000000000000" pitchFamily="2" charset="0"/>
              </a:rPr>
              <a:t>Critic loss: The </a:t>
            </a:r>
            <a:r>
              <a:rPr lang="en-US" b="1" i="0" dirty="0">
                <a:solidFill>
                  <a:srgbClr val="202124"/>
                </a:solidFill>
                <a:effectLst/>
                <a:latin typeface="Roboto" panose="02000000000000000000" pitchFamily="2" charset="0"/>
              </a:rPr>
              <a:t>discriminator tries to maximize</a:t>
            </a:r>
            <a:r>
              <a:rPr lang="en-US" b="0" i="0" dirty="0">
                <a:solidFill>
                  <a:srgbClr val="202124"/>
                </a:solidFill>
                <a:effectLst/>
                <a:latin typeface="Roboto" panose="02000000000000000000" pitchFamily="2" charset="0"/>
              </a:rPr>
              <a:t> this function. In other words, it tries to </a:t>
            </a:r>
            <a:r>
              <a:rPr lang="en-US" b="1" i="0" dirty="0">
                <a:solidFill>
                  <a:srgbClr val="202124"/>
                </a:solidFill>
                <a:effectLst/>
                <a:latin typeface="Roboto" panose="02000000000000000000" pitchFamily="2" charset="0"/>
              </a:rPr>
              <a:t>maximize the difference between its output on real instances and its output on fake instances</a:t>
            </a:r>
            <a:r>
              <a:rPr lang="en-US" b="0" i="0" dirty="0">
                <a:solidFill>
                  <a:srgbClr val="202124"/>
                </a:solidFill>
                <a:effectLst/>
                <a:latin typeface="Roboto" panose="02000000000000000000" pitchFamily="2" charset="0"/>
              </a:rPr>
              <a:t>.</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17</a:t>
            </a:fld>
            <a:endParaRPr lang="en-US"/>
          </a:p>
        </p:txBody>
      </p:sp>
    </p:spTree>
    <p:extLst>
      <p:ext uri="{BB962C8B-B14F-4D97-AF65-F5344CB8AC3E}">
        <p14:creationId xmlns:p14="http://schemas.microsoft.com/office/powerpoint/2010/main" val="3063138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These opposite goals and the implied notion of adversarial training of the two networks explains the name of “adversarial networks”: both networks try to beat each other and, doing so, they are both becoming better and better. The competition between them makes these two networks “progress” with respect to their respective goals. From a game theory point of view, we can think of this setting as a minimax two-players game where the equilibrium state corresponds to the situation where the generator produces data from the exact targeted distribution and where the discriminator predicts “true” or “generated” with probability 1/2 for any point it receives.</a:t>
            </a:r>
          </a:p>
          <a:p>
            <a:br>
              <a:rPr lang="en-US" dirty="0">
                <a:effectLst/>
              </a:rPr>
            </a:b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18</a:t>
            </a:fld>
            <a:endParaRPr lang="en-US"/>
          </a:p>
        </p:txBody>
      </p:sp>
    </p:spTree>
    <p:extLst>
      <p:ext uri="{BB962C8B-B14F-4D97-AF65-F5344CB8AC3E}">
        <p14:creationId xmlns:p14="http://schemas.microsoft.com/office/powerpoint/2010/main" val="2603116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At this point, it seems legit to wonder whether this indirect method is really a good idea. Indeed, it seems to be more complicated (we have to </a:t>
            </a:r>
            <a:r>
              <a:rPr lang="en-US" b="0" i="0" dirty="0" err="1">
                <a:solidFill>
                  <a:srgbClr val="242424"/>
                </a:solidFill>
                <a:effectLst/>
                <a:latin typeface="source-serif-pro"/>
              </a:rPr>
              <a:t>optimise</a:t>
            </a:r>
            <a:r>
              <a:rPr lang="en-US" b="0" i="0" dirty="0">
                <a:solidFill>
                  <a:srgbClr val="242424"/>
                </a:solidFill>
                <a:effectLst/>
                <a:latin typeface="source-serif-pro"/>
              </a:rPr>
              <a:t> the generator based on a downstream task instead of directly based on the distributions) and it requires a discriminator that we consider here as a given oracle but that is, in reality, neither known nor perfect. For the first point, the difficulty of directly comparing two probability distributions based on samples counterbalances the apparent higher complexity of indirect method. For the second point, it is obvious that the discriminator is not known. However, it can be learned!</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40</a:t>
            </a:fld>
            <a:endParaRPr lang="en-US"/>
          </a:p>
        </p:txBody>
      </p:sp>
    </p:spTree>
    <p:extLst>
      <p:ext uri="{BB962C8B-B14F-4D97-AF65-F5344CB8AC3E}">
        <p14:creationId xmlns:p14="http://schemas.microsoft.com/office/powerpoint/2010/main" val="147354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GANs are similar to standard GANs except they allow the model to conditionally generate samples based on additional information. For example, if we want to generate a cat face given a dog picture, we could use a conditional GAN.</a:t>
            </a:r>
          </a:p>
        </p:txBody>
      </p:sp>
      <p:sp>
        <p:nvSpPr>
          <p:cNvPr id="4" name="Slide Number Placeholder 3"/>
          <p:cNvSpPr>
            <a:spLocks noGrp="1"/>
          </p:cNvSpPr>
          <p:nvPr>
            <p:ph type="sldNum" sz="quarter" idx="5"/>
          </p:nvPr>
        </p:nvSpPr>
        <p:spPr/>
        <p:txBody>
          <a:bodyPr/>
          <a:lstStyle/>
          <a:p>
            <a:fld id="{44D2D93D-2F77-454C-98DD-E88D90513F99}" type="slidenum">
              <a:rPr lang="en-US" smtClean="0"/>
              <a:t>19</a:t>
            </a:fld>
            <a:endParaRPr lang="en-US"/>
          </a:p>
        </p:txBody>
      </p:sp>
    </p:spTree>
    <p:extLst>
      <p:ext uri="{BB962C8B-B14F-4D97-AF65-F5344CB8AC3E}">
        <p14:creationId xmlns:p14="http://schemas.microsoft.com/office/powerpoint/2010/main" val="4047305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20</a:t>
            </a:fld>
            <a:endParaRPr lang="en-US"/>
          </a:p>
        </p:txBody>
      </p:sp>
    </p:spTree>
    <p:extLst>
      <p:ext uri="{BB962C8B-B14F-4D97-AF65-F5344CB8AC3E}">
        <p14:creationId xmlns:p14="http://schemas.microsoft.com/office/powerpoint/2010/main" val="615449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21</a:t>
            </a:fld>
            <a:endParaRPr lang="en-US"/>
          </a:p>
        </p:txBody>
      </p:sp>
    </p:spTree>
    <p:extLst>
      <p:ext uri="{BB962C8B-B14F-4D97-AF65-F5344CB8AC3E}">
        <p14:creationId xmlns:p14="http://schemas.microsoft.com/office/powerpoint/2010/main" val="2628530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cs typeface="Calibri"/>
            </a:endParaRPr>
          </a:p>
        </p:txBody>
      </p:sp>
      <p:sp>
        <p:nvSpPr>
          <p:cNvPr id="4" name="Slide Number Placeholder 3"/>
          <p:cNvSpPr>
            <a:spLocks noGrp="1"/>
          </p:cNvSpPr>
          <p:nvPr>
            <p:ph type="sldNum" sz="quarter" idx="5"/>
          </p:nvPr>
        </p:nvSpPr>
        <p:spPr/>
        <p:txBody>
          <a:bodyPr/>
          <a:lstStyle/>
          <a:p>
            <a:fld id="{44D2D93D-2F77-454C-98DD-E88D90513F99}" type="slidenum">
              <a:rPr lang="en-US" smtClean="0"/>
              <a:t>25</a:t>
            </a:fld>
            <a:endParaRPr lang="en-US"/>
          </a:p>
        </p:txBody>
      </p:sp>
    </p:spTree>
    <p:extLst>
      <p:ext uri="{BB962C8B-B14F-4D97-AF65-F5344CB8AC3E}">
        <p14:creationId xmlns:p14="http://schemas.microsoft.com/office/powerpoint/2010/main" val="18150276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solidFill>
                  <a:srgbClr val="000000"/>
                </a:solidFill>
              </a:rPr>
              <a:t>There are two probability spaces , corresponding to the two domains needed for translations fore-and-back.</a:t>
            </a:r>
            <a:endParaRPr lang="en-US">
              <a:solidFill>
                <a:srgbClr val="000000"/>
              </a:solidFill>
            </a:endParaRPr>
          </a:p>
          <a:p>
            <a:endParaRPr lang="en-IN" dirty="0">
              <a:solidFill>
                <a:srgbClr val="000000"/>
              </a:solidFill>
            </a:endParaRPr>
          </a:p>
          <a:p>
            <a:r>
              <a:rPr lang="en-IN">
                <a:solidFill>
                  <a:srgbClr val="000000"/>
                </a:solidFill>
              </a:rPr>
              <a:t>There are 4 players in 2 teams:</a:t>
            </a:r>
            <a:endParaRPr lang="en-US">
              <a:solidFill>
                <a:srgbClr val="000000"/>
              </a:solidFill>
            </a:endParaRPr>
          </a:p>
          <a:p>
            <a:r>
              <a:rPr lang="en-IN">
                <a:solidFill>
                  <a:srgbClr val="000000"/>
                </a:solidFill>
              </a:rPr>
              <a:t>where lambda is a positive adjustable parameter, </a:t>
            </a:r>
            <a:r>
              <a:rPr lang="en-IN" err="1">
                <a:solidFill>
                  <a:srgbClr val="000000"/>
                </a:solidFill>
              </a:rPr>
              <a:t>LGan</a:t>
            </a:r>
            <a:r>
              <a:rPr lang="en-IN">
                <a:solidFill>
                  <a:srgbClr val="000000"/>
                </a:solidFill>
              </a:rPr>
              <a:t> is the GAN game objective, and </a:t>
            </a:r>
            <a:r>
              <a:rPr lang="en-IN" err="1">
                <a:solidFill>
                  <a:srgbClr val="000000"/>
                </a:solidFill>
              </a:rPr>
              <a:t>Lcycle</a:t>
            </a:r>
            <a:r>
              <a:rPr lang="en-IN">
                <a:solidFill>
                  <a:srgbClr val="000000"/>
                </a:solidFill>
              </a:rPr>
              <a:t> is the </a:t>
            </a:r>
            <a:r>
              <a:rPr lang="en-IN" i="1">
                <a:solidFill>
                  <a:srgbClr val="000000"/>
                </a:solidFill>
              </a:rPr>
              <a:t>cycle consistency loss</a:t>
            </a:r>
            <a:r>
              <a:rPr lang="en-IN">
                <a:solidFill>
                  <a:srgbClr val="000000"/>
                </a:solidFill>
              </a:rPr>
              <a:t>:</a:t>
            </a:r>
            <a:endParaRPr lang="en-IN" dirty="0">
              <a:solidFill>
                <a:srgbClr val="000000"/>
              </a:solidFill>
            </a:endParaRPr>
          </a:p>
          <a:p>
            <a:endParaRPr lang="en-IN" dirty="0">
              <a:solidFill>
                <a:srgbClr val="000000"/>
              </a:solidFill>
            </a:endParaRPr>
          </a:p>
          <a:p>
            <a:endParaRPr lang="en-US" dirty="0">
              <a:solidFill>
                <a:srgbClr val="000000"/>
              </a:solidFill>
              <a:cs typeface="Calibri"/>
            </a:endParaRPr>
          </a:p>
          <a:p>
            <a:r>
              <a:rPr lang="en-US" dirty="0">
                <a:solidFill>
                  <a:srgbClr val="000000"/>
                </a:solidFill>
              </a:rPr>
              <a:t>Cycle </a:t>
            </a:r>
            <a:r>
              <a:rPr lang="en-US" dirty="0" err="1">
                <a:solidFill>
                  <a:srgbClr val="000000"/>
                </a:solidFill>
              </a:rPr>
              <a:t>consitency</a:t>
            </a:r>
            <a:r>
              <a:rPr lang="en-US" dirty="0">
                <a:solidFill>
                  <a:srgbClr val="000000"/>
                </a:solidFill>
              </a:rPr>
              <a:t> loss :</a:t>
            </a:r>
            <a:endParaRPr lang="en-US"/>
          </a:p>
          <a:p>
            <a:r>
              <a:rPr lang="en-US" dirty="0">
                <a:solidFill>
                  <a:srgbClr val="000000"/>
                </a:solidFill>
              </a:rPr>
              <a:t>This kind of loss uses the intuition that if we translate a sample from Domain </a:t>
            </a:r>
            <a:r>
              <a:rPr lang="en-US" b="1" dirty="0">
                <a:solidFill>
                  <a:srgbClr val="000000"/>
                </a:solidFill>
              </a:rPr>
              <a:t>X</a:t>
            </a:r>
            <a:r>
              <a:rPr lang="en-US" dirty="0">
                <a:solidFill>
                  <a:srgbClr val="000000"/>
                </a:solidFill>
              </a:rPr>
              <a:t> to </a:t>
            </a:r>
            <a:r>
              <a:rPr lang="en-US" b="1" dirty="0">
                <a:solidFill>
                  <a:srgbClr val="000000"/>
                </a:solidFill>
              </a:rPr>
              <a:t>Y </a:t>
            </a:r>
            <a:r>
              <a:rPr lang="en-US" dirty="0">
                <a:solidFill>
                  <a:srgbClr val="000000"/>
                </a:solidFill>
              </a:rPr>
              <a:t>using mapping function </a:t>
            </a:r>
            <a:r>
              <a:rPr lang="en-US" b="1" dirty="0">
                <a:solidFill>
                  <a:srgbClr val="000000"/>
                </a:solidFill>
              </a:rPr>
              <a:t>G</a:t>
            </a:r>
            <a:r>
              <a:rPr lang="en-US" dirty="0">
                <a:solidFill>
                  <a:srgbClr val="000000"/>
                </a:solidFill>
              </a:rPr>
              <a:t> and then map it back to </a:t>
            </a:r>
            <a:r>
              <a:rPr lang="en-US" b="1" dirty="0">
                <a:solidFill>
                  <a:srgbClr val="000000"/>
                </a:solidFill>
              </a:rPr>
              <a:t>X</a:t>
            </a:r>
            <a:r>
              <a:rPr lang="en-US" dirty="0">
                <a:solidFill>
                  <a:srgbClr val="000000"/>
                </a:solidFill>
              </a:rPr>
              <a:t> using function </a:t>
            </a:r>
            <a:r>
              <a:rPr lang="en-US" b="1" dirty="0">
                <a:solidFill>
                  <a:srgbClr val="000000"/>
                </a:solidFill>
              </a:rPr>
              <a:t>F, </a:t>
            </a:r>
            <a:r>
              <a:rPr lang="en-US" dirty="0">
                <a:solidFill>
                  <a:srgbClr val="000000"/>
                </a:solidFill>
              </a:rPr>
              <a:t>how close are we from arriving at the original sample. Similarly, it calculates the loss incurred by translating a sample from Y to X and then back again to Y. This cyclic loss should be </a:t>
            </a:r>
            <a:r>
              <a:rPr lang="en-US" b="1" dirty="0" err="1">
                <a:solidFill>
                  <a:srgbClr val="000000"/>
                </a:solidFill>
              </a:rPr>
              <a:t>minimised</a:t>
            </a:r>
            <a:r>
              <a:rPr lang="en-US" dirty="0">
                <a:solidFill>
                  <a:srgbClr val="000000"/>
                </a:solidFill>
              </a:rPr>
              <a:t>.</a:t>
            </a:r>
            <a:endParaRPr lang="en-US">
              <a:cs typeface="Calibri"/>
            </a:endParaRPr>
          </a:p>
          <a:p>
            <a:endParaRPr lang="en-US" dirty="0">
              <a:solidFill>
                <a:srgbClr val="000000"/>
              </a:solidFill>
              <a:latin typeface="Calibri"/>
              <a:cs typeface="Calibri"/>
            </a:endParaRPr>
          </a:p>
          <a:p>
            <a:r>
              <a:rPr lang="en-US" b="1" dirty="0">
                <a:solidFill>
                  <a:srgbClr val="000000"/>
                </a:solidFill>
              </a:rPr>
              <a:t>Role of G: </a:t>
            </a:r>
            <a:r>
              <a:rPr lang="en-US" dirty="0">
                <a:solidFill>
                  <a:srgbClr val="000000"/>
                </a:solidFill>
              </a:rPr>
              <a:t>G is trying to </a:t>
            </a:r>
            <a:r>
              <a:rPr lang="en-US" b="1" dirty="0">
                <a:solidFill>
                  <a:srgbClr val="000000"/>
                </a:solidFill>
              </a:rPr>
              <a:t>translate </a:t>
            </a:r>
            <a:r>
              <a:rPr lang="en-US" dirty="0">
                <a:solidFill>
                  <a:srgbClr val="000000"/>
                </a:solidFill>
              </a:rPr>
              <a:t>X into outputs, which are fed through Dy to check whether they are real or fake according to Domain Y</a:t>
            </a:r>
            <a:endParaRPr lang="en-US" dirty="0"/>
          </a:p>
          <a:p>
            <a:r>
              <a:rPr lang="en-US" b="1" dirty="0">
                <a:solidFill>
                  <a:srgbClr val="000000"/>
                </a:solidFill>
              </a:rPr>
              <a:t>Role of F : </a:t>
            </a:r>
            <a:r>
              <a:rPr lang="en-US" dirty="0">
                <a:solidFill>
                  <a:srgbClr val="000000"/>
                </a:solidFill>
              </a:rPr>
              <a:t>F is trying to </a:t>
            </a:r>
            <a:r>
              <a:rPr lang="en-US" b="1" dirty="0">
                <a:solidFill>
                  <a:srgbClr val="000000"/>
                </a:solidFill>
              </a:rPr>
              <a:t>translate </a:t>
            </a:r>
            <a:r>
              <a:rPr lang="en-US" dirty="0">
                <a:solidFill>
                  <a:srgbClr val="000000"/>
                </a:solidFill>
              </a:rPr>
              <a:t>Y into outputs, which are fed through Dx to check if they are indistinguishable from Domain X</a:t>
            </a:r>
            <a:endParaRPr lang="en-US" dirty="0"/>
          </a:p>
          <a:p>
            <a:endParaRPr lang="en-US" dirty="0">
              <a:solidFill>
                <a:srgbClr val="000000"/>
              </a:solidFill>
              <a:latin typeface="Calibri"/>
              <a:cs typeface="Calibri"/>
            </a:endParaRPr>
          </a:p>
          <a:p>
            <a:endParaRPr lang="en-US" sz="1800" dirty="0">
              <a:solidFill>
                <a:srgbClr val="000000"/>
              </a:solidFill>
              <a:latin typeface="NimbusRomNo9L-Regu"/>
            </a:endParaRPr>
          </a:p>
          <a:p>
            <a:endParaRPr lang="en-US" sz="1800" dirty="0">
              <a:solidFill>
                <a:srgbClr val="000000"/>
              </a:solidFill>
              <a:latin typeface="NimbusRomNo9L-Regu"/>
            </a:endParaRPr>
          </a:p>
          <a:p>
            <a:pPr algn="l"/>
            <a:r>
              <a:rPr lang="en-US" sz="1800" b="0" i="0" u="none" strike="noStrike" baseline="0" dirty="0">
                <a:solidFill>
                  <a:srgbClr val="000000"/>
                </a:solidFill>
                <a:latin typeface="NimbusRomNo9L-Regu"/>
              </a:rPr>
              <a:t>Adversarial training can, in theory, learn mappings </a:t>
            </a:r>
            <a:r>
              <a:rPr lang="en-US" sz="1800" b="0" i="0" u="none" strike="noStrike" baseline="0" dirty="0">
                <a:solidFill>
                  <a:srgbClr val="000000"/>
                </a:solidFill>
                <a:latin typeface="CMMI10"/>
              </a:rPr>
              <a:t>G </a:t>
            </a:r>
            <a:r>
              <a:rPr lang="en-US" sz="1800" b="0" i="0" u="none" strike="noStrike" baseline="0" dirty="0">
                <a:solidFill>
                  <a:srgbClr val="000000"/>
                </a:solidFill>
                <a:latin typeface="NimbusRomNo9L-Regu"/>
              </a:rPr>
              <a:t>and </a:t>
            </a:r>
            <a:r>
              <a:rPr lang="en-US" sz="1800" b="0" i="0" u="none" strike="noStrike" baseline="0" dirty="0">
                <a:solidFill>
                  <a:srgbClr val="000000"/>
                </a:solidFill>
                <a:latin typeface="CMMI10"/>
              </a:rPr>
              <a:t>F </a:t>
            </a:r>
            <a:r>
              <a:rPr lang="en-US" sz="1800" b="0" i="0" u="none" strike="noStrike" baseline="0" dirty="0">
                <a:solidFill>
                  <a:srgbClr val="000000"/>
                </a:solidFill>
                <a:latin typeface="NimbusRomNo9L-Regu"/>
              </a:rPr>
              <a:t>that produce outputs identically distributed as target domains </a:t>
            </a:r>
            <a:r>
              <a:rPr lang="en-US" sz="1800" b="0" i="0" u="none" strike="noStrike" baseline="0" dirty="0">
                <a:solidFill>
                  <a:srgbClr val="000000"/>
                </a:solidFill>
                <a:latin typeface="CMMI10"/>
              </a:rPr>
              <a:t>Y </a:t>
            </a:r>
            <a:r>
              <a:rPr lang="en-US" sz="1800" b="0" i="0" u="none" strike="noStrike" baseline="0" dirty="0">
                <a:solidFill>
                  <a:srgbClr val="000000"/>
                </a:solidFill>
                <a:latin typeface="NimbusRomNo9L-Regu"/>
              </a:rPr>
              <a:t>and </a:t>
            </a:r>
            <a:r>
              <a:rPr lang="en-US" sz="1800" b="0" i="0" u="none" strike="noStrike" baseline="0" dirty="0">
                <a:solidFill>
                  <a:srgbClr val="000000"/>
                </a:solidFill>
                <a:latin typeface="CMMI10"/>
              </a:rPr>
              <a:t>X </a:t>
            </a:r>
            <a:r>
              <a:rPr lang="en-US" sz="1800" b="0" i="0" u="none" strike="noStrike" baseline="0" dirty="0">
                <a:solidFill>
                  <a:srgbClr val="000000"/>
                </a:solidFill>
                <a:latin typeface="NimbusRomNo9L-Regu"/>
              </a:rPr>
              <a:t>respectively (strictly speaking, this requires </a:t>
            </a:r>
            <a:r>
              <a:rPr lang="en-US" sz="1800" b="0" i="0" u="none" strike="noStrike" baseline="0" dirty="0">
                <a:solidFill>
                  <a:srgbClr val="000000"/>
                </a:solidFill>
                <a:latin typeface="CMMI10"/>
              </a:rPr>
              <a:t>G </a:t>
            </a:r>
            <a:r>
              <a:rPr lang="en-US" sz="1800" b="0" i="0" u="none" strike="noStrike" baseline="0" dirty="0">
                <a:solidFill>
                  <a:srgbClr val="000000"/>
                </a:solidFill>
                <a:latin typeface="NimbusRomNo9L-Regu"/>
              </a:rPr>
              <a:t>and </a:t>
            </a:r>
            <a:r>
              <a:rPr lang="en-US" sz="1800" b="0" i="0" u="none" strike="noStrike" baseline="0" dirty="0">
                <a:solidFill>
                  <a:srgbClr val="000000"/>
                </a:solidFill>
                <a:latin typeface="CMMI10"/>
              </a:rPr>
              <a:t>F </a:t>
            </a:r>
            <a:r>
              <a:rPr lang="en-US" sz="1800" b="0" i="0" u="none" strike="noStrike" baseline="0" dirty="0">
                <a:solidFill>
                  <a:srgbClr val="000000"/>
                </a:solidFill>
                <a:latin typeface="NimbusRomNo9L-Regu"/>
              </a:rPr>
              <a:t>to be stochastic functions) [</a:t>
            </a:r>
            <a:r>
              <a:rPr lang="en-US" sz="1800" b="0" i="0" u="none" strike="noStrike" baseline="0" dirty="0">
                <a:solidFill>
                  <a:srgbClr val="00FF00"/>
                </a:solidFill>
                <a:latin typeface="NimbusRomNo9L-Regu"/>
              </a:rPr>
              <a:t>15</a:t>
            </a:r>
            <a:r>
              <a:rPr lang="en-US" sz="1800" b="0" i="0" u="none" strike="noStrike" baseline="0" dirty="0">
                <a:solidFill>
                  <a:srgbClr val="000000"/>
                </a:solidFill>
                <a:latin typeface="NimbusRomNo9L-Regu"/>
              </a:rPr>
              <a:t>]. However, with large enough capacity, a network can map the same set of input images to any random permutation of images in the target domain, where any of the learned mappings can induce an output distribution that matches the target distribution. Thus, adversarial losses alone cannot guarantee that the learned function can map an individual input </a:t>
            </a:r>
            <a:r>
              <a:rPr lang="en-US" sz="1800" b="0" i="0" u="none" strike="noStrike" baseline="0" dirty="0">
                <a:solidFill>
                  <a:srgbClr val="000000"/>
                </a:solidFill>
                <a:latin typeface="CMMI10"/>
              </a:rPr>
              <a:t>x</a:t>
            </a:r>
            <a:r>
              <a:rPr lang="en-US" sz="1800" b="0" i="0" u="none" strike="noStrike" baseline="0" dirty="0">
                <a:solidFill>
                  <a:srgbClr val="000000"/>
                </a:solidFill>
                <a:latin typeface="CMMI7"/>
              </a:rPr>
              <a:t>i </a:t>
            </a:r>
            <a:r>
              <a:rPr lang="en-US" sz="1800" b="0" i="0" u="none" strike="noStrike" baseline="0" dirty="0">
                <a:solidFill>
                  <a:srgbClr val="000000"/>
                </a:solidFill>
                <a:latin typeface="NimbusRomNo9L-Regu"/>
              </a:rPr>
              <a:t>to a desired output </a:t>
            </a:r>
            <a:r>
              <a:rPr lang="en-US" sz="1800" b="0" i="0" u="none" strike="noStrike" baseline="0" dirty="0">
                <a:solidFill>
                  <a:srgbClr val="000000"/>
                </a:solidFill>
                <a:latin typeface="CMMI10"/>
              </a:rPr>
              <a:t>y </a:t>
            </a:r>
            <a:r>
              <a:rPr lang="en-US" sz="1800" b="0" i="0" u="none" strike="noStrike" baseline="0" dirty="0">
                <a:latin typeface="NimbusRomNo9L-Regu"/>
              </a:rPr>
              <a:t>functions should be </a:t>
            </a:r>
            <a:r>
              <a:rPr lang="en-US" sz="1800" b="0" i="0" u="none" strike="noStrike" baseline="0" dirty="0" err="1">
                <a:latin typeface="NimbusRomNo9L-Regu"/>
              </a:rPr>
              <a:t>cycle-consistent:</a:t>
            </a:r>
            <a:r>
              <a:rPr lang="en-US" sz="1800" b="0" i="0" u="none" strike="noStrike" baseline="0" dirty="0" err="1">
                <a:solidFill>
                  <a:srgbClr val="000000"/>
                </a:solidFill>
                <a:latin typeface="CMMI7"/>
              </a:rPr>
              <a:t>i</a:t>
            </a:r>
            <a:r>
              <a:rPr lang="en-US" sz="1800" b="0" i="0" u="none" strike="noStrike" baseline="0" dirty="0">
                <a:solidFill>
                  <a:srgbClr val="000000"/>
                </a:solidFill>
                <a:latin typeface="NimbusRomNo9L-Regu"/>
              </a:rPr>
              <a:t>. To further reduce the space of possible mapping functions, we argue that the learned mapping </a:t>
            </a:r>
            <a:r>
              <a:rPr lang="en-US" sz="1800" b="0" i="0" u="none" strike="noStrike" baseline="0" dirty="0">
                <a:latin typeface="NimbusRomNo9L-Regu"/>
              </a:rPr>
              <a:t>functions should be cycle-consistent:</a:t>
            </a:r>
            <a:endParaRPr lang="en-US">
              <a:cs typeface="Calibri"/>
            </a:endParaRPr>
          </a:p>
        </p:txBody>
      </p:sp>
      <p:sp>
        <p:nvSpPr>
          <p:cNvPr id="4" name="Slide Number Placeholder 3"/>
          <p:cNvSpPr>
            <a:spLocks noGrp="1"/>
          </p:cNvSpPr>
          <p:nvPr>
            <p:ph type="sldNum" sz="quarter" idx="5"/>
          </p:nvPr>
        </p:nvSpPr>
        <p:spPr/>
        <p:txBody>
          <a:bodyPr/>
          <a:lstStyle/>
          <a:p>
            <a:fld id="{44D2D93D-2F77-454C-98DD-E88D90513F99}" type="slidenum">
              <a:rPr lang="en-US" smtClean="0"/>
              <a:t>27</a:t>
            </a:fld>
            <a:endParaRPr lang="en-US"/>
          </a:p>
        </p:txBody>
      </p:sp>
    </p:spTree>
    <p:extLst>
      <p:ext uri="{BB962C8B-B14F-4D97-AF65-F5344CB8AC3E}">
        <p14:creationId xmlns:p14="http://schemas.microsoft.com/office/powerpoint/2010/main" val="709922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4143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77b58aaadb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77b58aaadb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8175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77b58aaadb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77b58aaadb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31224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Computers are fundamentally deterministic. So, it is, in theory, impossible to generate numbers that are really random (even if we could say that the question “what really is randomness ?” is a difficult one). However, it is possible to define algorithms that generate sequences of numbers whose properties are very close to the properties of theoretical random numbers sequences. In particular, a computer is able, using a pseudorandom number generator, to generate a sequence of numbers that approximatively follows a uniform random distribution between 0 and 1. The uniform case is a very simple one upon which more complex random variables can be built in different ways.</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33</a:t>
            </a:fld>
            <a:endParaRPr lang="en-US"/>
          </a:p>
        </p:txBody>
      </p:sp>
    </p:spTree>
    <p:extLst>
      <p:ext uri="{BB962C8B-B14F-4D97-AF65-F5344CB8AC3E}">
        <p14:creationId xmlns:p14="http://schemas.microsoft.com/office/powerpoint/2010/main" val="9259758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Suppose that we are interested in generating black and white square images of dogs with a size of n by n pixels. We can reshape each data as a N=</a:t>
            </a:r>
            <a:r>
              <a:rPr lang="en-US" b="0" i="0" dirty="0" err="1">
                <a:solidFill>
                  <a:srgbClr val="242424"/>
                </a:solidFill>
                <a:effectLst/>
                <a:latin typeface="source-serif-pro"/>
              </a:rPr>
              <a:t>nxn</a:t>
            </a:r>
            <a:r>
              <a:rPr lang="en-US" b="0" i="0" dirty="0">
                <a:solidFill>
                  <a:srgbClr val="242424"/>
                </a:solidFill>
                <a:effectLst/>
                <a:latin typeface="source-serif-pro"/>
              </a:rPr>
              <a:t> dimensional vector (by stacking columns on top of each others) such that an image of dog can then be represented by a vector. However, it doesn’t mean that all vectors represent a dog once shaped back to a square! So, we can say that the N dimensional vectors that effectively give something that look like a dog are distributed according to a very specific probability distribution over the entire N dimensional vector space (some points of that space are very likely to represent dogs whereas it is highly unlikely for some others). In the same spirit, there exists, over this N dimensional vector space, probability distributions for images of cats, birds and so on.</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37</a:t>
            </a:fld>
            <a:endParaRPr lang="en-US"/>
          </a:p>
        </p:txBody>
      </p:sp>
    </p:spTree>
    <p:extLst>
      <p:ext uri="{BB962C8B-B14F-4D97-AF65-F5344CB8AC3E}">
        <p14:creationId xmlns:p14="http://schemas.microsoft.com/office/powerpoint/2010/main" val="3045848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Now, we still need to train (</a:t>
            </a:r>
            <a:r>
              <a:rPr lang="en-US" b="0" i="0" dirty="0" err="1">
                <a:solidFill>
                  <a:srgbClr val="242424"/>
                </a:solidFill>
                <a:effectLst/>
                <a:latin typeface="source-serif-pro"/>
              </a:rPr>
              <a:t>optimise</a:t>
            </a:r>
            <a:r>
              <a:rPr lang="en-US" b="0" i="0" dirty="0">
                <a:solidFill>
                  <a:srgbClr val="242424"/>
                </a:solidFill>
                <a:effectLst/>
                <a:latin typeface="source-serif-pro"/>
              </a:rPr>
              <a:t>) the network to express the right transform function. To this purpose, we can suggest two different training methods: a direct one and an indirect one.</a:t>
            </a:r>
          </a:p>
          <a:p>
            <a:endParaRPr lang="en-US" b="0" i="0" dirty="0">
              <a:solidFill>
                <a:srgbClr val="242424"/>
              </a:solidFill>
              <a:effectLst/>
              <a:latin typeface="source-serif-pro"/>
            </a:endParaRPr>
          </a:p>
          <a:p>
            <a:r>
              <a:rPr lang="en-US" b="0" i="0" dirty="0">
                <a:solidFill>
                  <a:srgbClr val="242424"/>
                </a:solidFill>
                <a:effectLst/>
                <a:latin typeface="source-serif-pro"/>
              </a:rPr>
              <a:t>The direct training method consists in comparing the true and the generated probability distributions and backpropagating the difference (the error) through the network. This is the idea that rules Generative Matching Networks (GMNs).</a:t>
            </a:r>
          </a:p>
          <a:p>
            <a:endParaRPr lang="en-US" b="0" i="0" dirty="0">
              <a:solidFill>
                <a:srgbClr val="242424"/>
              </a:solidFill>
              <a:effectLst/>
              <a:latin typeface="source-serif-pro"/>
            </a:endParaRPr>
          </a:p>
          <a:p>
            <a:r>
              <a:rPr lang="en-US" b="0" i="0" dirty="0">
                <a:solidFill>
                  <a:srgbClr val="242424"/>
                </a:solidFill>
                <a:effectLst/>
                <a:latin typeface="source-serif-pro"/>
              </a:rPr>
              <a:t> For the indirect training method, we do not directly compare the true and generated distributions. Instead, we train the generative network by making these two distributions go through a downstream task chosen such that the </a:t>
            </a:r>
            <a:r>
              <a:rPr lang="en-US" b="0" i="0" dirty="0" err="1">
                <a:solidFill>
                  <a:srgbClr val="242424"/>
                </a:solidFill>
                <a:effectLst/>
                <a:latin typeface="source-serif-pro"/>
              </a:rPr>
              <a:t>optimisation</a:t>
            </a:r>
            <a:r>
              <a:rPr lang="en-US" b="0" i="0" dirty="0">
                <a:solidFill>
                  <a:srgbClr val="242424"/>
                </a:solidFill>
                <a:effectLst/>
                <a:latin typeface="source-serif-pro"/>
              </a:rPr>
              <a:t> process of the generative network with respect to the downstream task will enforce the generated distribution to be close to the true distribution. </a:t>
            </a:r>
          </a:p>
          <a:p>
            <a:endParaRPr lang="en-US" b="0" i="0" dirty="0">
              <a:solidFill>
                <a:srgbClr val="242424"/>
              </a:solidFill>
              <a:effectLst/>
              <a:latin typeface="source-serif-pro"/>
            </a:endParaRPr>
          </a:p>
          <a:p>
            <a:endParaRPr lang="en-US" b="0" i="0" dirty="0">
              <a:solidFill>
                <a:srgbClr val="242424"/>
              </a:solidFill>
              <a:effectLst/>
              <a:latin typeface="source-serif-pro"/>
            </a:endParaRPr>
          </a:p>
          <a:p>
            <a:r>
              <a:rPr lang="en-US" b="0" i="0" dirty="0">
                <a:solidFill>
                  <a:srgbClr val="242424"/>
                </a:solidFill>
                <a:effectLst/>
                <a:latin typeface="source-serif-pro"/>
              </a:rPr>
              <a:t>This last idea is the one behind Generative Adversarial Networks (GANs) that we will present in the next section. But for now, let’s start with the direct method and GMNs.</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38</a:t>
            </a:fld>
            <a:endParaRPr lang="en-US"/>
          </a:p>
        </p:txBody>
      </p:sp>
    </p:spTree>
    <p:extLst>
      <p:ext uri="{BB962C8B-B14F-4D97-AF65-F5344CB8AC3E}">
        <p14:creationId xmlns:p14="http://schemas.microsoft.com/office/powerpoint/2010/main" val="31134348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42</a:t>
            </a:fld>
            <a:endParaRPr lang="en-US"/>
          </a:p>
        </p:txBody>
      </p:sp>
    </p:spTree>
    <p:extLst>
      <p:ext uri="{BB962C8B-B14F-4D97-AF65-F5344CB8AC3E}">
        <p14:creationId xmlns:p14="http://schemas.microsoft.com/office/powerpoint/2010/main" val="40802826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51515"/>
                </a:solidFill>
                <a:effectLst/>
                <a:latin typeface="Avenir Next W01"/>
              </a:rPr>
              <a:t>It works by classifying a patch of (n*n) in a image into real and fake rather than classifying whole image into real and fake. This forces more constraints and encourages sharp high frequency details. This works faster than </a:t>
            </a:r>
            <a:r>
              <a:rPr lang="en-US" b="0" i="0" dirty="0" err="1">
                <a:solidFill>
                  <a:srgbClr val="151515"/>
                </a:solidFill>
                <a:effectLst/>
                <a:latin typeface="Avenir Next W01"/>
              </a:rPr>
              <a:t>classifing</a:t>
            </a:r>
            <a:r>
              <a:rPr lang="en-US" b="0" i="0" dirty="0">
                <a:solidFill>
                  <a:srgbClr val="151515"/>
                </a:solidFill>
                <a:effectLst/>
                <a:latin typeface="Avenir Next W01"/>
              </a:rPr>
              <a:t> whole image and has less parameters. The discriminator accepts two image pairs as input, input image, target image and input image, generated image. we concatenate this two input pairs.</a:t>
            </a:r>
          </a:p>
          <a:p>
            <a:endParaRPr lang="en-US" b="0" i="0" dirty="0">
              <a:solidFill>
                <a:srgbClr val="151515"/>
              </a:solidFill>
              <a:effectLst/>
              <a:latin typeface="Avenir Next W01"/>
            </a:endParaRPr>
          </a:p>
          <a:p>
            <a:r>
              <a:rPr lang="en-US" b="0" i="0" dirty="0">
                <a:solidFill>
                  <a:srgbClr val="151515"/>
                </a:solidFill>
                <a:effectLst/>
                <a:latin typeface="Avenir Next W01"/>
              </a:rPr>
              <a:t>The discriminator loss consists of two losses, one is a sigmoid cross-entropy loss between real image and array of ones and another is between generated image and array of zeros. The total discriminator loss is sum of these two losses.</a:t>
            </a:r>
            <a:endParaRPr lang="en-US" dirty="0"/>
          </a:p>
        </p:txBody>
      </p:sp>
      <p:sp>
        <p:nvSpPr>
          <p:cNvPr id="4" name="Slide Number Placeholder 3"/>
          <p:cNvSpPr>
            <a:spLocks noGrp="1"/>
          </p:cNvSpPr>
          <p:nvPr>
            <p:ph type="sldNum" sz="quarter" idx="5"/>
          </p:nvPr>
        </p:nvSpPr>
        <p:spPr/>
        <p:txBody>
          <a:bodyPr/>
          <a:lstStyle/>
          <a:p>
            <a:fld id="{44D2D93D-2F77-454C-98DD-E88D90513F99}" type="slidenum">
              <a:rPr lang="en-US" smtClean="0"/>
              <a:t>43</a:t>
            </a:fld>
            <a:endParaRPr lang="en-US"/>
          </a:p>
        </p:txBody>
      </p:sp>
    </p:spTree>
    <p:extLst>
      <p:ext uri="{BB962C8B-B14F-4D97-AF65-F5344CB8AC3E}">
        <p14:creationId xmlns:p14="http://schemas.microsoft.com/office/powerpoint/2010/main" val="3305985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4D83-C336-0EF1-63B1-6EA476059D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AB1061-BC66-09BE-CB6B-140783F412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C3F32E-DACD-381D-FD7B-6D2F960F4BBA}"/>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5" name="Footer Placeholder 4">
            <a:extLst>
              <a:ext uri="{FF2B5EF4-FFF2-40B4-BE49-F238E27FC236}">
                <a16:creationId xmlns:a16="http://schemas.microsoft.com/office/drawing/2014/main" id="{DF77FC19-FF9D-AF23-5443-CB8F4FD195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B2B36A-35A6-0C55-D540-12B392057CC0}"/>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2230283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C6567-786D-5848-ACA5-AA2F7A7CBE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A7DC83-5DF8-024C-0DFE-51C7D4F558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C2FB7-04F0-89E6-B66B-46AFE92F1BC1}"/>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5" name="Footer Placeholder 4">
            <a:extLst>
              <a:ext uri="{FF2B5EF4-FFF2-40B4-BE49-F238E27FC236}">
                <a16:creationId xmlns:a16="http://schemas.microsoft.com/office/drawing/2014/main" id="{5199D668-C008-4A34-C39D-02EED7BFC5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F96AA7-292F-5990-AFAD-1BD6A0F10AE0}"/>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3765711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27A28-CC99-9A7C-D7D9-777CB35E03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D00D74-F26B-10A8-BD7A-6C2636E997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F24F8E-4A2B-50F2-4CE5-99BBE604BBB7}"/>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5" name="Footer Placeholder 4">
            <a:extLst>
              <a:ext uri="{FF2B5EF4-FFF2-40B4-BE49-F238E27FC236}">
                <a16:creationId xmlns:a16="http://schemas.microsoft.com/office/drawing/2014/main" id="{A1696536-B244-310F-3648-C66F75F2A6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F6DB5-4E90-57CC-EB09-C43B83B7963A}"/>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1447967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1E713-E968-AFD9-9878-5039DAF4C2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E76553-DF21-1D34-F834-A3A4E7D6A9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75D3F6-D704-73A4-622A-AB568ECE28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892642-6F3B-1DFE-D4FC-A890EB62EB3D}"/>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6" name="Footer Placeholder 5">
            <a:extLst>
              <a:ext uri="{FF2B5EF4-FFF2-40B4-BE49-F238E27FC236}">
                <a16:creationId xmlns:a16="http://schemas.microsoft.com/office/drawing/2014/main" id="{43423A29-2A01-D4D3-CBA8-9CB876638C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F4AEA1-2754-A23C-DFD9-E2C465101E90}"/>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1652715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4533-6EEE-7430-8831-F121C0C28C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7A0279-17F4-8264-1AE3-BD9D4BAB06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CA08ED-A952-5886-B973-E6F7291775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1ABE4C-D050-613D-0B37-2D9D435206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2D8027-A0C5-42BF-8811-DA906424C0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FD84A2-7338-E201-EAE0-4FDCA2FABD2A}"/>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8" name="Footer Placeholder 7">
            <a:extLst>
              <a:ext uri="{FF2B5EF4-FFF2-40B4-BE49-F238E27FC236}">
                <a16:creationId xmlns:a16="http://schemas.microsoft.com/office/drawing/2014/main" id="{2742BAA0-1529-74AE-4FEE-D4B321BBFA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389CFD-ECE2-17D7-B4F9-C9EAAF28681E}"/>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3025711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DCBF9-6A0C-013B-729D-B9CB4389A3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F1B937-4A1A-6C32-4759-709F12EDECD7}"/>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4" name="Footer Placeholder 3">
            <a:extLst>
              <a:ext uri="{FF2B5EF4-FFF2-40B4-BE49-F238E27FC236}">
                <a16:creationId xmlns:a16="http://schemas.microsoft.com/office/drawing/2014/main" id="{52FE8D48-55FC-B4F2-96E1-04B0D6B24C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F0968D-0380-67DB-BECE-BA19A1ACC412}"/>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2579627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FE7509-61F5-C22D-E76F-5F6BCEE2CEFD}"/>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3" name="Footer Placeholder 2">
            <a:extLst>
              <a:ext uri="{FF2B5EF4-FFF2-40B4-BE49-F238E27FC236}">
                <a16:creationId xmlns:a16="http://schemas.microsoft.com/office/drawing/2014/main" id="{94A93524-C9C2-C1BC-D8E4-A6D1FDB27C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3C0642-BFD4-ACF5-5F2F-E647EB37C51F}"/>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2679628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5603E-673C-6D2B-F57B-81A98C684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73288A-5A8C-6766-9F52-659A96256B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9A1C49-BDBC-D00A-3F32-E0D5446188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65F41A-68D3-BC2A-E542-B7BF4897756C}"/>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6" name="Footer Placeholder 5">
            <a:extLst>
              <a:ext uri="{FF2B5EF4-FFF2-40B4-BE49-F238E27FC236}">
                <a16:creationId xmlns:a16="http://schemas.microsoft.com/office/drawing/2014/main" id="{72B5445E-183A-1C84-DB60-074192AE5D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4B1430-D43A-931A-2389-3F0EA082BF51}"/>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1252645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62A6-86A1-A52D-B3E9-439BFBDC68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3A0627-75C6-FDE7-9308-4AE263D9CD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8BDD06-ADFD-4595-8AE6-7E88D2258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E3CAA1-5349-3531-065F-307517E2EF01}"/>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6" name="Footer Placeholder 5">
            <a:extLst>
              <a:ext uri="{FF2B5EF4-FFF2-40B4-BE49-F238E27FC236}">
                <a16:creationId xmlns:a16="http://schemas.microsoft.com/office/drawing/2014/main" id="{6D72AAA0-F755-F8D0-73D0-C43785990A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F4F0A5-AA8E-AC2B-AA1F-D8F052FC1B2B}"/>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2882120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E55A9-68ED-3F93-A507-FCC28B1A43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77B2CB-B639-4D50-B528-F6A3059B66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6407F-11F3-29D9-A977-5E2EB889BD97}"/>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5" name="Footer Placeholder 4">
            <a:extLst>
              <a:ext uri="{FF2B5EF4-FFF2-40B4-BE49-F238E27FC236}">
                <a16:creationId xmlns:a16="http://schemas.microsoft.com/office/drawing/2014/main" id="{FE753B10-ECA3-701B-C3EC-C28C91A694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6806C3-0F54-9CDD-1E76-F777B37AB1D8}"/>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3855181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A4E05E-3E92-E8C2-D18E-3E2B08DD4C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864A40-3AD0-7867-9141-7F8534BE72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4BBF8-C026-44D5-E475-B1E8322090E1}"/>
              </a:ext>
            </a:extLst>
          </p:cNvPr>
          <p:cNvSpPr>
            <a:spLocks noGrp="1"/>
          </p:cNvSpPr>
          <p:nvPr>
            <p:ph type="dt" sz="half" idx="10"/>
          </p:nvPr>
        </p:nvSpPr>
        <p:spPr/>
        <p:txBody>
          <a:bodyPr/>
          <a:lstStyle/>
          <a:p>
            <a:fld id="{65311535-6C64-4AE9-BD84-F9F0779F524A}" type="datetimeFigureOut">
              <a:rPr lang="en-US" smtClean="0"/>
              <a:t>1/6/2024</a:t>
            </a:fld>
            <a:endParaRPr lang="en-US"/>
          </a:p>
        </p:txBody>
      </p:sp>
      <p:sp>
        <p:nvSpPr>
          <p:cNvPr id="5" name="Footer Placeholder 4">
            <a:extLst>
              <a:ext uri="{FF2B5EF4-FFF2-40B4-BE49-F238E27FC236}">
                <a16:creationId xmlns:a16="http://schemas.microsoft.com/office/drawing/2014/main" id="{1F6A6C3C-9FFA-FF35-09EA-19C88926FB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3BBB5B-BF14-83A5-88A3-9869C09055D6}"/>
              </a:ext>
            </a:extLst>
          </p:cNvPr>
          <p:cNvSpPr>
            <a:spLocks noGrp="1"/>
          </p:cNvSpPr>
          <p:nvPr>
            <p:ph type="sldNum" sz="quarter" idx="12"/>
          </p:nvPr>
        </p:nvSpPr>
        <p:spPr/>
        <p:txBody>
          <a:bodyPr/>
          <a:lstStyle/>
          <a:p>
            <a:fld id="{E058994D-C3B2-45E6-AE89-322EAD14909E}" type="slidenum">
              <a:rPr lang="en-US" smtClean="0"/>
              <a:t>‹#›</a:t>
            </a:fld>
            <a:endParaRPr lang="en-US"/>
          </a:p>
        </p:txBody>
      </p:sp>
    </p:spTree>
    <p:extLst>
      <p:ext uri="{BB962C8B-B14F-4D97-AF65-F5344CB8AC3E}">
        <p14:creationId xmlns:p14="http://schemas.microsoft.com/office/powerpoint/2010/main" val="633366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438E13-BD67-B339-FB8D-A27AE99F6D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AE0C0C-720B-552B-B64F-BB7EA2C1A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035F4-9CA3-24A7-86D8-F7365D9C03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311535-6C64-4AE9-BD84-F9F0779F524A}" type="datetimeFigureOut">
              <a:rPr lang="en-US" smtClean="0"/>
              <a:t>1/6/2024</a:t>
            </a:fld>
            <a:endParaRPr lang="en-US"/>
          </a:p>
        </p:txBody>
      </p:sp>
      <p:sp>
        <p:nvSpPr>
          <p:cNvPr id="5" name="Footer Placeholder 4">
            <a:extLst>
              <a:ext uri="{FF2B5EF4-FFF2-40B4-BE49-F238E27FC236}">
                <a16:creationId xmlns:a16="http://schemas.microsoft.com/office/drawing/2014/main" id="{EC46F1BE-F11F-F81E-1D49-AA87555359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64BFDE-90A7-90C5-5D4E-1D67F8A6EB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58994D-C3B2-45E6-AE89-322EAD14909E}" type="slidenum">
              <a:rPr lang="en-US" smtClean="0"/>
              <a:t>‹#›</a:t>
            </a:fld>
            <a:endParaRPr lang="en-US"/>
          </a:p>
        </p:txBody>
      </p:sp>
    </p:spTree>
    <p:extLst>
      <p:ext uri="{BB962C8B-B14F-4D97-AF65-F5344CB8AC3E}">
        <p14:creationId xmlns:p14="http://schemas.microsoft.com/office/powerpoint/2010/main" val="3757373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hyperlink" Target="https://research.nvidia.com/sites/default/files/pubs/2017-10_Progressive-Growing-of/karras2018iclr-paper.pd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hyperlink" Target="https://developers.google.com/machine-learning/glossary/#b"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jpe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29.jpe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43.jpg"/><Relationship Id="rId13" Type="http://schemas.openxmlformats.org/officeDocument/2006/relationships/image" Target="../media/image48.jpg"/><Relationship Id="rId18" Type="http://schemas.openxmlformats.org/officeDocument/2006/relationships/image" Target="../media/image53.jpg"/><Relationship Id="rId3" Type="http://schemas.openxmlformats.org/officeDocument/2006/relationships/image" Target="../media/image38.jpg"/><Relationship Id="rId7" Type="http://schemas.openxmlformats.org/officeDocument/2006/relationships/image" Target="../media/image42.jpg"/><Relationship Id="rId12" Type="http://schemas.openxmlformats.org/officeDocument/2006/relationships/image" Target="../media/image47.jpg"/><Relationship Id="rId17" Type="http://schemas.openxmlformats.org/officeDocument/2006/relationships/image" Target="../media/image52.jpg"/><Relationship Id="rId2" Type="http://schemas.openxmlformats.org/officeDocument/2006/relationships/notesSlide" Target="../notesSlides/notesSlide22.xml"/><Relationship Id="rId16" Type="http://schemas.openxmlformats.org/officeDocument/2006/relationships/image" Target="../media/image51.jpg"/><Relationship Id="rId1" Type="http://schemas.openxmlformats.org/officeDocument/2006/relationships/slideLayout" Target="../slideLayouts/slideLayout1.xml"/><Relationship Id="rId6" Type="http://schemas.openxmlformats.org/officeDocument/2006/relationships/image" Target="../media/image41.jpg"/><Relationship Id="rId11" Type="http://schemas.openxmlformats.org/officeDocument/2006/relationships/image" Target="../media/image46.jpg"/><Relationship Id="rId5" Type="http://schemas.openxmlformats.org/officeDocument/2006/relationships/image" Target="../media/image40.jpg"/><Relationship Id="rId15" Type="http://schemas.openxmlformats.org/officeDocument/2006/relationships/image" Target="../media/image50.jpg"/><Relationship Id="rId10" Type="http://schemas.openxmlformats.org/officeDocument/2006/relationships/image" Target="../media/image45.jpg"/><Relationship Id="rId19" Type="http://schemas.openxmlformats.org/officeDocument/2006/relationships/image" Target="../media/image2.jpeg"/><Relationship Id="rId4" Type="http://schemas.openxmlformats.org/officeDocument/2006/relationships/image" Target="../media/image39.jpg"/><Relationship Id="rId9" Type="http://schemas.openxmlformats.org/officeDocument/2006/relationships/image" Target="../media/image44.jpg"/><Relationship Id="rId14" Type="http://schemas.openxmlformats.org/officeDocument/2006/relationships/image" Target="../media/image49.jpg"/></Relationships>
</file>

<file path=ppt/slides/_rels/slide32.xml.rels><?xml version="1.0" encoding="UTF-8" standalone="yes"?>
<Relationships xmlns="http://schemas.openxmlformats.org/package/2006/relationships"><Relationship Id="rId8" Type="http://schemas.openxmlformats.org/officeDocument/2006/relationships/image" Target="../media/image59.jp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2.jpeg"/></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700B7B1D-6E11-AEA4-8EEF-DA2E8CA33F79}"/>
              </a:ext>
            </a:extLst>
          </p:cNvPr>
          <p:cNvPicPr>
            <a:picLocks noChangeAspect="1"/>
          </p:cNvPicPr>
          <p:nvPr/>
        </p:nvPicPr>
        <p:blipFill rotWithShape="1">
          <a:blip r:embed="rId3">
            <a:alphaModFix amt="60000"/>
          </a:blip>
          <a:srcRect t="28685" b="13623"/>
          <a:stretch/>
        </p:blipFill>
        <p:spPr>
          <a:xfrm>
            <a:off x="-1" y="10"/>
            <a:ext cx="12192001" cy="6857990"/>
          </a:xfrm>
          <a:prstGeom prst="rect">
            <a:avLst/>
          </a:prstGeom>
        </p:spPr>
      </p:pic>
      <p:sp>
        <p:nvSpPr>
          <p:cNvPr id="2" name="Title 1">
            <a:extLst>
              <a:ext uri="{FF2B5EF4-FFF2-40B4-BE49-F238E27FC236}">
                <a16:creationId xmlns:a16="http://schemas.microsoft.com/office/drawing/2014/main" id="{13E5BD49-EBB4-DB44-422B-BFD7B75FD7FA}"/>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rPr>
              <a:t>Generative AI</a:t>
            </a:r>
          </a:p>
        </p:txBody>
      </p:sp>
      <p:sp>
        <p:nvSpPr>
          <p:cNvPr id="3" name="Subtitle 2">
            <a:extLst>
              <a:ext uri="{FF2B5EF4-FFF2-40B4-BE49-F238E27FC236}">
                <a16:creationId xmlns:a16="http://schemas.microsoft.com/office/drawing/2014/main" id="{176E5D39-887B-6DF5-3C21-5D72EAA5608B}"/>
              </a:ext>
            </a:extLst>
          </p:cNvPr>
          <p:cNvSpPr>
            <a:spLocks noGrp="1"/>
          </p:cNvSpPr>
          <p:nvPr>
            <p:ph type="subTitle" idx="1"/>
          </p:nvPr>
        </p:nvSpPr>
        <p:spPr>
          <a:xfrm>
            <a:off x="838200" y="4072040"/>
            <a:ext cx="10515600" cy="1384310"/>
          </a:xfrm>
        </p:spPr>
        <p:txBody>
          <a:bodyPr vert="horz" lIns="91440" tIns="45720" rIns="91440" bIns="45720" rtlCol="0" anchor="t">
            <a:normAutofit/>
          </a:bodyPr>
          <a:lstStyle/>
          <a:p>
            <a:r>
              <a:rPr lang="en-US" dirty="0">
                <a:solidFill>
                  <a:srgbClr val="FFFFFF"/>
                </a:solidFill>
              </a:rPr>
              <a:t>Gyanig Kumar</a:t>
            </a:r>
          </a:p>
          <a:p>
            <a:r>
              <a:rPr lang="en-US" dirty="0">
                <a:solidFill>
                  <a:srgbClr val="FFFFFF"/>
                </a:solidFill>
                <a:ea typeface="Calibri"/>
                <a:cs typeface="Calibri"/>
              </a:rPr>
              <a:t>Research Assistant</a:t>
            </a:r>
          </a:p>
        </p:txBody>
      </p:sp>
      <p:pic>
        <p:nvPicPr>
          <p:cNvPr id="4" name="Picture 3">
            <a:extLst>
              <a:ext uri="{FF2B5EF4-FFF2-40B4-BE49-F238E27FC236}">
                <a16:creationId xmlns:a16="http://schemas.microsoft.com/office/drawing/2014/main" id="{691423EB-E2CC-BFDE-7538-2BD03BBB5A18}"/>
              </a:ext>
            </a:extLst>
          </p:cNvPr>
          <p:cNvPicPr>
            <a:picLocks noChangeAspect="1"/>
          </p:cNvPicPr>
          <p:nvPr/>
        </p:nvPicPr>
        <p:blipFill>
          <a:blip r:embed="rId4"/>
          <a:stretch>
            <a:fillRect/>
          </a:stretch>
        </p:blipFill>
        <p:spPr>
          <a:xfrm>
            <a:off x="173934" y="109653"/>
            <a:ext cx="3956748" cy="581538"/>
          </a:xfrm>
          <a:prstGeom prst="rect">
            <a:avLst/>
          </a:prstGeom>
        </p:spPr>
      </p:pic>
    </p:spTree>
    <p:extLst>
      <p:ext uri="{BB962C8B-B14F-4D97-AF65-F5344CB8AC3E}">
        <p14:creationId xmlns:p14="http://schemas.microsoft.com/office/powerpoint/2010/main" val="277840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400"/>
                                        <p:tgtEl>
                                          <p:spTgt spid="3">
                                            <p:txEl>
                                              <p:pRg st="1" end="1"/>
                                            </p:txEl>
                                          </p:spTgt>
                                        </p:tgtEl>
                                      </p:cBhvr>
                                    </p:animEffect>
                                  </p:childTnLst>
                                </p:cTn>
                              </p:par>
                              <p:par>
                                <p:cTn id="13" presetID="10" presetClass="entr" presetSubtype="0" fill="hold" grpId="0" nodeType="withEffect">
                                  <p:stCondLst>
                                    <p:cond delay="1000"/>
                                  </p:stCondLst>
                                  <p:iterate type="lt">
                                    <p:tmPct val="10000"/>
                                  </p:iterate>
                                  <p:childTnLst>
                                    <p:set>
                                      <p:cBhvr>
                                        <p:cTn id="14" dur="1" fill="hold">
                                          <p:stCondLst>
                                            <p:cond delay="0"/>
                                          </p:stCondLst>
                                        </p:cTn>
                                        <p:tgtEl>
                                          <p:spTgt spid="2"/>
                                        </p:tgtEl>
                                        <p:attrNameLst>
                                          <p:attrName>style.visibility</p:attrName>
                                        </p:attrNameLst>
                                      </p:cBhvr>
                                      <p:to>
                                        <p:strVal val="visible"/>
                                      </p:to>
                                    </p:set>
                                    <p:animEffect transition="in" filter="fade">
                                      <p:cBhvr>
                                        <p:cTn id="15"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DBE15D4-F4C6-3B6F-8FB2-B50303555016}"/>
              </a:ext>
            </a:extLst>
          </p:cNvPr>
          <p:cNvSpPr>
            <a:spLocks noGrp="1"/>
          </p:cNvSpPr>
          <p:nvPr>
            <p:ph type="title"/>
          </p:nvPr>
        </p:nvSpPr>
        <p:spPr>
          <a:xfrm>
            <a:off x="395927" y="995533"/>
            <a:ext cx="11019934" cy="1313740"/>
          </a:xfrm>
        </p:spPr>
        <p:txBody>
          <a:bodyPr>
            <a:normAutofit/>
          </a:bodyPr>
          <a:lstStyle/>
          <a:p>
            <a:pPr algn="l"/>
            <a:r>
              <a:rPr lang="en-IN" sz="3200" b="1" dirty="0"/>
              <a:t>Use-Case Example in a Typical Computer Vision Domain – </a:t>
            </a:r>
            <a:br>
              <a:rPr lang="en-IN" sz="3200" b="1" dirty="0"/>
            </a:br>
            <a:r>
              <a:rPr lang="en-IN" sz="3200" b="1" dirty="0"/>
              <a:t>Object Detection in Advanced Manufacturing Setup</a:t>
            </a:r>
          </a:p>
        </p:txBody>
      </p:sp>
      <p:pic>
        <p:nvPicPr>
          <p:cNvPr id="10" name="eXtended Reality Applications for Industry4.0 - Trim2">
            <a:hlinkClick r:id="" action="ppaction://media"/>
            <a:extLst>
              <a:ext uri="{FF2B5EF4-FFF2-40B4-BE49-F238E27FC236}">
                <a16:creationId xmlns:a16="http://schemas.microsoft.com/office/drawing/2014/main" id="{455D018E-158B-6514-9926-57A01C0023E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960776" y="2550116"/>
            <a:ext cx="7055146" cy="3968519"/>
          </a:xfrm>
          <a:prstGeom prst="rect">
            <a:avLst/>
          </a:prstGeom>
        </p:spPr>
      </p:pic>
      <p:pic>
        <p:nvPicPr>
          <p:cNvPr id="11" name="Picture 10">
            <a:extLst>
              <a:ext uri="{FF2B5EF4-FFF2-40B4-BE49-F238E27FC236}">
                <a16:creationId xmlns:a16="http://schemas.microsoft.com/office/drawing/2014/main" id="{96B732EB-572C-B958-893E-290F2DF20EA6}"/>
              </a:ext>
            </a:extLst>
          </p:cNvPr>
          <p:cNvPicPr>
            <a:picLocks noChangeAspect="1"/>
          </p:cNvPicPr>
          <p:nvPr/>
        </p:nvPicPr>
        <p:blipFill>
          <a:blip r:embed="rId5"/>
          <a:stretch>
            <a:fillRect/>
          </a:stretch>
        </p:blipFill>
        <p:spPr>
          <a:xfrm>
            <a:off x="173934" y="109653"/>
            <a:ext cx="3956748" cy="581538"/>
          </a:xfrm>
          <a:prstGeom prst="rect">
            <a:avLst/>
          </a:prstGeom>
        </p:spPr>
      </p:pic>
    </p:spTree>
    <p:extLst>
      <p:ext uri="{BB962C8B-B14F-4D97-AF65-F5344CB8AC3E}">
        <p14:creationId xmlns:p14="http://schemas.microsoft.com/office/powerpoint/2010/main" val="218659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97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E02FFB-BCEA-CE24-C0A2-985F6886BC92}"/>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Part I</a:t>
            </a:r>
            <a:br>
              <a:rPr lang="en-US" sz="7200" kern="1200" dirty="0">
                <a:solidFill>
                  <a:schemeClr val="tx1"/>
                </a:solidFill>
                <a:latin typeface="+mj-lt"/>
                <a:ea typeface="+mj-ea"/>
                <a:cs typeface="+mj-cs"/>
              </a:rPr>
            </a:br>
            <a:r>
              <a:rPr lang="en-US" sz="7200" dirty="0"/>
              <a:t>Introduction to GAN</a:t>
            </a:r>
            <a:endParaRPr lang="en-US" sz="72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6BE4868F-CD92-7068-51E3-621D4B4E2AFE}"/>
              </a:ext>
            </a:extLst>
          </p:cNvPr>
          <p:cNvPicPr>
            <a:picLocks noChangeAspect="1"/>
          </p:cNvPicPr>
          <p:nvPr/>
        </p:nvPicPr>
        <p:blipFill>
          <a:blip r:embed="rId2"/>
          <a:stretch>
            <a:fillRect/>
          </a:stretch>
        </p:blipFill>
        <p:spPr>
          <a:xfrm>
            <a:off x="173934" y="109653"/>
            <a:ext cx="3956748" cy="581538"/>
          </a:xfrm>
          <a:prstGeom prst="rect">
            <a:avLst/>
          </a:prstGeom>
        </p:spPr>
      </p:pic>
    </p:spTree>
    <p:extLst>
      <p:ext uri="{BB962C8B-B14F-4D97-AF65-F5344CB8AC3E}">
        <p14:creationId xmlns:p14="http://schemas.microsoft.com/office/powerpoint/2010/main" val="89087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4B33B-1D9D-17AF-EF34-AFD70AE16F32}"/>
              </a:ext>
            </a:extLst>
          </p:cNvPr>
          <p:cNvSpPr>
            <a:spLocks noGrp="1"/>
          </p:cNvSpPr>
          <p:nvPr>
            <p:ph type="title"/>
          </p:nvPr>
        </p:nvSpPr>
        <p:spPr>
          <a:xfrm>
            <a:off x="762000" y="1143486"/>
            <a:ext cx="4267200" cy="1437406"/>
          </a:xfrm>
        </p:spPr>
        <p:txBody>
          <a:bodyPr anchor="t">
            <a:normAutofit/>
          </a:bodyPr>
          <a:lstStyle/>
          <a:p>
            <a:r>
              <a:rPr lang="en-US" sz="3200"/>
              <a:t>Introduction</a:t>
            </a:r>
          </a:p>
        </p:txBody>
      </p:sp>
      <p:cxnSp>
        <p:nvCxnSpPr>
          <p:cNvPr id="1031" name="Straight Connector 1030">
            <a:extLst>
              <a:ext uri="{FF2B5EF4-FFF2-40B4-BE49-F238E27FC236}">
                <a16:creationId xmlns:a16="http://schemas.microsoft.com/office/drawing/2014/main" id="{37C77032-C865-6057-7D7A-E2743CFA20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F4AA4AB-4BB5-BD32-DA2A-5954B522A64B}"/>
              </a:ext>
            </a:extLst>
          </p:cNvPr>
          <p:cNvSpPr>
            <a:spLocks noGrp="1"/>
          </p:cNvSpPr>
          <p:nvPr>
            <p:ph idx="1"/>
          </p:nvPr>
        </p:nvSpPr>
        <p:spPr>
          <a:xfrm>
            <a:off x="5825613" y="838200"/>
            <a:ext cx="5501247" cy="1866358"/>
          </a:xfrm>
        </p:spPr>
        <p:txBody>
          <a:bodyPr vert="horz" lIns="91440" tIns="45720" rIns="91440" bIns="45720" rtlCol="0" anchor="t">
            <a:normAutofit fontScale="92500"/>
          </a:bodyPr>
          <a:lstStyle/>
          <a:p>
            <a:r>
              <a:rPr lang="en-US" sz="1600" b="0" i="0" dirty="0">
                <a:effectLst/>
                <a:latin typeface="Roboto"/>
                <a:ea typeface="Roboto"/>
                <a:cs typeface="Roboto"/>
              </a:rPr>
              <a:t>Generative adversarial networks (GANs) or Generative AI are an exciting recent innovation in machine learning.</a:t>
            </a:r>
            <a:r>
              <a:rPr lang="en-US" sz="1600" dirty="0">
                <a:latin typeface="Roboto"/>
                <a:ea typeface="Roboto"/>
                <a:cs typeface="Roboto"/>
              </a:rPr>
              <a:t> </a:t>
            </a:r>
            <a:endParaRPr lang="en-US" sz="1600" b="0" i="0" dirty="0">
              <a:effectLst/>
              <a:latin typeface="Roboto" panose="02000000000000000000" pitchFamily="2" charset="0"/>
              <a:ea typeface="Roboto"/>
              <a:cs typeface="Roboto"/>
            </a:endParaRPr>
          </a:p>
          <a:p>
            <a:r>
              <a:rPr lang="en-US" sz="1600" b="0" i="0" dirty="0">
                <a:effectLst/>
                <a:latin typeface="Roboto"/>
                <a:ea typeface="Roboto"/>
                <a:cs typeface="Roboto"/>
              </a:rPr>
              <a:t>GANs are </a:t>
            </a:r>
            <a:r>
              <a:rPr lang="en-US" sz="1600" b="0" i="1" dirty="0">
                <a:effectLst/>
                <a:latin typeface="Roboto"/>
                <a:ea typeface="Roboto"/>
                <a:cs typeface="Roboto"/>
              </a:rPr>
              <a:t>generative</a:t>
            </a:r>
            <a:r>
              <a:rPr lang="en-US" sz="1600" b="0" i="0" dirty="0">
                <a:effectLst/>
                <a:latin typeface="Roboto"/>
                <a:ea typeface="Roboto"/>
                <a:cs typeface="Roboto"/>
              </a:rPr>
              <a:t> models:</a:t>
            </a:r>
            <a:r>
              <a:rPr lang="en-US" sz="1600" dirty="0">
                <a:latin typeface="Roboto"/>
                <a:ea typeface="Roboto"/>
                <a:cs typeface="Roboto"/>
              </a:rPr>
              <a:t> </a:t>
            </a:r>
            <a:endParaRPr lang="en-US" sz="1600" b="0" i="0" dirty="0">
              <a:effectLst/>
              <a:latin typeface="Roboto" panose="02000000000000000000" pitchFamily="2" charset="0"/>
              <a:ea typeface="Roboto"/>
              <a:cs typeface="Roboto"/>
            </a:endParaRPr>
          </a:p>
          <a:p>
            <a:pPr lvl="1"/>
            <a:r>
              <a:rPr lang="en-US" sz="1600" dirty="0">
                <a:latin typeface="Roboto"/>
                <a:ea typeface="Roboto"/>
                <a:cs typeface="Roboto"/>
              </a:rPr>
              <a:t>C</a:t>
            </a:r>
            <a:r>
              <a:rPr lang="en-US" sz="1600" b="0" i="0" dirty="0">
                <a:effectLst/>
                <a:latin typeface="Roboto"/>
                <a:ea typeface="Roboto"/>
                <a:cs typeface="Roboto"/>
              </a:rPr>
              <a:t>reate new data instances that resemble your training data.</a:t>
            </a:r>
          </a:p>
          <a:p>
            <a:pPr lvl="1"/>
            <a:r>
              <a:rPr lang="en-US" sz="1600" dirty="0">
                <a:latin typeface="Roboto"/>
                <a:ea typeface="Roboto"/>
                <a:cs typeface="Roboto"/>
              </a:rPr>
              <a:t>A</a:t>
            </a:r>
            <a:r>
              <a:rPr lang="en-US" sz="1600" b="0" i="0" dirty="0">
                <a:effectLst/>
                <a:latin typeface="Roboto"/>
                <a:ea typeface="Roboto"/>
                <a:cs typeface="Roboto"/>
              </a:rPr>
              <a:t>chieve this level of realism by pairing a </a:t>
            </a:r>
            <a:r>
              <a:rPr lang="en-US" sz="1600" b="1" i="0" u="sng" dirty="0">
                <a:effectLst/>
                <a:latin typeface="Roboto"/>
                <a:ea typeface="Roboto"/>
                <a:cs typeface="Roboto"/>
              </a:rPr>
              <a:t>generator</a:t>
            </a:r>
            <a:r>
              <a:rPr lang="en-US" sz="1600" b="0" i="0" dirty="0">
                <a:effectLst/>
                <a:latin typeface="Roboto"/>
                <a:ea typeface="Roboto"/>
                <a:cs typeface="Roboto"/>
              </a:rPr>
              <a:t> and with a </a:t>
            </a:r>
            <a:r>
              <a:rPr lang="en-US" sz="1600" b="1" i="0" u="sng" dirty="0">
                <a:effectLst/>
                <a:latin typeface="Roboto"/>
                <a:ea typeface="Roboto"/>
                <a:cs typeface="Roboto"/>
              </a:rPr>
              <a:t>discriminator</a:t>
            </a:r>
          </a:p>
        </p:txBody>
      </p:sp>
      <p:pic>
        <p:nvPicPr>
          <p:cNvPr id="1026" name="Picture 2" descr="Image of four photorealistic faces created by a generative adversarial&#10;network.">
            <a:extLst>
              <a:ext uri="{FF2B5EF4-FFF2-40B4-BE49-F238E27FC236}">
                <a16:creationId xmlns:a16="http://schemas.microsoft.com/office/drawing/2014/main" id="{6106E947-206C-69F8-BC9F-4B95DAA67CD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1757" y="3364825"/>
            <a:ext cx="10591800" cy="26214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6FE418-0A4D-1C27-84DA-91E5136850BF}"/>
              </a:ext>
            </a:extLst>
          </p:cNvPr>
          <p:cNvSpPr txBox="1"/>
          <p:nvPr/>
        </p:nvSpPr>
        <p:spPr>
          <a:xfrm>
            <a:off x="3348974" y="6354327"/>
            <a:ext cx="6097554" cy="369332"/>
          </a:xfrm>
          <a:prstGeom prst="rect">
            <a:avLst/>
          </a:prstGeom>
          <a:noFill/>
        </p:spPr>
        <p:txBody>
          <a:bodyPr wrap="square">
            <a:spAutoFit/>
          </a:bodyPr>
          <a:lstStyle/>
          <a:p>
            <a:pPr>
              <a:spcAft>
                <a:spcPts val="600"/>
              </a:spcAft>
            </a:pPr>
            <a:r>
              <a:rPr lang="en-US" b="1" i="0" dirty="0">
                <a:solidFill>
                  <a:srgbClr val="202124"/>
                </a:solidFill>
                <a:effectLst/>
                <a:latin typeface="Roboto" panose="02000000000000000000" pitchFamily="2" charset="0"/>
              </a:rPr>
              <a:t>Fig. Images generated by a </a:t>
            </a:r>
            <a:r>
              <a:rPr lang="en-US" b="1" i="0" dirty="0">
                <a:solidFill>
                  <a:srgbClr val="202124"/>
                </a:solidFill>
                <a:effectLst/>
                <a:latin typeface="Roboto" panose="02000000000000000000" pitchFamily="2" charset="0"/>
                <a:hlinkClick r:id="rId4"/>
              </a:rPr>
              <a:t>GAN</a:t>
            </a:r>
            <a:r>
              <a:rPr lang="en-US" b="1" i="0" dirty="0">
                <a:solidFill>
                  <a:srgbClr val="202124"/>
                </a:solidFill>
                <a:effectLst/>
                <a:latin typeface="Roboto" panose="02000000000000000000" pitchFamily="2" charset="0"/>
              </a:rPr>
              <a:t> </a:t>
            </a:r>
            <a:r>
              <a:rPr lang="en-US" sz="1000" b="1" i="0" dirty="0">
                <a:solidFill>
                  <a:srgbClr val="202124"/>
                </a:solidFill>
                <a:effectLst/>
                <a:latin typeface="Roboto" panose="02000000000000000000" pitchFamily="2" charset="0"/>
              </a:rPr>
              <a:t>(Source: NVIDIA)</a:t>
            </a:r>
            <a:endParaRPr lang="en-US" sz="1000"/>
          </a:p>
        </p:txBody>
      </p:sp>
      <p:pic>
        <p:nvPicPr>
          <p:cNvPr id="4" name="Picture 3">
            <a:extLst>
              <a:ext uri="{FF2B5EF4-FFF2-40B4-BE49-F238E27FC236}">
                <a16:creationId xmlns:a16="http://schemas.microsoft.com/office/drawing/2014/main" id="{8792C08A-4D69-7493-4B41-2E3ADAE37373}"/>
              </a:ext>
            </a:extLst>
          </p:cNvPr>
          <p:cNvPicPr>
            <a:picLocks noChangeAspect="1"/>
          </p:cNvPicPr>
          <p:nvPr/>
        </p:nvPicPr>
        <p:blipFill>
          <a:blip r:embed="rId5"/>
          <a:stretch>
            <a:fillRect/>
          </a:stretch>
        </p:blipFill>
        <p:spPr>
          <a:xfrm>
            <a:off x="173934" y="109653"/>
            <a:ext cx="3956748" cy="581538"/>
          </a:xfrm>
          <a:prstGeom prst="rect">
            <a:avLst/>
          </a:prstGeom>
        </p:spPr>
      </p:pic>
    </p:spTree>
    <p:extLst>
      <p:ext uri="{BB962C8B-B14F-4D97-AF65-F5344CB8AC3E}">
        <p14:creationId xmlns:p14="http://schemas.microsoft.com/office/powerpoint/2010/main" val="3897172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A0D747-F38B-4A99-9985-62CE8C2476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D1BF32B-6CA3-4695-8A0C-1AC789B58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5277870" cy="6858000"/>
          </a:xfrm>
          <a:custGeom>
            <a:avLst/>
            <a:gdLst>
              <a:gd name="connsiteX0" fmla="*/ 643741 w 5434004"/>
              <a:gd name="connsiteY0" fmla="*/ 0 h 6858000"/>
              <a:gd name="connsiteX1" fmla="*/ 5434004 w 5434004"/>
              <a:gd name="connsiteY1" fmla="*/ 0 h 6858000"/>
              <a:gd name="connsiteX2" fmla="*/ 5434004 w 5434004"/>
              <a:gd name="connsiteY2" fmla="*/ 6858000 h 6858000"/>
              <a:gd name="connsiteX3" fmla="*/ 0 w 5434004"/>
              <a:gd name="connsiteY3" fmla="*/ 6858000 h 6858000"/>
              <a:gd name="connsiteX4" fmla="*/ 0 w 5434004"/>
              <a:gd name="connsiteY4" fmla="*/ 6857998 h 6858000"/>
              <a:gd name="connsiteX5" fmla="*/ 1049407 w 5434004"/>
              <a:gd name="connsiteY5" fmla="*/ 6857998 h 6858000"/>
              <a:gd name="connsiteX6" fmla="*/ 1033092 w 5434004"/>
              <a:gd name="connsiteY6" fmla="*/ 6843615 h 6858000"/>
              <a:gd name="connsiteX7" fmla="*/ 1004585 w 5434004"/>
              <a:gd name="connsiteY7" fmla="*/ 6800899 h 6858000"/>
              <a:gd name="connsiteX8" fmla="*/ 984086 w 5434004"/>
              <a:gd name="connsiteY8" fmla="*/ 6765441 h 6858000"/>
              <a:gd name="connsiteX9" fmla="*/ 955964 w 5434004"/>
              <a:gd name="connsiteY9" fmla="*/ 6739541 h 6858000"/>
              <a:gd name="connsiteX10" fmla="*/ 945820 w 5434004"/>
              <a:gd name="connsiteY10" fmla="*/ 6673829 h 6858000"/>
              <a:gd name="connsiteX11" fmla="*/ 921540 w 5434004"/>
              <a:gd name="connsiteY11" fmla="*/ 6620155 h 6858000"/>
              <a:gd name="connsiteX12" fmla="*/ 876436 w 5434004"/>
              <a:gd name="connsiteY12" fmla="*/ 6610437 h 6858000"/>
              <a:gd name="connsiteX13" fmla="*/ 876973 w 5434004"/>
              <a:gd name="connsiteY13" fmla="*/ 6596307 h 6858000"/>
              <a:gd name="connsiteX14" fmla="*/ 893782 w 5434004"/>
              <a:gd name="connsiteY14" fmla="*/ 6536039 h 6858000"/>
              <a:gd name="connsiteX15" fmla="*/ 830281 w 5434004"/>
              <a:gd name="connsiteY15" fmla="*/ 6239239 h 6858000"/>
              <a:gd name="connsiteX16" fmla="*/ 816373 w 5434004"/>
              <a:gd name="connsiteY16" fmla="*/ 6116986 h 6858000"/>
              <a:gd name="connsiteX17" fmla="*/ 788606 w 5434004"/>
              <a:gd name="connsiteY17" fmla="*/ 5895434 h 6858000"/>
              <a:gd name="connsiteX18" fmla="*/ 762315 w 5434004"/>
              <a:gd name="connsiteY18" fmla="*/ 5848019 h 6858000"/>
              <a:gd name="connsiteX19" fmla="*/ 714842 w 5434004"/>
              <a:gd name="connsiteY19" fmla="*/ 5722306 h 6858000"/>
              <a:gd name="connsiteX20" fmla="*/ 679500 w 5434004"/>
              <a:gd name="connsiteY20" fmla="*/ 5528085 h 6858000"/>
              <a:gd name="connsiteX21" fmla="*/ 660956 w 5434004"/>
              <a:gd name="connsiteY21" fmla="*/ 5506768 h 6858000"/>
              <a:gd name="connsiteX22" fmla="*/ 642957 w 5434004"/>
              <a:gd name="connsiteY22" fmla="*/ 5473318 h 6858000"/>
              <a:gd name="connsiteX23" fmla="*/ 602099 w 5434004"/>
              <a:gd name="connsiteY23" fmla="*/ 5418521 h 6858000"/>
              <a:gd name="connsiteX24" fmla="*/ 563009 w 5434004"/>
              <a:gd name="connsiteY24" fmla="*/ 5337536 h 6858000"/>
              <a:gd name="connsiteX25" fmla="*/ 584675 w 5434004"/>
              <a:gd name="connsiteY25" fmla="*/ 5255190 h 6858000"/>
              <a:gd name="connsiteX26" fmla="*/ 564878 w 5434004"/>
              <a:gd name="connsiteY26" fmla="*/ 5208171 h 6858000"/>
              <a:gd name="connsiteX27" fmla="*/ 540145 w 5434004"/>
              <a:gd name="connsiteY27" fmla="*/ 4993731 h 6858000"/>
              <a:gd name="connsiteX28" fmla="*/ 512099 w 5434004"/>
              <a:gd name="connsiteY28" fmla="*/ 4896399 h 6858000"/>
              <a:gd name="connsiteX29" fmla="*/ 482378 w 5434004"/>
              <a:gd name="connsiteY29" fmla="*/ 4838613 h 6858000"/>
              <a:gd name="connsiteX30" fmla="*/ 468676 w 5434004"/>
              <a:gd name="connsiteY30" fmla="*/ 4796522 h 6858000"/>
              <a:gd name="connsiteX31" fmla="*/ 430881 w 5434004"/>
              <a:gd name="connsiteY31" fmla="*/ 4672370 h 6858000"/>
              <a:gd name="connsiteX32" fmla="*/ 415292 w 5434004"/>
              <a:gd name="connsiteY32" fmla="*/ 4634253 h 6858000"/>
              <a:gd name="connsiteX33" fmla="*/ 348919 w 5434004"/>
              <a:gd name="connsiteY33" fmla="*/ 4549232 h 6858000"/>
              <a:gd name="connsiteX34" fmla="*/ 292438 w 5434004"/>
              <a:gd name="connsiteY34" fmla="*/ 4479912 h 6858000"/>
              <a:gd name="connsiteX35" fmla="*/ 283567 w 5434004"/>
              <a:gd name="connsiteY35" fmla="*/ 4376609 h 6858000"/>
              <a:gd name="connsiteX36" fmla="*/ 247018 w 5434004"/>
              <a:gd name="connsiteY36" fmla="*/ 4280257 h 6858000"/>
              <a:gd name="connsiteX37" fmla="*/ 243154 w 5434004"/>
              <a:gd name="connsiteY37" fmla="*/ 4208492 h 6858000"/>
              <a:gd name="connsiteX38" fmla="*/ 267243 w 5434004"/>
              <a:gd name="connsiteY38" fmla="*/ 4120636 h 6858000"/>
              <a:gd name="connsiteX39" fmla="*/ 274676 w 5434004"/>
              <a:gd name="connsiteY39" fmla="*/ 4116556 h 6858000"/>
              <a:gd name="connsiteX40" fmla="*/ 274016 w 5434004"/>
              <a:gd name="connsiteY40" fmla="*/ 4109625 h 6858000"/>
              <a:gd name="connsiteX41" fmla="*/ 266711 w 5434004"/>
              <a:gd name="connsiteY41" fmla="*/ 4105624 h 6858000"/>
              <a:gd name="connsiteX42" fmla="*/ 267360 w 5434004"/>
              <a:gd name="connsiteY42" fmla="*/ 4051441 h 6858000"/>
              <a:gd name="connsiteX43" fmla="*/ 280863 w 5434004"/>
              <a:gd name="connsiteY43" fmla="*/ 3988494 h 6858000"/>
              <a:gd name="connsiteX44" fmla="*/ 254473 w 5434004"/>
              <a:gd name="connsiteY44" fmla="*/ 3926485 h 6858000"/>
              <a:gd name="connsiteX45" fmla="*/ 238942 w 5434004"/>
              <a:gd name="connsiteY45" fmla="*/ 3857057 h 6858000"/>
              <a:gd name="connsiteX46" fmla="*/ 229388 w 5434004"/>
              <a:gd name="connsiteY46" fmla="*/ 3815650 h 6858000"/>
              <a:gd name="connsiteX47" fmla="*/ 224025 w 5434004"/>
              <a:gd name="connsiteY47" fmla="*/ 3696745 h 6858000"/>
              <a:gd name="connsiteX48" fmla="*/ 242028 w 5434004"/>
              <a:gd name="connsiteY48" fmla="*/ 3477814 h 6858000"/>
              <a:gd name="connsiteX49" fmla="*/ 239663 w 5434004"/>
              <a:gd name="connsiteY49" fmla="*/ 3375354 h 6858000"/>
              <a:gd name="connsiteX50" fmla="*/ 242939 w 5434004"/>
              <a:gd name="connsiteY50" fmla="*/ 3235494 h 6858000"/>
              <a:gd name="connsiteX51" fmla="*/ 235466 w 5434004"/>
              <a:gd name="connsiteY51" fmla="*/ 3111896 h 6858000"/>
              <a:gd name="connsiteX52" fmla="*/ 225859 w 5434004"/>
              <a:gd name="connsiteY52" fmla="*/ 3061665 h 6858000"/>
              <a:gd name="connsiteX53" fmla="*/ 214543 w 5434004"/>
              <a:gd name="connsiteY53" fmla="*/ 3026187 h 6858000"/>
              <a:gd name="connsiteX54" fmla="*/ 209002 w 5434004"/>
              <a:gd name="connsiteY54" fmla="*/ 2930097 h 6858000"/>
              <a:gd name="connsiteX55" fmla="*/ 209539 w 5434004"/>
              <a:gd name="connsiteY55" fmla="*/ 2768399 h 6858000"/>
              <a:gd name="connsiteX56" fmla="*/ 207490 w 5434004"/>
              <a:gd name="connsiteY56" fmla="*/ 2734615 h 6858000"/>
              <a:gd name="connsiteX57" fmla="*/ 197130 w 5434004"/>
              <a:gd name="connsiteY57" fmla="*/ 2708116 h 6858000"/>
              <a:gd name="connsiteX58" fmla="*/ 187231 w 5434004"/>
              <a:gd name="connsiteY58" fmla="*/ 2704185 h 6858000"/>
              <a:gd name="connsiteX59" fmla="*/ 184723 w 5434004"/>
              <a:gd name="connsiteY59" fmla="*/ 2686011 h 6858000"/>
              <a:gd name="connsiteX60" fmla="*/ 169929 w 5434004"/>
              <a:gd name="connsiteY60" fmla="*/ 2656504 h 6858000"/>
              <a:gd name="connsiteX61" fmla="*/ 188242 w 5434004"/>
              <a:gd name="connsiteY61" fmla="*/ 2589493 h 6858000"/>
              <a:gd name="connsiteX62" fmla="*/ 189125 w 5434004"/>
              <a:gd name="connsiteY62" fmla="*/ 2457617 h 6858000"/>
              <a:gd name="connsiteX63" fmla="*/ 195205 w 5434004"/>
              <a:gd name="connsiteY63" fmla="*/ 2210817 h 6858000"/>
              <a:gd name="connsiteX64" fmla="*/ 175797 w 5434004"/>
              <a:gd name="connsiteY64" fmla="*/ 1901521 h 6858000"/>
              <a:gd name="connsiteX65" fmla="*/ 156134 w 5434004"/>
              <a:gd name="connsiteY65" fmla="*/ 1700722 h 6858000"/>
              <a:gd name="connsiteX66" fmla="*/ 174157 w 5434004"/>
              <a:gd name="connsiteY66" fmla="*/ 1661610 h 6858000"/>
              <a:gd name="connsiteX67" fmla="*/ 180802 w 5434004"/>
              <a:gd name="connsiteY67" fmla="*/ 1640073 h 6858000"/>
              <a:gd name="connsiteX68" fmla="*/ 179221 w 5434004"/>
              <a:gd name="connsiteY68" fmla="*/ 1637398 h 6858000"/>
              <a:gd name="connsiteX69" fmla="*/ 179826 w 5434004"/>
              <a:gd name="connsiteY69" fmla="*/ 1612248 h 6858000"/>
              <a:gd name="connsiteX70" fmla="*/ 198048 w 5434004"/>
              <a:gd name="connsiteY70" fmla="*/ 1498097 h 6858000"/>
              <a:gd name="connsiteX71" fmla="*/ 196329 w 5434004"/>
              <a:gd name="connsiteY71" fmla="*/ 1497364 h 6858000"/>
              <a:gd name="connsiteX72" fmla="*/ 193204 w 5434004"/>
              <a:gd name="connsiteY72" fmla="*/ 1490042 h 6858000"/>
              <a:gd name="connsiteX73" fmla="*/ 211154 w 5434004"/>
              <a:gd name="connsiteY73" fmla="*/ 1451416 h 6858000"/>
              <a:gd name="connsiteX74" fmla="*/ 247750 w 5434004"/>
              <a:gd name="connsiteY74" fmla="*/ 1281781 h 6858000"/>
              <a:gd name="connsiteX75" fmla="*/ 323114 w 5434004"/>
              <a:gd name="connsiteY75" fmla="*/ 1074754 h 6858000"/>
              <a:gd name="connsiteX76" fmla="*/ 357209 w 5434004"/>
              <a:gd name="connsiteY76" fmla="*/ 1019094 h 6858000"/>
              <a:gd name="connsiteX77" fmla="*/ 393176 w 5434004"/>
              <a:gd name="connsiteY77" fmla="*/ 938921 h 6858000"/>
              <a:gd name="connsiteX78" fmla="*/ 451503 w 5434004"/>
              <a:gd name="connsiteY78" fmla="*/ 815814 h 6858000"/>
              <a:gd name="connsiteX79" fmla="*/ 567587 w 5434004"/>
              <a:gd name="connsiteY79" fmla="*/ 584070 h 6858000"/>
              <a:gd name="connsiteX80" fmla="*/ 592609 w 5434004"/>
              <a:gd name="connsiteY80" fmla="*/ 461805 h 6858000"/>
              <a:gd name="connsiteX81" fmla="*/ 624563 w 5434004"/>
              <a:gd name="connsiteY81" fmla="*/ 360945 h 6858000"/>
              <a:gd name="connsiteX82" fmla="*/ 627056 w 5434004"/>
              <a:gd name="connsiteY82" fmla="*/ 226335 h 6858000"/>
              <a:gd name="connsiteX83" fmla="*/ 655851 w 5434004"/>
              <a:gd name="connsiteY83" fmla="*/ 51690 h 6858000"/>
              <a:gd name="connsiteX84" fmla="*/ 653984 w 5434004"/>
              <a:gd name="connsiteY84" fmla="*/ 22133 h 6858000"/>
              <a:gd name="connsiteX85" fmla="*/ 643279 w 5434004"/>
              <a:gd name="connsiteY85" fmla="*/ 1037 h 6858000"/>
              <a:gd name="connsiteX0" fmla="*/ 643741 w 5434004"/>
              <a:gd name="connsiteY0" fmla="*/ 0 h 6858000"/>
              <a:gd name="connsiteX1" fmla="*/ 5434004 w 5434004"/>
              <a:gd name="connsiteY1" fmla="*/ 0 h 6858000"/>
              <a:gd name="connsiteX2" fmla="*/ 5434004 w 5434004"/>
              <a:gd name="connsiteY2" fmla="*/ 6858000 h 6858000"/>
              <a:gd name="connsiteX3" fmla="*/ 0 w 5434004"/>
              <a:gd name="connsiteY3" fmla="*/ 6858000 h 6858000"/>
              <a:gd name="connsiteX4" fmla="*/ 1049407 w 5434004"/>
              <a:gd name="connsiteY4" fmla="*/ 6857998 h 6858000"/>
              <a:gd name="connsiteX5" fmla="*/ 1033092 w 5434004"/>
              <a:gd name="connsiteY5" fmla="*/ 6843615 h 6858000"/>
              <a:gd name="connsiteX6" fmla="*/ 1004585 w 5434004"/>
              <a:gd name="connsiteY6" fmla="*/ 6800899 h 6858000"/>
              <a:gd name="connsiteX7" fmla="*/ 984086 w 5434004"/>
              <a:gd name="connsiteY7" fmla="*/ 6765441 h 6858000"/>
              <a:gd name="connsiteX8" fmla="*/ 955964 w 5434004"/>
              <a:gd name="connsiteY8" fmla="*/ 6739541 h 6858000"/>
              <a:gd name="connsiteX9" fmla="*/ 945820 w 5434004"/>
              <a:gd name="connsiteY9" fmla="*/ 6673829 h 6858000"/>
              <a:gd name="connsiteX10" fmla="*/ 921540 w 5434004"/>
              <a:gd name="connsiteY10" fmla="*/ 6620155 h 6858000"/>
              <a:gd name="connsiteX11" fmla="*/ 876436 w 5434004"/>
              <a:gd name="connsiteY11" fmla="*/ 6610437 h 6858000"/>
              <a:gd name="connsiteX12" fmla="*/ 876973 w 5434004"/>
              <a:gd name="connsiteY12" fmla="*/ 6596307 h 6858000"/>
              <a:gd name="connsiteX13" fmla="*/ 893782 w 5434004"/>
              <a:gd name="connsiteY13" fmla="*/ 6536039 h 6858000"/>
              <a:gd name="connsiteX14" fmla="*/ 830281 w 5434004"/>
              <a:gd name="connsiteY14" fmla="*/ 6239239 h 6858000"/>
              <a:gd name="connsiteX15" fmla="*/ 816373 w 5434004"/>
              <a:gd name="connsiteY15" fmla="*/ 6116986 h 6858000"/>
              <a:gd name="connsiteX16" fmla="*/ 788606 w 5434004"/>
              <a:gd name="connsiteY16" fmla="*/ 5895434 h 6858000"/>
              <a:gd name="connsiteX17" fmla="*/ 762315 w 5434004"/>
              <a:gd name="connsiteY17" fmla="*/ 5848019 h 6858000"/>
              <a:gd name="connsiteX18" fmla="*/ 714842 w 5434004"/>
              <a:gd name="connsiteY18" fmla="*/ 5722306 h 6858000"/>
              <a:gd name="connsiteX19" fmla="*/ 679500 w 5434004"/>
              <a:gd name="connsiteY19" fmla="*/ 5528085 h 6858000"/>
              <a:gd name="connsiteX20" fmla="*/ 660956 w 5434004"/>
              <a:gd name="connsiteY20" fmla="*/ 5506768 h 6858000"/>
              <a:gd name="connsiteX21" fmla="*/ 642957 w 5434004"/>
              <a:gd name="connsiteY21" fmla="*/ 5473318 h 6858000"/>
              <a:gd name="connsiteX22" fmla="*/ 602099 w 5434004"/>
              <a:gd name="connsiteY22" fmla="*/ 5418521 h 6858000"/>
              <a:gd name="connsiteX23" fmla="*/ 563009 w 5434004"/>
              <a:gd name="connsiteY23" fmla="*/ 5337536 h 6858000"/>
              <a:gd name="connsiteX24" fmla="*/ 584675 w 5434004"/>
              <a:gd name="connsiteY24" fmla="*/ 5255190 h 6858000"/>
              <a:gd name="connsiteX25" fmla="*/ 564878 w 5434004"/>
              <a:gd name="connsiteY25" fmla="*/ 5208171 h 6858000"/>
              <a:gd name="connsiteX26" fmla="*/ 540145 w 5434004"/>
              <a:gd name="connsiteY26" fmla="*/ 4993731 h 6858000"/>
              <a:gd name="connsiteX27" fmla="*/ 512099 w 5434004"/>
              <a:gd name="connsiteY27" fmla="*/ 4896399 h 6858000"/>
              <a:gd name="connsiteX28" fmla="*/ 482378 w 5434004"/>
              <a:gd name="connsiteY28" fmla="*/ 4838613 h 6858000"/>
              <a:gd name="connsiteX29" fmla="*/ 468676 w 5434004"/>
              <a:gd name="connsiteY29" fmla="*/ 4796522 h 6858000"/>
              <a:gd name="connsiteX30" fmla="*/ 430881 w 5434004"/>
              <a:gd name="connsiteY30" fmla="*/ 4672370 h 6858000"/>
              <a:gd name="connsiteX31" fmla="*/ 415292 w 5434004"/>
              <a:gd name="connsiteY31" fmla="*/ 4634253 h 6858000"/>
              <a:gd name="connsiteX32" fmla="*/ 348919 w 5434004"/>
              <a:gd name="connsiteY32" fmla="*/ 4549232 h 6858000"/>
              <a:gd name="connsiteX33" fmla="*/ 292438 w 5434004"/>
              <a:gd name="connsiteY33" fmla="*/ 4479912 h 6858000"/>
              <a:gd name="connsiteX34" fmla="*/ 283567 w 5434004"/>
              <a:gd name="connsiteY34" fmla="*/ 4376609 h 6858000"/>
              <a:gd name="connsiteX35" fmla="*/ 247018 w 5434004"/>
              <a:gd name="connsiteY35" fmla="*/ 4280257 h 6858000"/>
              <a:gd name="connsiteX36" fmla="*/ 243154 w 5434004"/>
              <a:gd name="connsiteY36" fmla="*/ 4208492 h 6858000"/>
              <a:gd name="connsiteX37" fmla="*/ 267243 w 5434004"/>
              <a:gd name="connsiteY37" fmla="*/ 4120636 h 6858000"/>
              <a:gd name="connsiteX38" fmla="*/ 274676 w 5434004"/>
              <a:gd name="connsiteY38" fmla="*/ 4116556 h 6858000"/>
              <a:gd name="connsiteX39" fmla="*/ 274016 w 5434004"/>
              <a:gd name="connsiteY39" fmla="*/ 4109625 h 6858000"/>
              <a:gd name="connsiteX40" fmla="*/ 266711 w 5434004"/>
              <a:gd name="connsiteY40" fmla="*/ 4105624 h 6858000"/>
              <a:gd name="connsiteX41" fmla="*/ 267360 w 5434004"/>
              <a:gd name="connsiteY41" fmla="*/ 4051441 h 6858000"/>
              <a:gd name="connsiteX42" fmla="*/ 280863 w 5434004"/>
              <a:gd name="connsiteY42" fmla="*/ 3988494 h 6858000"/>
              <a:gd name="connsiteX43" fmla="*/ 254473 w 5434004"/>
              <a:gd name="connsiteY43" fmla="*/ 3926485 h 6858000"/>
              <a:gd name="connsiteX44" fmla="*/ 238942 w 5434004"/>
              <a:gd name="connsiteY44" fmla="*/ 3857057 h 6858000"/>
              <a:gd name="connsiteX45" fmla="*/ 229388 w 5434004"/>
              <a:gd name="connsiteY45" fmla="*/ 3815650 h 6858000"/>
              <a:gd name="connsiteX46" fmla="*/ 224025 w 5434004"/>
              <a:gd name="connsiteY46" fmla="*/ 3696745 h 6858000"/>
              <a:gd name="connsiteX47" fmla="*/ 242028 w 5434004"/>
              <a:gd name="connsiteY47" fmla="*/ 3477814 h 6858000"/>
              <a:gd name="connsiteX48" fmla="*/ 239663 w 5434004"/>
              <a:gd name="connsiteY48" fmla="*/ 3375354 h 6858000"/>
              <a:gd name="connsiteX49" fmla="*/ 242939 w 5434004"/>
              <a:gd name="connsiteY49" fmla="*/ 3235494 h 6858000"/>
              <a:gd name="connsiteX50" fmla="*/ 235466 w 5434004"/>
              <a:gd name="connsiteY50" fmla="*/ 3111896 h 6858000"/>
              <a:gd name="connsiteX51" fmla="*/ 225859 w 5434004"/>
              <a:gd name="connsiteY51" fmla="*/ 3061665 h 6858000"/>
              <a:gd name="connsiteX52" fmla="*/ 214543 w 5434004"/>
              <a:gd name="connsiteY52" fmla="*/ 3026187 h 6858000"/>
              <a:gd name="connsiteX53" fmla="*/ 209002 w 5434004"/>
              <a:gd name="connsiteY53" fmla="*/ 2930097 h 6858000"/>
              <a:gd name="connsiteX54" fmla="*/ 209539 w 5434004"/>
              <a:gd name="connsiteY54" fmla="*/ 2768399 h 6858000"/>
              <a:gd name="connsiteX55" fmla="*/ 207490 w 5434004"/>
              <a:gd name="connsiteY55" fmla="*/ 2734615 h 6858000"/>
              <a:gd name="connsiteX56" fmla="*/ 197130 w 5434004"/>
              <a:gd name="connsiteY56" fmla="*/ 2708116 h 6858000"/>
              <a:gd name="connsiteX57" fmla="*/ 187231 w 5434004"/>
              <a:gd name="connsiteY57" fmla="*/ 2704185 h 6858000"/>
              <a:gd name="connsiteX58" fmla="*/ 184723 w 5434004"/>
              <a:gd name="connsiteY58" fmla="*/ 2686011 h 6858000"/>
              <a:gd name="connsiteX59" fmla="*/ 169929 w 5434004"/>
              <a:gd name="connsiteY59" fmla="*/ 2656504 h 6858000"/>
              <a:gd name="connsiteX60" fmla="*/ 188242 w 5434004"/>
              <a:gd name="connsiteY60" fmla="*/ 2589493 h 6858000"/>
              <a:gd name="connsiteX61" fmla="*/ 189125 w 5434004"/>
              <a:gd name="connsiteY61" fmla="*/ 2457617 h 6858000"/>
              <a:gd name="connsiteX62" fmla="*/ 195205 w 5434004"/>
              <a:gd name="connsiteY62" fmla="*/ 2210817 h 6858000"/>
              <a:gd name="connsiteX63" fmla="*/ 175797 w 5434004"/>
              <a:gd name="connsiteY63" fmla="*/ 1901521 h 6858000"/>
              <a:gd name="connsiteX64" fmla="*/ 156134 w 5434004"/>
              <a:gd name="connsiteY64" fmla="*/ 1700722 h 6858000"/>
              <a:gd name="connsiteX65" fmla="*/ 174157 w 5434004"/>
              <a:gd name="connsiteY65" fmla="*/ 1661610 h 6858000"/>
              <a:gd name="connsiteX66" fmla="*/ 180802 w 5434004"/>
              <a:gd name="connsiteY66" fmla="*/ 1640073 h 6858000"/>
              <a:gd name="connsiteX67" fmla="*/ 179221 w 5434004"/>
              <a:gd name="connsiteY67" fmla="*/ 1637398 h 6858000"/>
              <a:gd name="connsiteX68" fmla="*/ 179826 w 5434004"/>
              <a:gd name="connsiteY68" fmla="*/ 1612248 h 6858000"/>
              <a:gd name="connsiteX69" fmla="*/ 198048 w 5434004"/>
              <a:gd name="connsiteY69" fmla="*/ 1498097 h 6858000"/>
              <a:gd name="connsiteX70" fmla="*/ 196329 w 5434004"/>
              <a:gd name="connsiteY70" fmla="*/ 1497364 h 6858000"/>
              <a:gd name="connsiteX71" fmla="*/ 193204 w 5434004"/>
              <a:gd name="connsiteY71" fmla="*/ 1490042 h 6858000"/>
              <a:gd name="connsiteX72" fmla="*/ 211154 w 5434004"/>
              <a:gd name="connsiteY72" fmla="*/ 1451416 h 6858000"/>
              <a:gd name="connsiteX73" fmla="*/ 247750 w 5434004"/>
              <a:gd name="connsiteY73" fmla="*/ 1281781 h 6858000"/>
              <a:gd name="connsiteX74" fmla="*/ 323114 w 5434004"/>
              <a:gd name="connsiteY74" fmla="*/ 1074754 h 6858000"/>
              <a:gd name="connsiteX75" fmla="*/ 357209 w 5434004"/>
              <a:gd name="connsiteY75" fmla="*/ 1019094 h 6858000"/>
              <a:gd name="connsiteX76" fmla="*/ 393176 w 5434004"/>
              <a:gd name="connsiteY76" fmla="*/ 938921 h 6858000"/>
              <a:gd name="connsiteX77" fmla="*/ 451503 w 5434004"/>
              <a:gd name="connsiteY77" fmla="*/ 815814 h 6858000"/>
              <a:gd name="connsiteX78" fmla="*/ 567587 w 5434004"/>
              <a:gd name="connsiteY78" fmla="*/ 584070 h 6858000"/>
              <a:gd name="connsiteX79" fmla="*/ 592609 w 5434004"/>
              <a:gd name="connsiteY79" fmla="*/ 461805 h 6858000"/>
              <a:gd name="connsiteX80" fmla="*/ 624563 w 5434004"/>
              <a:gd name="connsiteY80" fmla="*/ 360945 h 6858000"/>
              <a:gd name="connsiteX81" fmla="*/ 627056 w 5434004"/>
              <a:gd name="connsiteY81" fmla="*/ 226335 h 6858000"/>
              <a:gd name="connsiteX82" fmla="*/ 655851 w 5434004"/>
              <a:gd name="connsiteY82" fmla="*/ 51690 h 6858000"/>
              <a:gd name="connsiteX83" fmla="*/ 653984 w 5434004"/>
              <a:gd name="connsiteY83" fmla="*/ 22133 h 6858000"/>
              <a:gd name="connsiteX84" fmla="*/ 643279 w 5434004"/>
              <a:gd name="connsiteY84" fmla="*/ 1037 h 6858000"/>
              <a:gd name="connsiteX85" fmla="*/ 643741 w 5434004"/>
              <a:gd name="connsiteY85" fmla="*/ 0 h 6858000"/>
              <a:gd name="connsiteX0" fmla="*/ 487607 w 5277870"/>
              <a:gd name="connsiteY0" fmla="*/ 0 h 6858000"/>
              <a:gd name="connsiteX1" fmla="*/ 5277870 w 5277870"/>
              <a:gd name="connsiteY1" fmla="*/ 0 h 6858000"/>
              <a:gd name="connsiteX2" fmla="*/ 5277870 w 5277870"/>
              <a:gd name="connsiteY2" fmla="*/ 6858000 h 6858000"/>
              <a:gd name="connsiteX3" fmla="*/ 893273 w 5277870"/>
              <a:gd name="connsiteY3" fmla="*/ 6857998 h 6858000"/>
              <a:gd name="connsiteX4" fmla="*/ 876958 w 5277870"/>
              <a:gd name="connsiteY4" fmla="*/ 6843615 h 6858000"/>
              <a:gd name="connsiteX5" fmla="*/ 848451 w 5277870"/>
              <a:gd name="connsiteY5" fmla="*/ 6800899 h 6858000"/>
              <a:gd name="connsiteX6" fmla="*/ 827952 w 5277870"/>
              <a:gd name="connsiteY6" fmla="*/ 6765441 h 6858000"/>
              <a:gd name="connsiteX7" fmla="*/ 799830 w 5277870"/>
              <a:gd name="connsiteY7" fmla="*/ 6739541 h 6858000"/>
              <a:gd name="connsiteX8" fmla="*/ 789686 w 5277870"/>
              <a:gd name="connsiteY8" fmla="*/ 6673829 h 6858000"/>
              <a:gd name="connsiteX9" fmla="*/ 765406 w 5277870"/>
              <a:gd name="connsiteY9" fmla="*/ 6620155 h 6858000"/>
              <a:gd name="connsiteX10" fmla="*/ 720302 w 5277870"/>
              <a:gd name="connsiteY10" fmla="*/ 6610437 h 6858000"/>
              <a:gd name="connsiteX11" fmla="*/ 720839 w 5277870"/>
              <a:gd name="connsiteY11" fmla="*/ 6596307 h 6858000"/>
              <a:gd name="connsiteX12" fmla="*/ 737648 w 5277870"/>
              <a:gd name="connsiteY12" fmla="*/ 6536039 h 6858000"/>
              <a:gd name="connsiteX13" fmla="*/ 674147 w 5277870"/>
              <a:gd name="connsiteY13" fmla="*/ 6239239 h 6858000"/>
              <a:gd name="connsiteX14" fmla="*/ 660239 w 5277870"/>
              <a:gd name="connsiteY14" fmla="*/ 6116986 h 6858000"/>
              <a:gd name="connsiteX15" fmla="*/ 632472 w 5277870"/>
              <a:gd name="connsiteY15" fmla="*/ 5895434 h 6858000"/>
              <a:gd name="connsiteX16" fmla="*/ 606181 w 5277870"/>
              <a:gd name="connsiteY16" fmla="*/ 5848019 h 6858000"/>
              <a:gd name="connsiteX17" fmla="*/ 558708 w 5277870"/>
              <a:gd name="connsiteY17" fmla="*/ 5722306 h 6858000"/>
              <a:gd name="connsiteX18" fmla="*/ 523366 w 5277870"/>
              <a:gd name="connsiteY18" fmla="*/ 5528085 h 6858000"/>
              <a:gd name="connsiteX19" fmla="*/ 504822 w 5277870"/>
              <a:gd name="connsiteY19" fmla="*/ 5506768 h 6858000"/>
              <a:gd name="connsiteX20" fmla="*/ 486823 w 5277870"/>
              <a:gd name="connsiteY20" fmla="*/ 5473318 h 6858000"/>
              <a:gd name="connsiteX21" fmla="*/ 445965 w 5277870"/>
              <a:gd name="connsiteY21" fmla="*/ 5418521 h 6858000"/>
              <a:gd name="connsiteX22" fmla="*/ 406875 w 5277870"/>
              <a:gd name="connsiteY22" fmla="*/ 5337536 h 6858000"/>
              <a:gd name="connsiteX23" fmla="*/ 428541 w 5277870"/>
              <a:gd name="connsiteY23" fmla="*/ 5255190 h 6858000"/>
              <a:gd name="connsiteX24" fmla="*/ 408744 w 5277870"/>
              <a:gd name="connsiteY24" fmla="*/ 5208171 h 6858000"/>
              <a:gd name="connsiteX25" fmla="*/ 384011 w 5277870"/>
              <a:gd name="connsiteY25" fmla="*/ 4993731 h 6858000"/>
              <a:gd name="connsiteX26" fmla="*/ 355965 w 5277870"/>
              <a:gd name="connsiteY26" fmla="*/ 4896399 h 6858000"/>
              <a:gd name="connsiteX27" fmla="*/ 326244 w 5277870"/>
              <a:gd name="connsiteY27" fmla="*/ 4838613 h 6858000"/>
              <a:gd name="connsiteX28" fmla="*/ 312542 w 5277870"/>
              <a:gd name="connsiteY28" fmla="*/ 4796522 h 6858000"/>
              <a:gd name="connsiteX29" fmla="*/ 274747 w 5277870"/>
              <a:gd name="connsiteY29" fmla="*/ 4672370 h 6858000"/>
              <a:gd name="connsiteX30" fmla="*/ 259158 w 5277870"/>
              <a:gd name="connsiteY30" fmla="*/ 4634253 h 6858000"/>
              <a:gd name="connsiteX31" fmla="*/ 192785 w 5277870"/>
              <a:gd name="connsiteY31" fmla="*/ 4549232 h 6858000"/>
              <a:gd name="connsiteX32" fmla="*/ 136304 w 5277870"/>
              <a:gd name="connsiteY32" fmla="*/ 4479912 h 6858000"/>
              <a:gd name="connsiteX33" fmla="*/ 127433 w 5277870"/>
              <a:gd name="connsiteY33" fmla="*/ 4376609 h 6858000"/>
              <a:gd name="connsiteX34" fmla="*/ 90884 w 5277870"/>
              <a:gd name="connsiteY34" fmla="*/ 4280257 h 6858000"/>
              <a:gd name="connsiteX35" fmla="*/ 87020 w 5277870"/>
              <a:gd name="connsiteY35" fmla="*/ 4208492 h 6858000"/>
              <a:gd name="connsiteX36" fmla="*/ 111109 w 5277870"/>
              <a:gd name="connsiteY36" fmla="*/ 4120636 h 6858000"/>
              <a:gd name="connsiteX37" fmla="*/ 118542 w 5277870"/>
              <a:gd name="connsiteY37" fmla="*/ 4116556 h 6858000"/>
              <a:gd name="connsiteX38" fmla="*/ 117882 w 5277870"/>
              <a:gd name="connsiteY38" fmla="*/ 4109625 h 6858000"/>
              <a:gd name="connsiteX39" fmla="*/ 110577 w 5277870"/>
              <a:gd name="connsiteY39" fmla="*/ 4105624 h 6858000"/>
              <a:gd name="connsiteX40" fmla="*/ 111226 w 5277870"/>
              <a:gd name="connsiteY40" fmla="*/ 4051441 h 6858000"/>
              <a:gd name="connsiteX41" fmla="*/ 124729 w 5277870"/>
              <a:gd name="connsiteY41" fmla="*/ 3988494 h 6858000"/>
              <a:gd name="connsiteX42" fmla="*/ 98339 w 5277870"/>
              <a:gd name="connsiteY42" fmla="*/ 3926485 h 6858000"/>
              <a:gd name="connsiteX43" fmla="*/ 82808 w 5277870"/>
              <a:gd name="connsiteY43" fmla="*/ 3857057 h 6858000"/>
              <a:gd name="connsiteX44" fmla="*/ 73254 w 5277870"/>
              <a:gd name="connsiteY44" fmla="*/ 3815650 h 6858000"/>
              <a:gd name="connsiteX45" fmla="*/ 67891 w 5277870"/>
              <a:gd name="connsiteY45" fmla="*/ 3696745 h 6858000"/>
              <a:gd name="connsiteX46" fmla="*/ 85894 w 5277870"/>
              <a:gd name="connsiteY46" fmla="*/ 3477814 h 6858000"/>
              <a:gd name="connsiteX47" fmla="*/ 83529 w 5277870"/>
              <a:gd name="connsiteY47" fmla="*/ 3375354 h 6858000"/>
              <a:gd name="connsiteX48" fmla="*/ 86805 w 5277870"/>
              <a:gd name="connsiteY48" fmla="*/ 3235494 h 6858000"/>
              <a:gd name="connsiteX49" fmla="*/ 79332 w 5277870"/>
              <a:gd name="connsiteY49" fmla="*/ 3111896 h 6858000"/>
              <a:gd name="connsiteX50" fmla="*/ 69725 w 5277870"/>
              <a:gd name="connsiteY50" fmla="*/ 3061665 h 6858000"/>
              <a:gd name="connsiteX51" fmla="*/ 58409 w 5277870"/>
              <a:gd name="connsiteY51" fmla="*/ 3026187 h 6858000"/>
              <a:gd name="connsiteX52" fmla="*/ 52868 w 5277870"/>
              <a:gd name="connsiteY52" fmla="*/ 2930097 h 6858000"/>
              <a:gd name="connsiteX53" fmla="*/ 53405 w 5277870"/>
              <a:gd name="connsiteY53" fmla="*/ 2768399 h 6858000"/>
              <a:gd name="connsiteX54" fmla="*/ 51356 w 5277870"/>
              <a:gd name="connsiteY54" fmla="*/ 2734615 h 6858000"/>
              <a:gd name="connsiteX55" fmla="*/ 40996 w 5277870"/>
              <a:gd name="connsiteY55" fmla="*/ 2708116 h 6858000"/>
              <a:gd name="connsiteX56" fmla="*/ 31097 w 5277870"/>
              <a:gd name="connsiteY56" fmla="*/ 2704185 h 6858000"/>
              <a:gd name="connsiteX57" fmla="*/ 28589 w 5277870"/>
              <a:gd name="connsiteY57" fmla="*/ 2686011 h 6858000"/>
              <a:gd name="connsiteX58" fmla="*/ 13795 w 5277870"/>
              <a:gd name="connsiteY58" fmla="*/ 2656504 h 6858000"/>
              <a:gd name="connsiteX59" fmla="*/ 32108 w 5277870"/>
              <a:gd name="connsiteY59" fmla="*/ 2589493 h 6858000"/>
              <a:gd name="connsiteX60" fmla="*/ 32991 w 5277870"/>
              <a:gd name="connsiteY60" fmla="*/ 2457617 h 6858000"/>
              <a:gd name="connsiteX61" fmla="*/ 39071 w 5277870"/>
              <a:gd name="connsiteY61" fmla="*/ 2210817 h 6858000"/>
              <a:gd name="connsiteX62" fmla="*/ 19663 w 5277870"/>
              <a:gd name="connsiteY62" fmla="*/ 1901521 h 6858000"/>
              <a:gd name="connsiteX63" fmla="*/ 0 w 5277870"/>
              <a:gd name="connsiteY63" fmla="*/ 1700722 h 6858000"/>
              <a:gd name="connsiteX64" fmla="*/ 18023 w 5277870"/>
              <a:gd name="connsiteY64" fmla="*/ 1661610 h 6858000"/>
              <a:gd name="connsiteX65" fmla="*/ 24668 w 5277870"/>
              <a:gd name="connsiteY65" fmla="*/ 1640073 h 6858000"/>
              <a:gd name="connsiteX66" fmla="*/ 23087 w 5277870"/>
              <a:gd name="connsiteY66" fmla="*/ 1637398 h 6858000"/>
              <a:gd name="connsiteX67" fmla="*/ 23692 w 5277870"/>
              <a:gd name="connsiteY67" fmla="*/ 1612248 h 6858000"/>
              <a:gd name="connsiteX68" fmla="*/ 41914 w 5277870"/>
              <a:gd name="connsiteY68" fmla="*/ 1498097 h 6858000"/>
              <a:gd name="connsiteX69" fmla="*/ 40195 w 5277870"/>
              <a:gd name="connsiteY69" fmla="*/ 1497364 h 6858000"/>
              <a:gd name="connsiteX70" fmla="*/ 37070 w 5277870"/>
              <a:gd name="connsiteY70" fmla="*/ 1490042 h 6858000"/>
              <a:gd name="connsiteX71" fmla="*/ 55020 w 5277870"/>
              <a:gd name="connsiteY71" fmla="*/ 1451416 h 6858000"/>
              <a:gd name="connsiteX72" fmla="*/ 91616 w 5277870"/>
              <a:gd name="connsiteY72" fmla="*/ 1281781 h 6858000"/>
              <a:gd name="connsiteX73" fmla="*/ 166980 w 5277870"/>
              <a:gd name="connsiteY73" fmla="*/ 1074754 h 6858000"/>
              <a:gd name="connsiteX74" fmla="*/ 201075 w 5277870"/>
              <a:gd name="connsiteY74" fmla="*/ 1019094 h 6858000"/>
              <a:gd name="connsiteX75" fmla="*/ 237042 w 5277870"/>
              <a:gd name="connsiteY75" fmla="*/ 938921 h 6858000"/>
              <a:gd name="connsiteX76" fmla="*/ 295369 w 5277870"/>
              <a:gd name="connsiteY76" fmla="*/ 815814 h 6858000"/>
              <a:gd name="connsiteX77" fmla="*/ 411453 w 5277870"/>
              <a:gd name="connsiteY77" fmla="*/ 584070 h 6858000"/>
              <a:gd name="connsiteX78" fmla="*/ 436475 w 5277870"/>
              <a:gd name="connsiteY78" fmla="*/ 461805 h 6858000"/>
              <a:gd name="connsiteX79" fmla="*/ 468429 w 5277870"/>
              <a:gd name="connsiteY79" fmla="*/ 360945 h 6858000"/>
              <a:gd name="connsiteX80" fmla="*/ 470922 w 5277870"/>
              <a:gd name="connsiteY80" fmla="*/ 226335 h 6858000"/>
              <a:gd name="connsiteX81" fmla="*/ 499717 w 5277870"/>
              <a:gd name="connsiteY81" fmla="*/ 51690 h 6858000"/>
              <a:gd name="connsiteX82" fmla="*/ 497850 w 5277870"/>
              <a:gd name="connsiteY82" fmla="*/ 22133 h 6858000"/>
              <a:gd name="connsiteX83" fmla="*/ 487145 w 5277870"/>
              <a:gd name="connsiteY83" fmla="*/ 1037 h 6858000"/>
              <a:gd name="connsiteX84" fmla="*/ 487607 w 5277870"/>
              <a:gd name="connsiteY8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277870" h="6858000">
                <a:moveTo>
                  <a:pt x="487607" y="0"/>
                </a:moveTo>
                <a:lnTo>
                  <a:pt x="5277870" y="0"/>
                </a:lnTo>
                <a:lnTo>
                  <a:pt x="5277870" y="6858000"/>
                </a:lnTo>
                <a:lnTo>
                  <a:pt x="893273" y="6857998"/>
                </a:lnTo>
                <a:lnTo>
                  <a:pt x="876958" y="6843615"/>
                </a:lnTo>
                <a:lnTo>
                  <a:pt x="848451" y="6800899"/>
                </a:lnTo>
                <a:lnTo>
                  <a:pt x="827952" y="6765441"/>
                </a:lnTo>
                <a:cubicBezTo>
                  <a:pt x="827507" y="6750832"/>
                  <a:pt x="798355" y="6753978"/>
                  <a:pt x="799830" y="6739541"/>
                </a:cubicBezTo>
                <a:cubicBezTo>
                  <a:pt x="786503" y="6723280"/>
                  <a:pt x="803673" y="6682742"/>
                  <a:pt x="789686" y="6673829"/>
                </a:cubicBezTo>
                <a:cubicBezTo>
                  <a:pt x="776006" y="6657903"/>
                  <a:pt x="778015" y="6625745"/>
                  <a:pt x="765406" y="6620155"/>
                </a:cubicBezTo>
                <a:lnTo>
                  <a:pt x="720302" y="6610437"/>
                </a:lnTo>
                <a:lnTo>
                  <a:pt x="720839" y="6596307"/>
                </a:lnTo>
                <a:lnTo>
                  <a:pt x="737648" y="6536039"/>
                </a:lnTo>
                <a:cubicBezTo>
                  <a:pt x="731713" y="6378236"/>
                  <a:pt x="664893" y="6350780"/>
                  <a:pt x="674147" y="6239239"/>
                </a:cubicBezTo>
                <a:cubicBezTo>
                  <a:pt x="668193" y="6196030"/>
                  <a:pt x="677776" y="6168747"/>
                  <a:pt x="660239" y="6116986"/>
                </a:cubicBezTo>
                <a:cubicBezTo>
                  <a:pt x="693882" y="6035788"/>
                  <a:pt x="626477" y="5971885"/>
                  <a:pt x="632472" y="5895434"/>
                </a:cubicBezTo>
                <a:cubicBezTo>
                  <a:pt x="571936" y="5884249"/>
                  <a:pt x="624704" y="5880776"/>
                  <a:pt x="606181" y="5848019"/>
                </a:cubicBezTo>
                <a:cubicBezTo>
                  <a:pt x="593885" y="5819164"/>
                  <a:pt x="572509" y="5775628"/>
                  <a:pt x="558708" y="5722306"/>
                </a:cubicBezTo>
                <a:cubicBezTo>
                  <a:pt x="551746" y="5685812"/>
                  <a:pt x="532346" y="5564008"/>
                  <a:pt x="523366" y="5528085"/>
                </a:cubicBezTo>
                <a:cubicBezTo>
                  <a:pt x="518594" y="5519172"/>
                  <a:pt x="523045" y="5505250"/>
                  <a:pt x="504822" y="5506768"/>
                </a:cubicBezTo>
                <a:cubicBezTo>
                  <a:pt x="482648" y="5506487"/>
                  <a:pt x="511311" y="5459433"/>
                  <a:pt x="486823" y="5473318"/>
                </a:cubicBezTo>
                <a:cubicBezTo>
                  <a:pt x="506358" y="5440194"/>
                  <a:pt x="459463" y="5435836"/>
                  <a:pt x="445965" y="5418521"/>
                </a:cubicBezTo>
                <a:cubicBezTo>
                  <a:pt x="465954" y="5390815"/>
                  <a:pt x="417921" y="5381811"/>
                  <a:pt x="406875" y="5337536"/>
                </a:cubicBezTo>
                <a:cubicBezTo>
                  <a:pt x="430123" y="5306619"/>
                  <a:pt x="399081" y="5307846"/>
                  <a:pt x="428541" y="5255190"/>
                </a:cubicBezTo>
                <a:cubicBezTo>
                  <a:pt x="428852" y="5233629"/>
                  <a:pt x="407502" y="5247189"/>
                  <a:pt x="408744" y="5208171"/>
                </a:cubicBezTo>
                <a:cubicBezTo>
                  <a:pt x="406613" y="5154483"/>
                  <a:pt x="390295" y="5051554"/>
                  <a:pt x="384011" y="4993731"/>
                </a:cubicBezTo>
                <a:cubicBezTo>
                  <a:pt x="373186" y="4967089"/>
                  <a:pt x="370884" y="4912140"/>
                  <a:pt x="355965" y="4896399"/>
                </a:cubicBezTo>
                <a:cubicBezTo>
                  <a:pt x="355837" y="4852829"/>
                  <a:pt x="351078" y="4813709"/>
                  <a:pt x="326244" y="4838613"/>
                </a:cubicBezTo>
                <a:cubicBezTo>
                  <a:pt x="299018" y="4831439"/>
                  <a:pt x="336627" y="4804968"/>
                  <a:pt x="312542" y="4796522"/>
                </a:cubicBezTo>
                <a:lnTo>
                  <a:pt x="274747" y="4672370"/>
                </a:lnTo>
                <a:cubicBezTo>
                  <a:pt x="286762" y="4649487"/>
                  <a:pt x="276585" y="4640072"/>
                  <a:pt x="259158" y="4634253"/>
                </a:cubicBezTo>
                <a:cubicBezTo>
                  <a:pt x="255297" y="4595381"/>
                  <a:pt x="210632" y="4586807"/>
                  <a:pt x="192785" y="4549232"/>
                </a:cubicBezTo>
                <a:cubicBezTo>
                  <a:pt x="175514" y="4501329"/>
                  <a:pt x="155204" y="4520147"/>
                  <a:pt x="136304" y="4479912"/>
                </a:cubicBezTo>
                <a:lnTo>
                  <a:pt x="127433" y="4376609"/>
                </a:lnTo>
                <a:cubicBezTo>
                  <a:pt x="119863" y="4343333"/>
                  <a:pt x="97619" y="4308276"/>
                  <a:pt x="90884" y="4280257"/>
                </a:cubicBezTo>
                <a:cubicBezTo>
                  <a:pt x="94219" y="4220025"/>
                  <a:pt x="104684" y="4233011"/>
                  <a:pt x="87020" y="4208492"/>
                </a:cubicBezTo>
                <a:cubicBezTo>
                  <a:pt x="95065" y="4180444"/>
                  <a:pt x="129022" y="4152083"/>
                  <a:pt x="111109" y="4120636"/>
                </a:cubicBezTo>
                <a:cubicBezTo>
                  <a:pt x="115978" y="4121934"/>
                  <a:pt x="117998" y="4120145"/>
                  <a:pt x="118542" y="4116556"/>
                </a:cubicBezTo>
                <a:cubicBezTo>
                  <a:pt x="118321" y="4114246"/>
                  <a:pt x="118101" y="4111935"/>
                  <a:pt x="117882" y="4109625"/>
                </a:cubicBezTo>
                <a:lnTo>
                  <a:pt x="110577" y="4105624"/>
                </a:lnTo>
                <a:cubicBezTo>
                  <a:pt x="85114" y="4088878"/>
                  <a:pt x="113587" y="4082596"/>
                  <a:pt x="111226" y="4051441"/>
                </a:cubicBezTo>
                <a:cubicBezTo>
                  <a:pt x="111638" y="4036628"/>
                  <a:pt x="118512" y="3985548"/>
                  <a:pt x="124729" y="3988494"/>
                </a:cubicBezTo>
                <a:lnTo>
                  <a:pt x="98339" y="3926485"/>
                </a:lnTo>
                <a:cubicBezTo>
                  <a:pt x="120456" y="3887663"/>
                  <a:pt x="82381" y="3893685"/>
                  <a:pt x="82808" y="3857057"/>
                </a:cubicBezTo>
                <a:cubicBezTo>
                  <a:pt x="89625" y="3836374"/>
                  <a:pt x="88641" y="3824518"/>
                  <a:pt x="73254" y="3815650"/>
                </a:cubicBezTo>
                <a:cubicBezTo>
                  <a:pt x="107452" y="3718923"/>
                  <a:pt x="64680" y="3772318"/>
                  <a:pt x="67891" y="3696745"/>
                </a:cubicBezTo>
                <a:cubicBezTo>
                  <a:pt x="73347" y="3630391"/>
                  <a:pt x="83288" y="3531379"/>
                  <a:pt x="85894" y="3477814"/>
                </a:cubicBezTo>
                <a:cubicBezTo>
                  <a:pt x="88500" y="3424249"/>
                  <a:pt x="86217" y="3377198"/>
                  <a:pt x="83529" y="3375354"/>
                </a:cubicBezTo>
                <a:cubicBezTo>
                  <a:pt x="83101" y="3339059"/>
                  <a:pt x="90016" y="3285266"/>
                  <a:pt x="86805" y="3235494"/>
                </a:cubicBezTo>
                <a:cubicBezTo>
                  <a:pt x="78762" y="3207446"/>
                  <a:pt x="61419" y="3143345"/>
                  <a:pt x="79332" y="3111896"/>
                </a:cubicBezTo>
                <a:cubicBezTo>
                  <a:pt x="59856" y="3117096"/>
                  <a:pt x="85974" y="3072872"/>
                  <a:pt x="69725" y="3061665"/>
                </a:cubicBezTo>
                <a:cubicBezTo>
                  <a:pt x="56184" y="3054621"/>
                  <a:pt x="60953" y="3039562"/>
                  <a:pt x="58409" y="3026187"/>
                </a:cubicBezTo>
                <a:cubicBezTo>
                  <a:pt x="45869" y="3013333"/>
                  <a:pt x="46112" y="2950064"/>
                  <a:pt x="52868" y="2930097"/>
                </a:cubicBezTo>
                <a:cubicBezTo>
                  <a:pt x="80421" y="2876459"/>
                  <a:pt x="32874" y="2811741"/>
                  <a:pt x="53405" y="2768399"/>
                </a:cubicBezTo>
                <a:cubicBezTo>
                  <a:pt x="54801" y="2755814"/>
                  <a:pt x="53816" y="2744722"/>
                  <a:pt x="51356" y="2734615"/>
                </a:cubicBezTo>
                <a:lnTo>
                  <a:pt x="40996" y="2708116"/>
                </a:lnTo>
                <a:lnTo>
                  <a:pt x="31097" y="2704185"/>
                </a:lnTo>
                <a:lnTo>
                  <a:pt x="28589" y="2686011"/>
                </a:lnTo>
                <a:lnTo>
                  <a:pt x="13795" y="2656504"/>
                </a:lnTo>
                <a:cubicBezTo>
                  <a:pt x="56166" y="2648211"/>
                  <a:pt x="-6214" y="2580540"/>
                  <a:pt x="32108" y="2589493"/>
                </a:cubicBezTo>
                <a:cubicBezTo>
                  <a:pt x="22039" y="2539863"/>
                  <a:pt x="41060" y="2531259"/>
                  <a:pt x="32991" y="2457617"/>
                </a:cubicBezTo>
                <a:cubicBezTo>
                  <a:pt x="45635" y="2365891"/>
                  <a:pt x="40786" y="2284833"/>
                  <a:pt x="39071" y="2210817"/>
                </a:cubicBezTo>
                <a:cubicBezTo>
                  <a:pt x="39941" y="2106412"/>
                  <a:pt x="22396" y="1993081"/>
                  <a:pt x="19663" y="1901521"/>
                </a:cubicBezTo>
                <a:cubicBezTo>
                  <a:pt x="10670" y="1826286"/>
                  <a:pt x="4249" y="1796783"/>
                  <a:pt x="0" y="1700722"/>
                </a:cubicBezTo>
                <a:cubicBezTo>
                  <a:pt x="5587" y="1695223"/>
                  <a:pt x="14814" y="1668682"/>
                  <a:pt x="18023" y="1661610"/>
                </a:cubicBezTo>
                <a:lnTo>
                  <a:pt x="24668" y="1640073"/>
                </a:lnTo>
                <a:lnTo>
                  <a:pt x="23087" y="1637398"/>
                </a:lnTo>
                <a:cubicBezTo>
                  <a:pt x="19812" y="1625364"/>
                  <a:pt x="20811" y="1617807"/>
                  <a:pt x="23692" y="1612248"/>
                </a:cubicBezTo>
                <a:lnTo>
                  <a:pt x="41914" y="1498097"/>
                </a:lnTo>
                <a:lnTo>
                  <a:pt x="40195" y="1497364"/>
                </a:lnTo>
                <a:lnTo>
                  <a:pt x="37070" y="1490042"/>
                </a:lnTo>
                <a:lnTo>
                  <a:pt x="55020" y="1451416"/>
                </a:lnTo>
                <a:cubicBezTo>
                  <a:pt x="73102" y="1417430"/>
                  <a:pt x="80421" y="1313985"/>
                  <a:pt x="91616" y="1281781"/>
                </a:cubicBezTo>
                <a:cubicBezTo>
                  <a:pt x="137974" y="1171345"/>
                  <a:pt x="146547" y="1130634"/>
                  <a:pt x="166980" y="1074754"/>
                </a:cubicBezTo>
                <a:cubicBezTo>
                  <a:pt x="181651" y="1040817"/>
                  <a:pt x="190408" y="1034723"/>
                  <a:pt x="201075" y="1019094"/>
                </a:cubicBezTo>
                <a:cubicBezTo>
                  <a:pt x="207201" y="1005265"/>
                  <a:pt x="260932" y="958184"/>
                  <a:pt x="237042" y="938921"/>
                </a:cubicBezTo>
                <a:cubicBezTo>
                  <a:pt x="287348" y="869297"/>
                  <a:pt x="265291" y="876942"/>
                  <a:pt x="295369" y="815814"/>
                </a:cubicBezTo>
                <a:cubicBezTo>
                  <a:pt x="329951" y="751141"/>
                  <a:pt x="383834" y="609442"/>
                  <a:pt x="411453" y="584070"/>
                </a:cubicBezTo>
                <a:cubicBezTo>
                  <a:pt x="438653" y="530431"/>
                  <a:pt x="423178" y="516020"/>
                  <a:pt x="436475" y="461805"/>
                </a:cubicBezTo>
                <a:cubicBezTo>
                  <a:pt x="454281" y="438996"/>
                  <a:pt x="448264" y="386523"/>
                  <a:pt x="468429" y="360945"/>
                </a:cubicBezTo>
                <a:cubicBezTo>
                  <a:pt x="474686" y="267247"/>
                  <a:pt x="468220" y="285413"/>
                  <a:pt x="470922" y="226335"/>
                </a:cubicBezTo>
                <a:cubicBezTo>
                  <a:pt x="481883" y="180653"/>
                  <a:pt x="495229" y="85724"/>
                  <a:pt x="499717" y="51690"/>
                </a:cubicBezTo>
                <a:cubicBezTo>
                  <a:pt x="482601" y="39734"/>
                  <a:pt x="492651" y="34426"/>
                  <a:pt x="497850" y="22133"/>
                </a:cubicBezTo>
                <a:cubicBezTo>
                  <a:pt x="482148" y="14444"/>
                  <a:pt x="483752" y="7720"/>
                  <a:pt x="487145" y="1037"/>
                </a:cubicBezTo>
                <a:lnTo>
                  <a:pt x="48760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4C2E3DC-741D-D8E3-8CFD-D2FF5897D66C}"/>
              </a:ext>
            </a:extLst>
          </p:cNvPr>
          <p:cNvSpPr>
            <a:spLocks noGrp="1"/>
          </p:cNvSpPr>
          <p:nvPr>
            <p:ph type="title"/>
          </p:nvPr>
        </p:nvSpPr>
        <p:spPr>
          <a:xfrm>
            <a:off x="709684" y="1562100"/>
            <a:ext cx="3795642" cy="3733800"/>
          </a:xfrm>
        </p:spPr>
        <p:txBody>
          <a:bodyPr>
            <a:normAutofit/>
          </a:bodyPr>
          <a:lstStyle/>
          <a:p>
            <a:pPr algn="ctr"/>
            <a:r>
              <a:rPr lang="en-US">
                <a:solidFill>
                  <a:schemeClr val="tx1">
                    <a:lumMod val="85000"/>
                    <a:lumOff val="15000"/>
                  </a:schemeClr>
                </a:solidFill>
              </a:rPr>
              <a:t>Background: What is Generative Model?</a:t>
            </a:r>
          </a:p>
        </p:txBody>
      </p:sp>
      <p:sp>
        <p:nvSpPr>
          <p:cNvPr id="3" name="Content Placeholder 2">
            <a:extLst>
              <a:ext uri="{FF2B5EF4-FFF2-40B4-BE49-F238E27FC236}">
                <a16:creationId xmlns:a16="http://schemas.microsoft.com/office/drawing/2014/main" id="{6604D87C-F841-07DB-2B1B-60C0FC3715A8}"/>
              </a:ext>
            </a:extLst>
          </p:cNvPr>
          <p:cNvSpPr>
            <a:spLocks noGrp="1"/>
          </p:cNvSpPr>
          <p:nvPr>
            <p:ph idx="1"/>
          </p:nvPr>
        </p:nvSpPr>
        <p:spPr>
          <a:xfrm>
            <a:off x="6096000" y="556533"/>
            <a:ext cx="5135592" cy="5935435"/>
          </a:xfrm>
        </p:spPr>
        <p:txBody>
          <a:bodyPr anchor="ctr">
            <a:normAutofit/>
          </a:bodyPr>
          <a:lstStyle/>
          <a:p>
            <a:r>
              <a:rPr lang="en-US" sz="2000" dirty="0"/>
              <a:t>Supervised vs. Unsupervised Learning</a:t>
            </a:r>
            <a:endParaRPr lang="en-US" sz="2000">
              <a:cs typeface="Calibri"/>
            </a:endParaRPr>
          </a:p>
          <a:p>
            <a:r>
              <a:rPr lang="en-US" sz="2000" dirty="0"/>
              <a:t>Examples of supervised learning problems include classification and regression, and examples of supervised learning algorithms include logistic regression and random forest.</a:t>
            </a:r>
            <a:endParaRPr lang="en-US" sz="2000" b="1" dirty="0">
              <a:solidFill>
                <a:srgbClr val="222222"/>
              </a:solidFill>
              <a:latin typeface="Calibri"/>
              <a:ea typeface="Roboto"/>
              <a:cs typeface="Calibri"/>
            </a:endParaRPr>
          </a:p>
          <a:p>
            <a:r>
              <a:rPr lang="en-US" sz="2200" dirty="0"/>
              <a:t>Examples of unsupervised learning problems include clustering and generative modeling, and examples of unsupervised learning algorithms are K-means and Generative Adversarial Networks.</a:t>
            </a:r>
            <a:endParaRPr lang="en-US" sz="2000" dirty="0">
              <a:solidFill>
                <a:srgbClr val="000000"/>
              </a:solidFill>
              <a:latin typeface="Calibri"/>
              <a:ea typeface="Roboto"/>
              <a:cs typeface="Calibri"/>
            </a:endParaRPr>
          </a:p>
          <a:p>
            <a:r>
              <a:rPr lang="en-US" sz="2000" b="0" i="0" dirty="0">
                <a:solidFill>
                  <a:schemeClr val="tx1">
                    <a:lumMod val="85000"/>
                    <a:lumOff val="15000"/>
                  </a:schemeClr>
                </a:solidFill>
                <a:effectLst/>
                <a:latin typeface="Roboto"/>
                <a:ea typeface="Roboto"/>
                <a:cs typeface="Roboto"/>
              </a:rPr>
              <a:t>More formally, given a set of data instances X and a set of labels Y:</a:t>
            </a:r>
          </a:p>
          <a:p>
            <a:pPr lvl="1"/>
            <a:r>
              <a:rPr lang="en-US" sz="2000" b="1" i="0" dirty="0">
                <a:solidFill>
                  <a:schemeClr val="tx1">
                    <a:lumMod val="85000"/>
                    <a:lumOff val="15000"/>
                  </a:schemeClr>
                </a:solidFill>
                <a:effectLst/>
                <a:latin typeface="Roboto"/>
                <a:ea typeface="Roboto"/>
                <a:cs typeface="Roboto"/>
              </a:rPr>
              <a:t>Generative</a:t>
            </a:r>
            <a:r>
              <a:rPr lang="en-US" sz="2000" b="0" i="0" dirty="0">
                <a:solidFill>
                  <a:schemeClr val="tx1">
                    <a:lumMod val="85000"/>
                    <a:lumOff val="15000"/>
                  </a:schemeClr>
                </a:solidFill>
                <a:effectLst/>
                <a:latin typeface="Roboto"/>
                <a:ea typeface="Roboto"/>
                <a:cs typeface="Roboto"/>
              </a:rPr>
              <a:t> models capture the joint probability p(X, Y), or just p(X) if there are no labels.</a:t>
            </a:r>
          </a:p>
          <a:p>
            <a:pPr lvl="1"/>
            <a:r>
              <a:rPr lang="en-US" sz="2000" b="1" i="0" dirty="0">
                <a:solidFill>
                  <a:schemeClr val="tx1">
                    <a:lumMod val="85000"/>
                    <a:lumOff val="15000"/>
                  </a:schemeClr>
                </a:solidFill>
                <a:effectLst/>
                <a:latin typeface="Roboto"/>
                <a:ea typeface="Roboto"/>
                <a:cs typeface="Roboto"/>
              </a:rPr>
              <a:t>Discriminative</a:t>
            </a:r>
            <a:r>
              <a:rPr lang="en-US" sz="2000" b="0" i="0" dirty="0">
                <a:solidFill>
                  <a:schemeClr val="tx1">
                    <a:lumMod val="85000"/>
                    <a:lumOff val="15000"/>
                  </a:schemeClr>
                </a:solidFill>
                <a:effectLst/>
                <a:latin typeface="Roboto"/>
                <a:ea typeface="Roboto"/>
                <a:cs typeface="Roboto"/>
              </a:rPr>
              <a:t> models capture the conditional probability p(Y | X).</a:t>
            </a:r>
          </a:p>
          <a:p>
            <a:pPr marL="0" indent="0">
              <a:buNone/>
            </a:pPr>
            <a:endParaRPr lang="en-US" sz="2000">
              <a:solidFill>
                <a:schemeClr val="tx1">
                  <a:lumMod val="85000"/>
                  <a:lumOff val="15000"/>
                </a:schemeClr>
              </a:solidFill>
            </a:endParaRPr>
          </a:p>
        </p:txBody>
      </p:sp>
      <p:sp>
        <p:nvSpPr>
          <p:cNvPr id="7" name="TextBox 6">
            <a:extLst>
              <a:ext uri="{FF2B5EF4-FFF2-40B4-BE49-F238E27FC236}">
                <a16:creationId xmlns:a16="http://schemas.microsoft.com/office/drawing/2014/main" id="{B84E9237-53D7-95AD-8EB5-1227175B7FB0}"/>
              </a:ext>
            </a:extLst>
          </p:cNvPr>
          <p:cNvSpPr txBox="1"/>
          <p:nvPr/>
        </p:nvSpPr>
        <p:spPr>
          <a:xfrm>
            <a:off x="251046" y="5981674"/>
            <a:ext cx="5026914" cy="523220"/>
          </a:xfrm>
          <a:prstGeom prst="rect">
            <a:avLst/>
          </a:prstGeom>
          <a:noFill/>
        </p:spPr>
        <p:txBody>
          <a:bodyPr wrap="square">
            <a:spAutoFit/>
          </a:bodyPr>
          <a:lstStyle/>
          <a:p>
            <a:r>
              <a:rPr kumimoji="0" lang="en-US" altLang="en-US" sz="2800" b="1" i="0" u="none" strike="noStrike" cap="none" normalizeH="0" baseline="0" dirty="0">
                <a:ln>
                  <a:noFill/>
                </a:ln>
                <a:solidFill>
                  <a:srgbClr val="202124"/>
                </a:solidFill>
                <a:effectLst/>
                <a:latin typeface="Arial" panose="020B0604020202020204" pitchFamily="34" charset="0"/>
              </a:rPr>
              <a:t>Generative Models Are Hard</a:t>
            </a:r>
            <a:endParaRPr lang="en-US" sz="2800" dirty="0"/>
          </a:p>
        </p:txBody>
      </p:sp>
      <p:pic>
        <p:nvPicPr>
          <p:cNvPr id="4" name="Picture 3">
            <a:extLst>
              <a:ext uri="{FF2B5EF4-FFF2-40B4-BE49-F238E27FC236}">
                <a16:creationId xmlns:a16="http://schemas.microsoft.com/office/drawing/2014/main" id="{FC1FDC7A-5103-B3DD-A841-C47F3145EEBD}"/>
              </a:ext>
            </a:extLst>
          </p:cNvPr>
          <p:cNvPicPr>
            <a:picLocks noChangeAspect="1"/>
          </p:cNvPicPr>
          <p:nvPr/>
        </p:nvPicPr>
        <p:blipFill>
          <a:blip r:embed="rId3"/>
          <a:stretch>
            <a:fillRect/>
          </a:stretch>
        </p:blipFill>
        <p:spPr>
          <a:xfrm>
            <a:off x="173934" y="109653"/>
            <a:ext cx="3956748" cy="581538"/>
          </a:xfrm>
          <a:prstGeom prst="rect">
            <a:avLst/>
          </a:prstGeom>
        </p:spPr>
      </p:pic>
    </p:spTree>
    <p:extLst>
      <p:ext uri="{BB962C8B-B14F-4D97-AF65-F5344CB8AC3E}">
        <p14:creationId xmlns:p14="http://schemas.microsoft.com/office/powerpoint/2010/main" val="57000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3088" name="Rectangle 3087">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0" name="Rectangle 308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2" name="Rectangle 309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80BB75D-B922-9ED6-09FF-59EA419B2252}"/>
              </a:ext>
            </a:extLst>
          </p:cNvPr>
          <p:cNvSpPr>
            <a:spLocks noGrp="1"/>
          </p:cNvSpPr>
          <p:nvPr>
            <p:ph idx="1"/>
          </p:nvPr>
        </p:nvSpPr>
        <p:spPr>
          <a:xfrm>
            <a:off x="793661" y="2599509"/>
            <a:ext cx="4530898" cy="3639450"/>
          </a:xfrm>
        </p:spPr>
        <p:txBody>
          <a:bodyPr anchor="ctr">
            <a:normAutofit/>
          </a:bodyPr>
          <a:lstStyle/>
          <a:p>
            <a:r>
              <a:rPr lang="en-US" sz="2000">
                <a:latin typeface="Roboto" panose="02000000000000000000" pitchFamily="2" charset="0"/>
              </a:rPr>
              <a:t>D</a:t>
            </a:r>
            <a:r>
              <a:rPr lang="en-US" sz="2000" b="0" i="0">
                <a:effectLst/>
                <a:latin typeface="Roboto" panose="02000000000000000000" pitchFamily="2" charset="0"/>
              </a:rPr>
              <a:t>iscriminative model tries to tell the difference between handwritten 0's and 1's by drawing a line in the data space. </a:t>
            </a:r>
          </a:p>
          <a:p>
            <a:r>
              <a:rPr lang="en-US" sz="2000" b="0" i="0">
                <a:effectLst/>
                <a:latin typeface="Roboto" panose="02000000000000000000" pitchFamily="2" charset="0"/>
              </a:rPr>
              <a:t>In contrast, the generative model tries to produce convincing 1's and 0's by generating digits that fall close to their real counterparts in the data space. </a:t>
            </a:r>
            <a:endParaRPr lang="en-US" sz="2000"/>
          </a:p>
        </p:txBody>
      </p:sp>
      <p:pic>
        <p:nvPicPr>
          <p:cNvPr id="3074" name="Picture 2" descr="Two graphs, one labelled 'Discriminative Model'&#10;          and the other labelled 'Generative Model'. Both graphs show&#10;          the same four datapoints. Each point is labeled with the image&#10;          of the handwritten digit that it represents. In the discriminative&#10;          graph there's a dotted line separating two data points from the&#10;          remaining two. The region above the dotted line is labelled 'y=0' and&#10;          the region below the line is labelled 'y=1'. In the generative graph&#10;          two dotted-line circles are drawn around the two pairs of points. The&#10;          top circle is labelled 'y=0' and the bottom circle is labelled 'y=1">
            <a:extLst>
              <a:ext uri="{FF2B5EF4-FFF2-40B4-BE49-F238E27FC236}">
                <a16:creationId xmlns:a16="http://schemas.microsoft.com/office/drawing/2014/main" id="{D2DEB3B0-609F-F1B1-7DB8-010E533287D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11532" y="2899299"/>
            <a:ext cx="5150277" cy="2884155"/>
          </a:xfrm>
          <a:prstGeom prst="rect">
            <a:avLst/>
          </a:prstGeom>
          <a:noFill/>
          <a:extLst>
            <a:ext uri="{909E8E84-426E-40DD-AFC4-6F175D3DCCD1}">
              <a14:hiddenFill xmlns:a14="http://schemas.microsoft.com/office/drawing/2010/main">
                <a:solidFill>
                  <a:srgbClr val="FFFFFF"/>
                </a:solidFill>
              </a14:hiddenFill>
            </a:ext>
          </a:extLst>
        </p:spPr>
      </p:pic>
      <p:sp>
        <p:nvSpPr>
          <p:cNvPr id="3094" name="Rectangle 309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026CEDF-0022-21BA-BB1A-91F9F95B80B0}"/>
              </a:ext>
            </a:extLst>
          </p:cNvPr>
          <p:cNvPicPr>
            <a:picLocks noChangeAspect="1"/>
          </p:cNvPicPr>
          <p:nvPr/>
        </p:nvPicPr>
        <p:blipFill>
          <a:blip r:embed="rId4"/>
          <a:stretch>
            <a:fillRect/>
          </a:stretch>
        </p:blipFill>
        <p:spPr>
          <a:xfrm>
            <a:off x="173934" y="109653"/>
            <a:ext cx="3956748" cy="581538"/>
          </a:xfrm>
          <a:prstGeom prst="rect">
            <a:avLst/>
          </a:prstGeom>
        </p:spPr>
      </p:pic>
    </p:spTree>
    <p:extLst>
      <p:ext uri="{BB962C8B-B14F-4D97-AF65-F5344CB8AC3E}">
        <p14:creationId xmlns:p14="http://schemas.microsoft.com/office/powerpoint/2010/main" val="440792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8FAA4E-1F35-7BFE-C333-21E7F69042F6}"/>
              </a:ext>
            </a:extLst>
          </p:cNvPr>
          <p:cNvSpPr>
            <a:spLocks noGrp="1"/>
          </p:cNvSpPr>
          <p:nvPr>
            <p:ph type="title"/>
          </p:nvPr>
        </p:nvSpPr>
        <p:spPr>
          <a:xfrm>
            <a:off x="838200" y="698643"/>
            <a:ext cx="5243394" cy="2225532"/>
          </a:xfrm>
        </p:spPr>
        <p:txBody>
          <a:bodyPr anchor="t">
            <a:normAutofit/>
          </a:bodyPr>
          <a:lstStyle/>
          <a:p>
            <a:r>
              <a:rPr lang="en-US" sz="5600" b="0" i="0">
                <a:effectLst/>
                <a:latin typeface="Google Sans"/>
              </a:rPr>
              <a:t>Overview of GAN Structure</a:t>
            </a:r>
            <a:endParaRPr lang="en-US" sz="5600"/>
          </a:p>
        </p:txBody>
      </p:sp>
      <p:cxnSp>
        <p:nvCxnSpPr>
          <p:cNvPr id="21" name="Straight Connector 2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81934"/>
            <a:ext cx="0" cy="6476066"/>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34F88D19-C269-4F98-BE6B-CFB6207D36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10408" y="740316"/>
            <a:ext cx="465458" cy="872153"/>
            <a:chOff x="6110408" y="740316"/>
            <a:chExt cx="465458" cy="872153"/>
          </a:xfrm>
        </p:grpSpPr>
        <p:sp>
          <p:nvSpPr>
            <p:cNvPr id="2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5948" y="74031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2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84728" y="969611"/>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2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0408" y="14847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pic>
        <p:nvPicPr>
          <p:cNvPr id="14" name="Picture 13" descr="A diagram of a sample&#10;&#10;Description automatically generated">
            <a:extLst>
              <a:ext uri="{FF2B5EF4-FFF2-40B4-BE49-F238E27FC236}">
                <a16:creationId xmlns:a16="http://schemas.microsoft.com/office/drawing/2014/main" id="{274B6DB4-1826-19EB-642F-55C3B1CF802D}"/>
              </a:ext>
            </a:extLst>
          </p:cNvPr>
          <p:cNvPicPr>
            <a:picLocks noChangeAspect="1"/>
          </p:cNvPicPr>
          <p:nvPr/>
        </p:nvPicPr>
        <p:blipFill>
          <a:blip r:embed="rId3"/>
          <a:stretch>
            <a:fillRect/>
          </a:stretch>
        </p:blipFill>
        <p:spPr>
          <a:xfrm>
            <a:off x="838200" y="3392872"/>
            <a:ext cx="5243391" cy="2215333"/>
          </a:xfrm>
          <a:prstGeom prst="rect">
            <a:avLst/>
          </a:prstGeom>
        </p:spPr>
      </p:pic>
      <p:sp>
        <p:nvSpPr>
          <p:cNvPr id="10" name="Content Placeholder 9">
            <a:extLst>
              <a:ext uri="{FF2B5EF4-FFF2-40B4-BE49-F238E27FC236}">
                <a16:creationId xmlns:a16="http://schemas.microsoft.com/office/drawing/2014/main" id="{2708AC87-ADDD-7F35-258B-12A32E801F2B}"/>
              </a:ext>
            </a:extLst>
          </p:cNvPr>
          <p:cNvSpPr>
            <a:spLocks noGrp="1"/>
          </p:cNvSpPr>
          <p:nvPr>
            <p:ph idx="1"/>
          </p:nvPr>
        </p:nvSpPr>
        <p:spPr>
          <a:xfrm>
            <a:off x="7229042" y="879355"/>
            <a:ext cx="4124758" cy="5120755"/>
          </a:xfrm>
        </p:spPr>
        <p:txBody>
          <a:bodyPr anchor="ctr">
            <a:normAutofit/>
          </a:bodyPr>
          <a:lstStyle/>
          <a:p>
            <a:r>
              <a:rPr lang="en-US" sz="2000" b="1">
                <a:solidFill>
                  <a:schemeClr val="tx1">
                    <a:alpha val="80000"/>
                  </a:schemeClr>
                </a:solidFill>
                <a:latin typeface="Roboto" panose="02000000000000000000" pitchFamily="2" charset="0"/>
              </a:rPr>
              <a:t>G</a:t>
            </a:r>
            <a:r>
              <a:rPr lang="en-US" sz="2000" b="1" i="0">
                <a:solidFill>
                  <a:schemeClr val="tx1">
                    <a:alpha val="80000"/>
                  </a:schemeClr>
                </a:solidFill>
                <a:effectLst/>
                <a:latin typeface="Roboto" panose="02000000000000000000" pitchFamily="2" charset="0"/>
              </a:rPr>
              <a:t>enerator</a:t>
            </a:r>
            <a:r>
              <a:rPr lang="en-US" sz="2000" b="0" i="0">
                <a:solidFill>
                  <a:schemeClr val="tx1">
                    <a:alpha val="80000"/>
                  </a:schemeClr>
                </a:solidFill>
                <a:effectLst/>
                <a:latin typeface="Roboto" panose="02000000000000000000" pitchFamily="2" charset="0"/>
              </a:rPr>
              <a:t> learns to generate plausible data. The generated instances become negative training examples for the discriminator.</a:t>
            </a:r>
          </a:p>
          <a:p>
            <a:r>
              <a:rPr lang="en-US" sz="2000" b="1">
                <a:solidFill>
                  <a:schemeClr val="tx1">
                    <a:alpha val="80000"/>
                  </a:schemeClr>
                </a:solidFill>
                <a:latin typeface="Roboto" panose="02000000000000000000" pitchFamily="2" charset="0"/>
              </a:rPr>
              <a:t>D</a:t>
            </a:r>
            <a:r>
              <a:rPr lang="en-US" sz="2000" b="1" i="0">
                <a:solidFill>
                  <a:schemeClr val="tx1">
                    <a:alpha val="80000"/>
                  </a:schemeClr>
                </a:solidFill>
                <a:effectLst/>
                <a:latin typeface="Roboto" panose="02000000000000000000" pitchFamily="2" charset="0"/>
              </a:rPr>
              <a:t>iscriminator</a:t>
            </a:r>
            <a:r>
              <a:rPr lang="en-US" sz="2000" b="0" i="0">
                <a:solidFill>
                  <a:schemeClr val="tx1">
                    <a:alpha val="80000"/>
                  </a:schemeClr>
                </a:solidFill>
                <a:effectLst/>
                <a:latin typeface="Roboto" panose="02000000000000000000" pitchFamily="2" charset="0"/>
              </a:rPr>
              <a:t> learns to distinguish the generator's fake data from real data. The discriminator penalizes the generator for producing implausible results.</a:t>
            </a:r>
          </a:p>
          <a:p>
            <a:r>
              <a:rPr lang="en-US" sz="2000">
                <a:solidFill>
                  <a:schemeClr val="tx1">
                    <a:alpha val="80000"/>
                  </a:schemeClr>
                </a:solidFill>
                <a:latin typeface="Roboto" panose="02000000000000000000" pitchFamily="2" charset="0"/>
              </a:rPr>
              <a:t>G</a:t>
            </a:r>
            <a:r>
              <a:rPr lang="en-US" sz="2000" b="0" i="0">
                <a:solidFill>
                  <a:schemeClr val="tx1">
                    <a:alpha val="80000"/>
                  </a:schemeClr>
                </a:solidFill>
                <a:effectLst/>
                <a:latin typeface="Roboto" panose="02000000000000000000" pitchFamily="2" charset="0"/>
              </a:rPr>
              <a:t>enerator output is connected directly to the discriminator input.</a:t>
            </a:r>
          </a:p>
          <a:p>
            <a:endParaRPr lang="en-US" sz="2000">
              <a:solidFill>
                <a:schemeClr val="tx1">
                  <a:alpha val="80000"/>
                </a:schemeClr>
              </a:solidFill>
            </a:endParaRPr>
          </a:p>
        </p:txBody>
      </p:sp>
      <p:pic>
        <p:nvPicPr>
          <p:cNvPr id="3" name="Picture 2">
            <a:extLst>
              <a:ext uri="{FF2B5EF4-FFF2-40B4-BE49-F238E27FC236}">
                <a16:creationId xmlns:a16="http://schemas.microsoft.com/office/drawing/2014/main" id="{29FCD630-AA9F-1581-E4BC-9AFB53D1357F}"/>
              </a:ext>
            </a:extLst>
          </p:cNvPr>
          <p:cNvPicPr>
            <a:picLocks noChangeAspect="1"/>
          </p:cNvPicPr>
          <p:nvPr/>
        </p:nvPicPr>
        <p:blipFill>
          <a:blip r:embed="rId4"/>
          <a:stretch>
            <a:fillRect/>
          </a:stretch>
        </p:blipFill>
        <p:spPr>
          <a:xfrm>
            <a:off x="173934" y="109653"/>
            <a:ext cx="3956748" cy="581538"/>
          </a:xfrm>
          <a:prstGeom prst="rect">
            <a:avLst/>
          </a:prstGeom>
        </p:spPr>
      </p:pic>
    </p:spTree>
    <p:extLst>
      <p:ext uri="{BB962C8B-B14F-4D97-AF65-F5344CB8AC3E}">
        <p14:creationId xmlns:p14="http://schemas.microsoft.com/office/powerpoint/2010/main" val="1269095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B955E9B3-6BB4-6EF5-6BF1-9B4603188DAB}"/>
              </a:ext>
            </a:extLst>
          </p:cNvPr>
          <p:cNvSpPr>
            <a:spLocks noGrp="1"/>
          </p:cNvSpPr>
          <p:nvPr>
            <p:ph idx="1"/>
          </p:nvPr>
        </p:nvSpPr>
        <p:spPr>
          <a:xfrm>
            <a:off x="975252" y="510047"/>
            <a:ext cx="10491106" cy="1645920"/>
          </a:xfrm>
        </p:spPr>
        <p:txBody>
          <a:bodyPr vert="horz" lIns="91440" tIns="45720" rIns="91440" bIns="45720" rtlCol="0" anchor="ctr">
            <a:noAutofit/>
          </a:bodyPr>
          <a:lstStyle/>
          <a:p>
            <a:r>
              <a:rPr lang="en-US" sz="1800" dirty="0">
                <a:ea typeface="+mn-lt"/>
                <a:cs typeface="+mn-lt"/>
              </a:rPr>
              <a:t>[training] drives the discriminator to attempt to learn to correctly classify samples as real or fake.</a:t>
            </a:r>
          </a:p>
          <a:p>
            <a:r>
              <a:rPr lang="en-US" sz="1800" dirty="0">
                <a:ea typeface="+mn-lt"/>
                <a:cs typeface="+mn-lt"/>
              </a:rPr>
              <a:t> Simultaneously, the generator attempts to fool the classifier into believing its samples are real. </a:t>
            </a:r>
          </a:p>
          <a:p>
            <a:r>
              <a:rPr lang="en-US" sz="1800" dirty="0">
                <a:ea typeface="+mn-lt"/>
                <a:cs typeface="+mn-lt"/>
              </a:rPr>
              <a:t>At convergence, the generator’s samples are indistinguishable from real data, and the discriminator outputs 1/2 everywhere.</a:t>
            </a:r>
          </a:p>
          <a:p>
            <a:r>
              <a:rPr lang="en-US" sz="1800" dirty="0">
                <a:ea typeface="+mn-lt"/>
                <a:cs typeface="+mn-lt"/>
              </a:rPr>
              <a:t> The discriminator may then be discarded.</a:t>
            </a:r>
            <a:endParaRPr lang="en-US" sz="1800" dirty="0">
              <a:cs typeface="Calibri"/>
            </a:endParaRPr>
          </a:p>
        </p:txBody>
      </p:sp>
      <p:pic>
        <p:nvPicPr>
          <p:cNvPr id="4" name="Content Placeholder 3" descr="Example of the GAN Generator Model">
            <a:extLst>
              <a:ext uri="{FF2B5EF4-FFF2-40B4-BE49-F238E27FC236}">
                <a16:creationId xmlns:a16="http://schemas.microsoft.com/office/drawing/2014/main" id="{CEA67FFB-BB09-1436-0016-D9463178D435}"/>
              </a:ext>
            </a:extLst>
          </p:cNvPr>
          <p:cNvPicPr>
            <a:picLocks noChangeAspect="1"/>
          </p:cNvPicPr>
          <p:nvPr/>
        </p:nvPicPr>
        <p:blipFill>
          <a:blip r:embed="rId2"/>
          <a:stretch>
            <a:fillRect/>
          </a:stretch>
        </p:blipFill>
        <p:spPr>
          <a:xfrm>
            <a:off x="1057256" y="2606462"/>
            <a:ext cx="2585504" cy="3639312"/>
          </a:xfrm>
          <a:prstGeom prst="rect">
            <a:avLst/>
          </a:prstGeom>
        </p:spPr>
      </p:pic>
      <p:pic>
        <p:nvPicPr>
          <p:cNvPr id="5" name="Picture 4" descr="Example of the GAN Discriminator Model">
            <a:extLst>
              <a:ext uri="{FF2B5EF4-FFF2-40B4-BE49-F238E27FC236}">
                <a16:creationId xmlns:a16="http://schemas.microsoft.com/office/drawing/2014/main" id="{076B69E7-A32F-92EB-AFE4-077A56055123}"/>
              </a:ext>
            </a:extLst>
          </p:cNvPr>
          <p:cNvPicPr>
            <a:picLocks noChangeAspect="1"/>
          </p:cNvPicPr>
          <p:nvPr/>
        </p:nvPicPr>
        <p:blipFill>
          <a:blip r:embed="rId3"/>
          <a:stretch>
            <a:fillRect/>
          </a:stretch>
        </p:blipFill>
        <p:spPr>
          <a:xfrm>
            <a:off x="4798713" y="2606462"/>
            <a:ext cx="2682220" cy="3639312"/>
          </a:xfrm>
          <a:prstGeom prst="rect">
            <a:avLst/>
          </a:prstGeom>
        </p:spPr>
      </p:pic>
      <p:pic>
        <p:nvPicPr>
          <p:cNvPr id="6" name="Picture 5" descr="Example of the Generative Adversarial Network Model Architecture">
            <a:extLst>
              <a:ext uri="{FF2B5EF4-FFF2-40B4-BE49-F238E27FC236}">
                <a16:creationId xmlns:a16="http://schemas.microsoft.com/office/drawing/2014/main" id="{63827D30-AB82-C16A-E25D-4F2645A18213}"/>
              </a:ext>
            </a:extLst>
          </p:cNvPr>
          <p:cNvPicPr>
            <a:picLocks noChangeAspect="1"/>
          </p:cNvPicPr>
          <p:nvPr/>
        </p:nvPicPr>
        <p:blipFill>
          <a:blip r:embed="rId4"/>
          <a:stretch>
            <a:fillRect/>
          </a:stretch>
        </p:blipFill>
        <p:spPr>
          <a:xfrm>
            <a:off x="8393117" y="2606462"/>
            <a:ext cx="3073043" cy="3639312"/>
          </a:xfrm>
          <a:prstGeom prst="rect">
            <a:avLst/>
          </a:prstGeom>
        </p:spPr>
      </p:pic>
    </p:spTree>
    <p:extLst>
      <p:ext uri="{BB962C8B-B14F-4D97-AF65-F5344CB8AC3E}">
        <p14:creationId xmlns:p14="http://schemas.microsoft.com/office/powerpoint/2010/main" val="826878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876583-198C-40B2-2DD2-B2987CDEF912}"/>
              </a:ext>
            </a:extLst>
          </p:cNvPr>
          <p:cNvSpPr>
            <a:spLocks noGrp="1"/>
          </p:cNvSpPr>
          <p:nvPr>
            <p:ph type="title"/>
          </p:nvPr>
        </p:nvSpPr>
        <p:spPr>
          <a:xfrm>
            <a:off x="5596501" y="489508"/>
            <a:ext cx="5754896" cy="1667569"/>
          </a:xfrm>
        </p:spPr>
        <p:txBody>
          <a:bodyPr anchor="b">
            <a:normAutofit/>
          </a:bodyPr>
          <a:lstStyle/>
          <a:p>
            <a:r>
              <a:rPr lang="en-US" sz="4000"/>
              <a:t>Discriminator</a:t>
            </a:r>
          </a:p>
        </p:txBody>
      </p:sp>
      <p:pic>
        <p:nvPicPr>
          <p:cNvPr id="5" name="Picture 4">
            <a:extLst>
              <a:ext uri="{FF2B5EF4-FFF2-40B4-BE49-F238E27FC236}">
                <a16:creationId xmlns:a16="http://schemas.microsoft.com/office/drawing/2014/main" id="{9958736D-D1A0-461E-C6DA-92A3861F5376}"/>
              </a:ext>
            </a:extLst>
          </p:cNvPr>
          <p:cNvPicPr>
            <a:picLocks noChangeAspect="1"/>
          </p:cNvPicPr>
          <p:nvPr/>
        </p:nvPicPr>
        <p:blipFill>
          <a:blip r:embed="rId3"/>
          <a:stretch>
            <a:fillRect/>
          </a:stretch>
        </p:blipFill>
        <p:spPr>
          <a:xfrm>
            <a:off x="125728" y="2341016"/>
            <a:ext cx="5458786" cy="2456452"/>
          </a:xfrm>
          <a:prstGeom prst="rect">
            <a:avLst/>
          </a:prstGeom>
        </p:spPr>
      </p:pic>
      <p:sp>
        <p:nvSpPr>
          <p:cNvPr id="3" name="Content Placeholder 2">
            <a:extLst>
              <a:ext uri="{FF2B5EF4-FFF2-40B4-BE49-F238E27FC236}">
                <a16:creationId xmlns:a16="http://schemas.microsoft.com/office/drawing/2014/main" id="{194B50D3-93D8-4316-D3AE-5528B34FBFFA}"/>
              </a:ext>
            </a:extLst>
          </p:cNvPr>
          <p:cNvSpPr>
            <a:spLocks noGrp="1"/>
          </p:cNvSpPr>
          <p:nvPr>
            <p:ph idx="1"/>
          </p:nvPr>
        </p:nvSpPr>
        <p:spPr>
          <a:xfrm>
            <a:off x="5596502" y="2405894"/>
            <a:ext cx="6453536" cy="3197464"/>
          </a:xfrm>
        </p:spPr>
        <p:txBody>
          <a:bodyPr anchor="t">
            <a:normAutofit/>
          </a:bodyPr>
          <a:lstStyle/>
          <a:p>
            <a:r>
              <a:rPr lang="en-US" sz="1600" b="0" i="0" dirty="0">
                <a:effectLst/>
                <a:latin typeface="Roboto" panose="02000000000000000000" pitchFamily="2" charset="0"/>
              </a:rPr>
              <a:t>Discriminator's training data comes from two sources:</a:t>
            </a:r>
          </a:p>
          <a:p>
            <a:pPr lvl="1"/>
            <a:r>
              <a:rPr lang="en-US" sz="1600" b="1" i="0" dirty="0">
                <a:effectLst/>
                <a:latin typeface="Roboto" panose="02000000000000000000" pitchFamily="2" charset="0"/>
              </a:rPr>
              <a:t>Real data</a:t>
            </a:r>
            <a:r>
              <a:rPr lang="en-US" sz="1600" b="0" i="0" dirty="0">
                <a:effectLst/>
                <a:latin typeface="Roboto" panose="02000000000000000000" pitchFamily="2" charset="0"/>
              </a:rPr>
              <a:t> instances, such as real pictures of people. </a:t>
            </a:r>
          </a:p>
          <a:p>
            <a:pPr lvl="1"/>
            <a:r>
              <a:rPr lang="en-US" sz="1600" b="1" i="0" dirty="0">
                <a:effectLst/>
                <a:latin typeface="Roboto" panose="02000000000000000000" pitchFamily="2" charset="0"/>
              </a:rPr>
              <a:t>Fake data</a:t>
            </a:r>
            <a:r>
              <a:rPr lang="en-US" sz="1600" b="0" i="0" dirty="0">
                <a:effectLst/>
                <a:latin typeface="Roboto" panose="02000000000000000000" pitchFamily="2" charset="0"/>
              </a:rPr>
              <a:t> instances created by the generator. </a:t>
            </a:r>
          </a:p>
          <a:p>
            <a:r>
              <a:rPr lang="en-US" sz="1600" b="0" i="0" dirty="0">
                <a:effectLst/>
                <a:latin typeface="Roboto" panose="02000000000000000000" pitchFamily="2" charset="0"/>
              </a:rPr>
              <a:t>During discriminator training:</a:t>
            </a:r>
          </a:p>
          <a:p>
            <a:pPr lvl="1"/>
            <a:r>
              <a:rPr lang="en-US" sz="1600" b="0" i="0" dirty="0">
                <a:effectLst/>
                <a:latin typeface="Roboto" panose="02000000000000000000" pitchFamily="2" charset="0"/>
              </a:rPr>
              <a:t>The discriminator classifies both real data and fake data from the generator.</a:t>
            </a:r>
          </a:p>
          <a:p>
            <a:pPr lvl="1"/>
            <a:r>
              <a:rPr lang="en-US" sz="1600" b="0" i="0" dirty="0">
                <a:effectLst/>
                <a:latin typeface="Roboto" panose="02000000000000000000" pitchFamily="2" charset="0"/>
              </a:rPr>
              <a:t>The discriminator loss penalizes the discriminator for misclassifying a real instance as fake or a fake instance as real.</a:t>
            </a:r>
          </a:p>
          <a:p>
            <a:pPr lvl="1"/>
            <a:r>
              <a:rPr lang="en-US" sz="1600" b="0" i="0" dirty="0">
                <a:effectLst/>
                <a:latin typeface="Roboto" panose="02000000000000000000" pitchFamily="2" charset="0"/>
              </a:rPr>
              <a:t>The discriminator updates its weights through </a:t>
            </a:r>
            <a:r>
              <a:rPr lang="en-US" sz="1600" b="0" i="0" dirty="0">
                <a:effectLst/>
                <a:latin typeface="Roboto" panose="02000000000000000000" pitchFamily="2" charset="0"/>
                <a:hlinkClick r:id="rId4"/>
              </a:rPr>
              <a:t>backpropagation</a:t>
            </a:r>
            <a:r>
              <a:rPr lang="en-US" sz="1600" b="0" i="0" dirty="0">
                <a:effectLst/>
                <a:latin typeface="Roboto" panose="02000000000000000000" pitchFamily="2" charset="0"/>
              </a:rPr>
              <a:t> from the discriminator loss through the discriminator network.</a:t>
            </a:r>
          </a:p>
          <a:p>
            <a:endParaRPr lang="en-US" sz="1600" dirty="0"/>
          </a:p>
        </p:txBody>
      </p:sp>
      <p:sp>
        <p:nvSpPr>
          <p:cNvPr id="21" name="Rectangle 20">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588C0E9-89DB-93FB-7430-02CDE56C9EC5}"/>
              </a:ext>
            </a:extLst>
          </p:cNvPr>
          <p:cNvSpPr txBox="1"/>
          <p:nvPr/>
        </p:nvSpPr>
        <p:spPr>
          <a:xfrm>
            <a:off x="413359" y="5947063"/>
            <a:ext cx="11498893" cy="400110"/>
          </a:xfrm>
          <a:prstGeom prst="rect">
            <a:avLst/>
          </a:prstGeom>
          <a:noFill/>
        </p:spPr>
        <p:txBody>
          <a:bodyPr wrap="square">
            <a:spAutoFit/>
          </a:bodyPr>
          <a:lstStyle/>
          <a:p>
            <a:pPr algn="ctr"/>
            <a:r>
              <a:rPr lang="en-US" sz="2000" b="1" i="0" dirty="0">
                <a:solidFill>
                  <a:srgbClr val="202124"/>
                </a:solidFill>
                <a:effectLst/>
                <a:latin typeface="Roboto" panose="02000000000000000000" pitchFamily="2" charset="0"/>
              </a:rPr>
              <a:t>Discriminator can use any network architecture appropriate to the type of data it's classifying</a:t>
            </a:r>
            <a:endParaRPr lang="en-US" sz="2000" b="1" dirty="0"/>
          </a:p>
        </p:txBody>
      </p:sp>
      <p:pic>
        <p:nvPicPr>
          <p:cNvPr id="4" name="Picture 3">
            <a:extLst>
              <a:ext uri="{FF2B5EF4-FFF2-40B4-BE49-F238E27FC236}">
                <a16:creationId xmlns:a16="http://schemas.microsoft.com/office/drawing/2014/main" id="{77725099-59D5-42B5-B35A-295A7D3101DB}"/>
              </a:ext>
            </a:extLst>
          </p:cNvPr>
          <p:cNvPicPr>
            <a:picLocks noChangeAspect="1"/>
          </p:cNvPicPr>
          <p:nvPr/>
        </p:nvPicPr>
        <p:blipFill>
          <a:blip r:embed="rId5"/>
          <a:stretch>
            <a:fillRect/>
          </a:stretch>
        </p:blipFill>
        <p:spPr>
          <a:xfrm>
            <a:off x="173934" y="109653"/>
            <a:ext cx="3956748" cy="581538"/>
          </a:xfrm>
          <a:prstGeom prst="rect">
            <a:avLst/>
          </a:prstGeom>
        </p:spPr>
      </p:pic>
    </p:spTree>
    <p:extLst>
      <p:ext uri="{BB962C8B-B14F-4D97-AF65-F5344CB8AC3E}">
        <p14:creationId xmlns:p14="http://schemas.microsoft.com/office/powerpoint/2010/main" val="119016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0D1B86-4271-5989-B358-78A5FBEB946F}"/>
              </a:ext>
            </a:extLst>
          </p:cNvPr>
          <p:cNvSpPr>
            <a:spLocks noGrp="1"/>
          </p:cNvSpPr>
          <p:nvPr>
            <p:ph type="title"/>
          </p:nvPr>
        </p:nvSpPr>
        <p:spPr>
          <a:xfrm>
            <a:off x="1133515" y="715379"/>
            <a:ext cx="10176151" cy="1097519"/>
          </a:xfrm>
        </p:spPr>
        <p:txBody>
          <a:bodyPr anchor="ctr">
            <a:normAutofit/>
          </a:bodyPr>
          <a:lstStyle/>
          <a:p>
            <a:r>
              <a:rPr lang="en-US" sz="4000"/>
              <a:t>Generator</a:t>
            </a:r>
          </a:p>
        </p:txBody>
      </p:sp>
      <p:sp>
        <p:nvSpPr>
          <p:cNvPr id="13" name="Rectangle 12">
            <a:extLst>
              <a:ext uri="{FF2B5EF4-FFF2-40B4-BE49-F238E27FC236}">
                <a16:creationId xmlns:a16="http://schemas.microsoft.com/office/drawing/2014/main" id="{B444D337-4D9F-40A8-BA84-C0BFA7A8AD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1962"/>
            <a:ext cx="12191998" cy="461774"/>
          </a:xfrm>
          <a:prstGeom prst="rect">
            <a:avLst/>
          </a:prstGeom>
          <a:gradFill>
            <a:gsLst>
              <a:gs pos="0">
                <a:srgbClr val="000000"/>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0478D1D-B50E-41C8-8A55-36A53D449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1962"/>
            <a:ext cx="4076698" cy="464399"/>
          </a:xfrm>
          <a:prstGeom prst="rect">
            <a:avLst/>
          </a:prstGeom>
          <a:gradFill>
            <a:gsLst>
              <a:gs pos="0">
                <a:srgbClr val="000000">
                  <a:alpha val="46000"/>
                </a:srgbClr>
              </a:gs>
              <a:gs pos="99000">
                <a:schemeClr val="accent1"/>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56A6D1-7B84-8760-FC77-4A9FA09973B5}"/>
              </a:ext>
            </a:extLst>
          </p:cNvPr>
          <p:cNvSpPr>
            <a:spLocks noGrp="1"/>
          </p:cNvSpPr>
          <p:nvPr>
            <p:ph idx="1"/>
          </p:nvPr>
        </p:nvSpPr>
        <p:spPr>
          <a:xfrm>
            <a:off x="134599" y="1908550"/>
            <a:ext cx="5857012" cy="3384218"/>
          </a:xfrm>
        </p:spPr>
        <p:txBody>
          <a:bodyPr>
            <a:normAutofit/>
          </a:bodyPr>
          <a:lstStyle/>
          <a:p>
            <a:pPr marL="0" indent="0" defTabSz="704088">
              <a:spcBef>
                <a:spcPts val="770"/>
              </a:spcBef>
              <a:buNone/>
            </a:pPr>
            <a:r>
              <a:rPr lang="en-US" sz="1600" kern="1200" dirty="0">
                <a:solidFill>
                  <a:srgbClr val="202124"/>
                </a:solidFill>
                <a:latin typeface="Roboto" panose="02000000000000000000" pitchFamily="2" charset="0"/>
                <a:ea typeface="+mn-ea"/>
                <a:cs typeface="+mn-cs"/>
              </a:rPr>
              <a:t>The portion of the GAN that trains the generator includes:</a:t>
            </a:r>
          </a:p>
          <a:p>
            <a:pPr marL="176022" indent="-176022" defTabSz="704088">
              <a:spcBef>
                <a:spcPts val="770"/>
              </a:spcBef>
            </a:pPr>
            <a:r>
              <a:rPr lang="en-US" sz="1600" kern="1200" dirty="0">
                <a:solidFill>
                  <a:srgbClr val="202124"/>
                </a:solidFill>
                <a:latin typeface="Roboto" panose="02000000000000000000" pitchFamily="2" charset="0"/>
                <a:ea typeface="+mn-ea"/>
                <a:cs typeface="+mn-cs"/>
              </a:rPr>
              <a:t>random input</a:t>
            </a:r>
          </a:p>
          <a:p>
            <a:pPr marL="176022" indent="-176022" defTabSz="704088">
              <a:spcBef>
                <a:spcPts val="770"/>
              </a:spcBef>
            </a:pPr>
            <a:r>
              <a:rPr lang="en-US" sz="1600" kern="1200" dirty="0">
                <a:solidFill>
                  <a:srgbClr val="202124"/>
                </a:solidFill>
                <a:latin typeface="Roboto" panose="02000000000000000000" pitchFamily="2" charset="0"/>
                <a:ea typeface="+mn-ea"/>
                <a:cs typeface="+mn-cs"/>
              </a:rPr>
              <a:t>generator network, which transforms the random input into a data instance</a:t>
            </a:r>
          </a:p>
          <a:p>
            <a:pPr marL="176022" indent="-176022" defTabSz="704088">
              <a:spcBef>
                <a:spcPts val="770"/>
              </a:spcBef>
            </a:pPr>
            <a:r>
              <a:rPr lang="en-US" sz="1600" kern="1200" dirty="0">
                <a:solidFill>
                  <a:srgbClr val="202124"/>
                </a:solidFill>
                <a:latin typeface="Roboto" panose="02000000000000000000" pitchFamily="2" charset="0"/>
                <a:ea typeface="+mn-ea"/>
                <a:cs typeface="+mn-cs"/>
              </a:rPr>
              <a:t>discriminator network, which classifies the generated data</a:t>
            </a:r>
          </a:p>
          <a:p>
            <a:pPr marL="176022" indent="-176022" defTabSz="704088">
              <a:spcBef>
                <a:spcPts val="770"/>
              </a:spcBef>
            </a:pPr>
            <a:r>
              <a:rPr lang="en-US" sz="1600" kern="1200" dirty="0">
                <a:solidFill>
                  <a:srgbClr val="202124"/>
                </a:solidFill>
                <a:latin typeface="Roboto" panose="02000000000000000000" pitchFamily="2" charset="0"/>
                <a:ea typeface="+mn-ea"/>
                <a:cs typeface="+mn-cs"/>
              </a:rPr>
              <a:t>discriminator output</a:t>
            </a:r>
          </a:p>
          <a:p>
            <a:pPr marL="176022" indent="-176022" defTabSz="704088">
              <a:spcBef>
                <a:spcPts val="770"/>
              </a:spcBef>
            </a:pPr>
            <a:r>
              <a:rPr lang="en-US" sz="1600" kern="1200" dirty="0">
                <a:solidFill>
                  <a:srgbClr val="202124"/>
                </a:solidFill>
                <a:latin typeface="Roboto" panose="02000000000000000000" pitchFamily="2" charset="0"/>
                <a:ea typeface="+mn-ea"/>
                <a:cs typeface="+mn-cs"/>
              </a:rPr>
              <a:t>generator loss, which penalizes the generator for failing to fool the discriminator</a:t>
            </a:r>
          </a:p>
          <a:p>
            <a:endParaRPr lang="en-US" sz="1600" dirty="0"/>
          </a:p>
        </p:txBody>
      </p:sp>
      <p:pic>
        <p:nvPicPr>
          <p:cNvPr id="5" name="Picture 4">
            <a:extLst>
              <a:ext uri="{FF2B5EF4-FFF2-40B4-BE49-F238E27FC236}">
                <a16:creationId xmlns:a16="http://schemas.microsoft.com/office/drawing/2014/main" id="{067A6E6F-F625-A15E-AA64-42A4757FD505}"/>
              </a:ext>
            </a:extLst>
          </p:cNvPr>
          <p:cNvPicPr>
            <a:picLocks noChangeAspect="1"/>
          </p:cNvPicPr>
          <p:nvPr/>
        </p:nvPicPr>
        <p:blipFill>
          <a:blip r:embed="rId3"/>
          <a:stretch>
            <a:fillRect/>
          </a:stretch>
        </p:blipFill>
        <p:spPr>
          <a:xfrm>
            <a:off x="5991609" y="1589556"/>
            <a:ext cx="6065791" cy="2837923"/>
          </a:xfrm>
          <a:prstGeom prst="rect">
            <a:avLst/>
          </a:prstGeom>
        </p:spPr>
      </p:pic>
      <p:sp>
        <p:nvSpPr>
          <p:cNvPr id="6" name="Content Placeholder 2">
            <a:extLst>
              <a:ext uri="{FF2B5EF4-FFF2-40B4-BE49-F238E27FC236}">
                <a16:creationId xmlns:a16="http://schemas.microsoft.com/office/drawing/2014/main" id="{1E2E82E4-B4DB-99D9-6954-9ABCEF922B97}"/>
              </a:ext>
            </a:extLst>
          </p:cNvPr>
          <p:cNvSpPr txBox="1">
            <a:spLocks/>
          </p:cNvSpPr>
          <p:nvPr/>
        </p:nvSpPr>
        <p:spPr>
          <a:xfrm>
            <a:off x="134599" y="4729616"/>
            <a:ext cx="8795474" cy="131760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04088">
              <a:spcBef>
                <a:spcPts val="770"/>
              </a:spcBef>
              <a:buNone/>
            </a:pPr>
            <a:r>
              <a:rPr lang="en-US" sz="1600" kern="1200" dirty="0">
                <a:solidFill>
                  <a:srgbClr val="202124"/>
                </a:solidFill>
                <a:latin typeface="Roboto" panose="02000000000000000000" pitchFamily="2" charset="0"/>
                <a:ea typeface="+mn-ea"/>
                <a:cs typeface="+mn-cs"/>
              </a:rPr>
              <a:t>Random input is:</a:t>
            </a:r>
          </a:p>
          <a:p>
            <a:pPr marL="175895" indent="-175895" defTabSz="704088">
              <a:spcBef>
                <a:spcPts val="770"/>
              </a:spcBef>
            </a:pPr>
            <a:r>
              <a:rPr lang="en-US" sz="1600" kern="1200" dirty="0">
                <a:solidFill>
                  <a:srgbClr val="202124"/>
                </a:solidFill>
                <a:latin typeface="Roboto"/>
                <a:ea typeface="Roboto"/>
                <a:cs typeface="Roboto"/>
              </a:rPr>
              <a:t>In its most basic form, a GAN takes random noise as its input</a:t>
            </a:r>
          </a:p>
          <a:p>
            <a:pPr marL="175895" indent="-175895" defTabSz="704088">
              <a:spcBef>
                <a:spcPts val="770"/>
              </a:spcBef>
            </a:pPr>
            <a:r>
              <a:rPr lang="en-US" sz="1600" kern="1200" dirty="0">
                <a:solidFill>
                  <a:srgbClr val="202124"/>
                </a:solidFill>
                <a:latin typeface="Roboto" panose="02000000000000000000" pitchFamily="2" charset="0"/>
                <a:ea typeface="+mn-ea"/>
                <a:cs typeface="+mn-cs"/>
              </a:rPr>
              <a:t>Choose something that's easy to sample from, like a uniform distribution</a:t>
            </a:r>
            <a:endParaRPr lang="en-US" sz="1600" dirty="0">
              <a:cs typeface="Calibri" panose="020F0502020204030204"/>
            </a:endParaRPr>
          </a:p>
        </p:txBody>
      </p:sp>
      <p:pic>
        <p:nvPicPr>
          <p:cNvPr id="4" name="Picture 3">
            <a:extLst>
              <a:ext uri="{FF2B5EF4-FFF2-40B4-BE49-F238E27FC236}">
                <a16:creationId xmlns:a16="http://schemas.microsoft.com/office/drawing/2014/main" id="{70DF9A14-3982-9873-6C02-90E91B909603}"/>
              </a:ext>
            </a:extLst>
          </p:cNvPr>
          <p:cNvPicPr>
            <a:picLocks noChangeAspect="1"/>
          </p:cNvPicPr>
          <p:nvPr/>
        </p:nvPicPr>
        <p:blipFill>
          <a:blip r:embed="rId4"/>
          <a:stretch>
            <a:fillRect/>
          </a:stretch>
        </p:blipFill>
        <p:spPr>
          <a:xfrm>
            <a:off x="173934" y="109653"/>
            <a:ext cx="3956748" cy="581538"/>
          </a:xfrm>
          <a:prstGeom prst="rect">
            <a:avLst/>
          </a:prstGeom>
        </p:spPr>
      </p:pic>
    </p:spTree>
    <p:extLst>
      <p:ext uri="{BB962C8B-B14F-4D97-AF65-F5344CB8AC3E}">
        <p14:creationId xmlns:p14="http://schemas.microsoft.com/office/powerpoint/2010/main" val="226377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99ECB-3E46-450A-25DF-AEBB5F8256D6}"/>
              </a:ext>
            </a:extLst>
          </p:cNvPr>
          <p:cNvSpPr>
            <a:spLocks noGrp="1"/>
          </p:cNvSpPr>
          <p:nvPr>
            <p:ph type="title"/>
          </p:nvPr>
        </p:nvSpPr>
        <p:spPr/>
        <p:txBody>
          <a:bodyPr/>
          <a:lstStyle/>
          <a:p>
            <a:r>
              <a:rPr lang="en-US" dirty="0"/>
              <a:t>Generating Random Variables</a:t>
            </a:r>
          </a:p>
        </p:txBody>
      </p:sp>
      <p:graphicFrame>
        <p:nvGraphicFramePr>
          <p:cNvPr id="5" name="Content Placeholder 2">
            <a:extLst>
              <a:ext uri="{FF2B5EF4-FFF2-40B4-BE49-F238E27FC236}">
                <a16:creationId xmlns:a16="http://schemas.microsoft.com/office/drawing/2014/main" id="{AB2E958D-3D8C-76F6-F47D-85F92BE75EE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Picture 14" descr="A black text on a white background&#10;&#10;Description automatically generated">
            <a:extLst>
              <a:ext uri="{FF2B5EF4-FFF2-40B4-BE49-F238E27FC236}">
                <a16:creationId xmlns:a16="http://schemas.microsoft.com/office/drawing/2014/main" id="{EA418742-D1B6-0263-B8C0-FDF28F35E152}"/>
              </a:ext>
            </a:extLst>
          </p:cNvPr>
          <p:cNvPicPr>
            <a:picLocks noChangeAspect="1"/>
          </p:cNvPicPr>
          <p:nvPr/>
        </p:nvPicPr>
        <p:blipFill>
          <a:blip r:embed="rId8"/>
          <a:stretch>
            <a:fillRect/>
          </a:stretch>
        </p:blipFill>
        <p:spPr>
          <a:xfrm>
            <a:off x="173934" y="109653"/>
            <a:ext cx="3956748" cy="581538"/>
          </a:xfrm>
          <a:prstGeom prst="rect">
            <a:avLst/>
          </a:prstGeom>
        </p:spPr>
      </p:pic>
    </p:spTree>
    <p:extLst>
      <p:ext uri="{BB962C8B-B14F-4D97-AF65-F5344CB8AC3E}">
        <p14:creationId xmlns:p14="http://schemas.microsoft.com/office/powerpoint/2010/main" val="3836467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99ECB-3E46-450A-25DF-AEBB5F8256D6}"/>
              </a:ext>
            </a:extLst>
          </p:cNvPr>
          <p:cNvSpPr>
            <a:spLocks noGrp="1"/>
          </p:cNvSpPr>
          <p:nvPr>
            <p:ph type="title"/>
          </p:nvPr>
        </p:nvSpPr>
        <p:spPr>
          <a:xfrm>
            <a:off x="838200" y="365125"/>
            <a:ext cx="10515600" cy="1325563"/>
          </a:xfrm>
        </p:spPr>
        <p:txBody>
          <a:bodyPr>
            <a:normAutofit/>
          </a:bodyPr>
          <a:lstStyle/>
          <a:p>
            <a:r>
              <a:rPr lang="en-US" sz="5400"/>
              <a:t>Generating Random Variables</a:t>
            </a:r>
          </a:p>
        </p:txBody>
      </p:sp>
      <p:sp>
        <p:nvSpPr>
          <p:cNvPr id="3" name="Content Placeholder 2">
            <a:extLst>
              <a:ext uri="{FF2B5EF4-FFF2-40B4-BE49-F238E27FC236}">
                <a16:creationId xmlns:a16="http://schemas.microsoft.com/office/drawing/2014/main" id="{266342FF-9378-DDF9-C91A-C07D00011688}"/>
              </a:ext>
            </a:extLst>
          </p:cNvPr>
          <p:cNvSpPr>
            <a:spLocks noGrp="1"/>
          </p:cNvSpPr>
          <p:nvPr>
            <p:ph idx="1"/>
          </p:nvPr>
        </p:nvSpPr>
        <p:spPr>
          <a:xfrm>
            <a:off x="838200" y="1929384"/>
            <a:ext cx="10515600" cy="4251960"/>
          </a:xfrm>
        </p:spPr>
        <p:txBody>
          <a:bodyPr>
            <a:normAutofit/>
          </a:bodyPr>
          <a:lstStyle/>
          <a:p>
            <a:pPr marL="0" indent="0">
              <a:buNone/>
            </a:pPr>
            <a:r>
              <a:rPr lang="en-US" sz="2200" b="1" dirty="0"/>
              <a:t>inverse transform method</a:t>
            </a:r>
          </a:p>
          <a:p>
            <a:endParaRPr lang="en-US" sz="2200" dirty="0"/>
          </a:p>
          <a:p>
            <a:r>
              <a:rPr lang="en-US" sz="1600" b="0" i="0" dirty="0">
                <a:solidFill>
                  <a:srgbClr val="242424"/>
                </a:solidFill>
                <a:effectLst/>
                <a:latin typeface="source-serif-pro"/>
              </a:rPr>
              <a:t>way to generate a random variable that follows a given distribution by making a uniform random variable goes through a well designed “transform function” (inverse CDF)</a:t>
            </a:r>
            <a:endParaRPr lang="en-US" sz="2200" dirty="0"/>
          </a:p>
        </p:txBody>
      </p:sp>
      <p:pic>
        <p:nvPicPr>
          <p:cNvPr id="1026" name="Picture 2">
            <a:extLst>
              <a:ext uri="{FF2B5EF4-FFF2-40B4-BE49-F238E27FC236}">
                <a16:creationId xmlns:a16="http://schemas.microsoft.com/office/drawing/2014/main" id="{518D26D8-81C9-42F0-CCF2-031B625326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5751" y="3312809"/>
            <a:ext cx="7717076" cy="2765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11A4F0B-95DE-BFB2-5E9C-AF8ED02A6E6F}"/>
              </a:ext>
            </a:extLst>
          </p:cNvPr>
          <p:cNvSpPr txBox="1"/>
          <p:nvPr/>
        </p:nvSpPr>
        <p:spPr>
          <a:xfrm>
            <a:off x="838200" y="6043857"/>
            <a:ext cx="10853928" cy="646331"/>
          </a:xfrm>
          <a:prstGeom prst="rect">
            <a:avLst/>
          </a:prstGeom>
          <a:noFill/>
        </p:spPr>
        <p:txBody>
          <a:bodyPr wrap="square">
            <a:spAutoFit/>
          </a:bodyPr>
          <a:lstStyle/>
          <a:p>
            <a:pPr algn="ctr"/>
            <a:r>
              <a:rPr lang="en-US" b="0" i="0" dirty="0">
                <a:solidFill>
                  <a:srgbClr val="6B6B6B"/>
                </a:solidFill>
                <a:effectLst/>
                <a:latin typeface="sohne"/>
              </a:rPr>
              <a:t>Illustration of the inverse transform method. In blue: the uniform distribution over [0,1]. In orange: the standard gaussian distribution. In grey: the mapping from the uniform to the gaussian distribution (inverse CDF).</a:t>
            </a:r>
            <a:endParaRPr lang="en-US" dirty="0"/>
          </a:p>
        </p:txBody>
      </p:sp>
      <p:pic>
        <p:nvPicPr>
          <p:cNvPr id="5" name="Picture 4">
            <a:extLst>
              <a:ext uri="{FF2B5EF4-FFF2-40B4-BE49-F238E27FC236}">
                <a16:creationId xmlns:a16="http://schemas.microsoft.com/office/drawing/2014/main" id="{D1713BEF-427E-4ABC-B522-CD2106F60AB8}"/>
              </a:ext>
            </a:extLst>
          </p:cNvPr>
          <p:cNvPicPr>
            <a:picLocks noChangeAspect="1"/>
          </p:cNvPicPr>
          <p:nvPr/>
        </p:nvPicPr>
        <p:blipFill>
          <a:blip r:embed="rId4"/>
          <a:stretch>
            <a:fillRect/>
          </a:stretch>
        </p:blipFill>
        <p:spPr>
          <a:xfrm>
            <a:off x="173934" y="109653"/>
            <a:ext cx="3956748" cy="581538"/>
          </a:xfrm>
          <a:prstGeom prst="rect">
            <a:avLst/>
          </a:prstGeom>
        </p:spPr>
      </p:pic>
    </p:spTree>
    <p:extLst>
      <p:ext uri="{BB962C8B-B14F-4D97-AF65-F5344CB8AC3E}">
        <p14:creationId xmlns:p14="http://schemas.microsoft.com/office/powerpoint/2010/main" val="1627531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2350BA-EB87-9B99-88F1-9D2C9D42D382}"/>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Use the Discriminator to train Generator</a:t>
            </a:r>
          </a:p>
        </p:txBody>
      </p:sp>
      <p:sp>
        <p:nvSpPr>
          <p:cNvPr id="3" name="Content Placeholder 2">
            <a:extLst>
              <a:ext uri="{FF2B5EF4-FFF2-40B4-BE49-F238E27FC236}">
                <a16:creationId xmlns:a16="http://schemas.microsoft.com/office/drawing/2014/main" id="{E571939D-D704-8EE7-3ECD-EFCD3578590C}"/>
              </a:ext>
            </a:extLst>
          </p:cNvPr>
          <p:cNvSpPr>
            <a:spLocks noGrp="1"/>
          </p:cNvSpPr>
          <p:nvPr>
            <p:ph idx="1"/>
          </p:nvPr>
        </p:nvSpPr>
        <p:spPr>
          <a:xfrm>
            <a:off x="6503158" y="649480"/>
            <a:ext cx="4862447" cy="5546047"/>
          </a:xfrm>
        </p:spPr>
        <p:txBody>
          <a:bodyPr anchor="ctr">
            <a:normAutofit/>
          </a:bodyPr>
          <a:lstStyle/>
          <a:p>
            <a:r>
              <a:rPr lang="en-US" sz="2000" b="0" i="0">
                <a:effectLst/>
                <a:latin typeface="Roboto" panose="02000000000000000000" pitchFamily="2" charset="0"/>
              </a:rPr>
              <a:t>Sample random noise.</a:t>
            </a:r>
          </a:p>
          <a:p>
            <a:r>
              <a:rPr lang="en-US" sz="2000" b="0" i="0">
                <a:effectLst/>
                <a:latin typeface="Roboto" panose="02000000000000000000" pitchFamily="2" charset="0"/>
              </a:rPr>
              <a:t>Produce generator output from sampled random noise.</a:t>
            </a:r>
          </a:p>
          <a:p>
            <a:r>
              <a:rPr lang="en-US" sz="2000" b="0" i="0">
                <a:effectLst/>
                <a:latin typeface="Roboto" panose="02000000000000000000" pitchFamily="2" charset="0"/>
              </a:rPr>
              <a:t>Get discriminator "Real" or "Fake" classification for generator output.</a:t>
            </a:r>
          </a:p>
          <a:p>
            <a:r>
              <a:rPr lang="en-US" sz="2000" b="0" i="0">
                <a:effectLst/>
                <a:latin typeface="Roboto" panose="02000000000000000000" pitchFamily="2" charset="0"/>
              </a:rPr>
              <a:t>Calculate loss from discriminator classification.</a:t>
            </a:r>
          </a:p>
          <a:p>
            <a:r>
              <a:rPr lang="en-US" sz="2000" b="0" i="0">
                <a:effectLst/>
                <a:latin typeface="Roboto" panose="02000000000000000000" pitchFamily="2" charset="0"/>
              </a:rPr>
              <a:t>Backpropagate through both the discriminator and generator to obtain gradients.</a:t>
            </a:r>
          </a:p>
          <a:p>
            <a:r>
              <a:rPr lang="en-US" sz="2000" b="0" i="0">
                <a:effectLst/>
                <a:latin typeface="Roboto" panose="02000000000000000000" pitchFamily="2" charset="0"/>
              </a:rPr>
              <a:t>Use gradients to change only the generator weights.</a:t>
            </a:r>
          </a:p>
          <a:p>
            <a:endParaRPr lang="en-US" sz="2000"/>
          </a:p>
        </p:txBody>
      </p:sp>
      <p:pic>
        <p:nvPicPr>
          <p:cNvPr id="4" name="Picture 3">
            <a:extLst>
              <a:ext uri="{FF2B5EF4-FFF2-40B4-BE49-F238E27FC236}">
                <a16:creationId xmlns:a16="http://schemas.microsoft.com/office/drawing/2014/main" id="{F3702C8C-90C0-01D1-74D1-8B8C28FDE0F3}"/>
              </a:ext>
            </a:extLst>
          </p:cNvPr>
          <p:cNvPicPr>
            <a:picLocks noChangeAspect="1"/>
          </p:cNvPicPr>
          <p:nvPr/>
        </p:nvPicPr>
        <p:blipFill>
          <a:blip r:embed="rId3"/>
          <a:stretch>
            <a:fillRect/>
          </a:stretch>
        </p:blipFill>
        <p:spPr>
          <a:xfrm>
            <a:off x="173934" y="109653"/>
            <a:ext cx="3956748" cy="581538"/>
          </a:xfrm>
          <a:prstGeom prst="rect">
            <a:avLst/>
          </a:prstGeom>
        </p:spPr>
      </p:pic>
    </p:spTree>
    <p:extLst>
      <p:ext uri="{BB962C8B-B14F-4D97-AF65-F5344CB8AC3E}">
        <p14:creationId xmlns:p14="http://schemas.microsoft.com/office/powerpoint/2010/main" val="1978732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6F68-293B-AA30-BDE5-FF0402FA6B46}"/>
              </a:ext>
            </a:extLst>
          </p:cNvPr>
          <p:cNvSpPr>
            <a:spLocks noGrp="1"/>
          </p:cNvSpPr>
          <p:nvPr>
            <p:ph type="title"/>
          </p:nvPr>
        </p:nvSpPr>
        <p:spPr>
          <a:xfrm>
            <a:off x="838201" y="3998018"/>
            <a:ext cx="3981854" cy="2216513"/>
          </a:xfrm>
        </p:spPr>
        <p:txBody>
          <a:bodyPr>
            <a:normAutofit/>
          </a:bodyPr>
          <a:lstStyle/>
          <a:p>
            <a:r>
              <a:rPr lang="en-US" dirty="0"/>
              <a:t>Generative model approximation</a:t>
            </a:r>
          </a:p>
        </p:txBody>
      </p:sp>
      <p:pic>
        <p:nvPicPr>
          <p:cNvPr id="2050" name="Picture 2">
            <a:extLst>
              <a:ext uri="{FF2B5EF4-FFF2-40B4-BE49-F238E27FC236}">
                <a16:creationId xmlns:a16="http://schemas.microsoft.com/office/drawing/2014/main" id="{ABC27B42-0B56-5D06-BF9B-D01F8E19307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29216" y="-1884"/>
            <a:ext cx="8642959" cy="4127014"/>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C3306CB-93AF-3E1B-AE6B-22ECE2B3E9E9}"/>
              </a:ext>
            </a:extLst>
          </p:cNvPr>
          <p:cNvSpPr>
            <a:spLocks noGrp="1"/>
          </p:cNvSpPr>
          <p:nvPr>
            <p:ph idx="1"/>
          </p:nvPr>
        </p:nvSpPr>
        <p:spPr>
          <a:xfrm>
            <a:off x="4146115" y="4125130"/>
            <a:ext cx="7717075" cy="2655334"/>
          </a:xfrm>
        </p:spPr>
        <p:txBody>
          <a:bodyPr>
            <a:normAutofit/>
          </a:bodyPr>
          <a:lstStyle/>
          <a:p>
            <a:r>
              <a:rPr lang="en-US" sz="1800" b="0" i="0" dirty="0">
                <a:effectLst/>
                <a:latin typeface="source-serif-pro"/>
              </a:rPr>
              <a:t>finding the transform function is not as straightforward</a:t>
            </a:r>
          </a:p>
          <a:p>
            <a:r>
              <a:rPr lang="en-US" sz="1800" b="0" i="0" dirty="0">
                <a:effectLst/>
                <a:latin typeface="source-serif-pro"/>
              </a:rPr>
              <a:t>complex function naturally implies neural network modelling</a:t>
            </a:r>
          </a:p>
          <a:p>
            <a:r>
              <a:rPr lang="en-US" sz="1800" b="0" i="0" dirty="0">
                <a:effectLst/>
                <a:latin typeface="source-serif-pro"/>
              </a:rPr>
              <a:t>model the transform function by a neural network</a:t>
            </a:r>
            <a:endParaRPr lang="en-US" sz="1800" dirty="0">
              <a:latin typeface="source-serif-pro"/>
            </a:endParaRPr>
          </a:p>
          <a:p>
            <a:pPr lvl="1"/>
            <a:r>
              <a:rPr lang="pt-BR" sz="1800" b="0" i="0" dirty="0">
                <a:effectLst/>
                <a:latin typeface="source-serif-pro"/>
              </a:rPr>
              <a:t>input : simple N dimensional uniform random variable</a:t>
            </a:r>
          </a:p>
          <a:p>
            <a:pPr lvl="1"/>
            <a:r>
              <a:rPr lang="pt-BR" sz="1800" dirty="0">
                <a:latin typeface="source-serif-pro"/>
              </a:rPr>
              <a:t>output : </a:t>
            </a:r>
            <a:r>
              <a:rPr lang="en-US" sz="1800" b="0" i="0" dirty="0">
                <a:effectLst/>
                <a:latin typeface="source-serif-pro"/>
              </a:rPr>
              <a:t>another N dimensional random variable that should follow</a:t>
            </a:r>
            <a:r>
              <a:rPr lang="pt-BR" sz="1800" dirty="0">
                <a:latin typeface="source-serif-pro"/>
              </a:rPr>
              <a:t> complex probability distribution corresponding to desired output</a:t>
            </a:r>
            <a:endParaRPr lang="en-US" sz="1800" dirty="0"/>
          </a:p>
        </p:txBody>
      </p:sp>
      <p:pic>
        <p:nvPicPr>
          <p:cNvPr id="4" name="Picture 3">
            <a:extLst>
              <a:ext uri="{FF2B5EF4-FFF2-40B4-BE49-F238E27FC236}">
                <a16:creationId xmlns:a16="http://schemas.microsoft.com/office/drawing/2014/main" id="{8A5ED52C-9F5B-A2D3-A9FF-0C873F046C27}"/>
              </a:ext>
            </a:extLst>
          </p:cNvPr>
          <p:cNvPicPr>
            <a:picLocks noChangeAspect="1"/>
          </p:cNvPicPr>
          <p:nvPr/>
        </p:nvPicPr>
        <p:blipFill>
          <a:blip r:embed="rId4"/>
          <a:stretch>
            <a:fillRect/>
          </a:stretch>
        </p:blipFill>
        <p:spPr>
          <a:xfrm>
            <a:off x="328810" y="6050874"/>
            <a:ext cx="3956748" cy="581538"/>
          </a:xfrm>
          <a:prstGeom prst="rect">
            <a:avLst/>
          </a:prstGeom>
        </p:spPr>
      </p:pic>
    </p:spTree>
    <p:extLst>
      <p:ext uri="{BB962C8B-B14F-4D97-AF65-F5344CB8AC3E}">
        <p14:creationId xmlns:p14="http://schemas.microsoft.com/office/powerpoint/2010/main" val="1132305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22B727-DD8C-95CC-AFC8-A122B946D505}"/>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Training GAN</a:t>
            </a:r>
          </a:p>
        </p:txBody>
      </p:sp>
      <p:sp>
        <p:nvSpPr>
          <p:cNvPr id="3" name="Content Placeholder 2">
            <a:extLst>
              <a:ext uri="{FF2B5EF4-FFF2-40B4-BE49-F238E27FC236}">
                <a16:creationId xmlns:a16="http://schemas.microsoft.com/office/drawing/2014/main" id="{A3F536B4-4F72-EDBD-8256-4D4EE2B74D8A}"/>
              </a:ext>
            </a:extLst>
          </p:cNvPr>
          <p:cNvSpPr>
            <a:spLocks noGrp="1"/>
          </p:cNvSpPr>
          <p:nvPr>
            <p:ph idx="1"/>
          </p:nvPr>
        </p:nvSpPr>
        <p:spPr>
          <a:xfrm>
            <a:off x="1970357" y="2112579"/>
            <a:ext cx="8424074" cy="1284468"/>
          </a:xfrm>
        </p:spPr>
        <p:txBody>
          <a:bodyPr>
            <a:normAutofit/>
          </a:bodyPr>
          <a:lstStyle/>
          <a:p>
            <a:pPr marL="182880" indent="-182880" defTabSz="731520">
              <a:spcBef>
                <a:spcPts val="800"/>
              </a:spcBef>
            </a:pPr>
            <a:r>
              <a:rPr lang="en-US" sz="1800" kern="1200" dirty="0">
                <a:solidFill>
                  <a:srgbClr val="202124"/>
                </a:solidFill>
                <a:latin typeface="Roboto" panose="02000000000000000000" pitchFamily="2" charset="0"/>
                <a:ea typeface="+mn-ea"/>
                <a:cs typeface="+mn-cs"/>
              </a:rPr>
              <a:t>GANs must juggle two different kinds of training (generator and discriminator)</a:t>
            </a:r>
          </a:p>
          <a:p>
            <a:pPr marL="182880" indent="-182880" defTabSz="731520">
              <a:spcBef>
                <a:spcPts val="800"/>
              </a:spcBef>
            </a:pPr>
            <a:r>
              <a:rPr lang="en-US" sz="1800" kern="1200" dirty="0">
                <a:solidFill>
                  <a:srgbClr val="202124"/>
                </a:solidFill>
                <a:latin typeface="Roboto" panose="02000000000000000000" pitchFamily="2" charset="0"/>
                <a:ea typeface="+mn-ea"/>
                <a:cs typeface="+mn-cs"/>
              </a:rPr>
              <a:t>GAN convergence is hard to identify</a:t>
            </a:r>
          </a:p>
          <a:p>
            <a:pPr marL="0" indent="0">
              <a:buNone/>
            </a:pPr>
            <a:endParaRPr lang="en-US" sz="1800" dirty="0"/>
          </a:p>
        </p:txBody>
      </p:sp>
      <p:sp>
        <p:nvSpPr>
          <p:cNvPr id="5" name="Content Placeholder 2">
            <a:extLst>
              <a:ext uri="{FF2B5EF4-FFF2-40B4-BE49-F238E27FC236}">
                <a16:creationId xmlns:a16="http://schemas.microsoft.com/office/drawing/2014/main" id="{7F43D703-9760-6EED-3BC7-EBC6C0A359E5}"/>
              </a:ext>
            </a:extLst>
          </p:cNvPr>
          <p:cNvSpPr txBox="1">
            <a:spLocks/>
          </p:cNvSpPr>
          <p:nvPr/>
        </p:nvSpPr>
        <p:spPr>
          <a:xfrm>
            <a:off x="1883963" y="3009839"/>
            <a:ext cx="8424074" cy="12844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31520">
              <a:spcBef>
                <a:spcPts val="800"/>
              </a:spcBef>
              <a:buNone/>
            </a:pPr>
            <a:r>
              <a:rPr lang="en-US" sz="1800" b="1" kern="1200" dirty="0">
                <a:solidFill>
                  <a:srgbClr val="202124"/>
                </a:solidFill>
                <a:latin typeface="Roboto" panose="02000000000000000000" pitchFamily="2" charset="0"/>
                <a:ea typeface="+mn-ea"/>
                <a:cs typeface="+mn-cs"/>
              </a:rPr>
              <a:t>Alternate Training</a:t>
            </a:r>
          </a:p>
          <a:p>
            <a:pPr marL="182880" indent="-182880" defTabSz="731520">
              <a:spcBef>
                <a:spcPts val="800"/>
              </a:spcBef>
            </a:pPr>
            <a:r>
              <a:rPr lang="en-US" sz="1800" kern="1200" dirty="0">
                <a:solidFill>
                  <a:srgbClr val="202124"/>
                </a:solidFill>
                <a:latin typeface="Roboto" panose="02000000000000000000" pitchFamily="2" charset="0"/>
                <a:ea typeface="+mn-ea"/>
                <a:cs typeface="+mn-cs"/>
              </a:rPr>
              <a:t>The discriminator trains for one or more epochs</a:t>
            </a:r>
          </a:p>
          <a:p>
            <a:pPr marL="182880" indent="-182880" defTabSz="731520">
              <a:spcBef>
                <a:spcPts val="800"/>
              </a:spcBef>
            </a:pPr>
            <a:r>
              <a:rPr lang="en-US" sz="1800" kern="1200" dirty="0">
                <a:solidFill>
                  <a:srgbClr val="202124"/>
                </a:solidFill>
                <a:latin typeface="Roboto" panose="02000000000000000000" pitchFamily="2" charset="0"/>
                <a:ea typeface="+mn-ea"/>
                <a:cs typeface="+mn-cs"/>
              </a:rPr>
              <a:t>The generator trains for one or more epochs</a:t>
            </a:r>
          </a:p>
          <a:p>
            <a:pPr marL="182880" indent="-182880" defTabSz="731520">
              <a:spcBef>
                <a:spcPts val="800"/>
              </a:spcBef>
            </a:pPr>
            <a:r>
              <a:rPr lang="en-US" sz="1800" kern="1200" dirty="0">
                <a:solidFill>
                  <a:srgbClr val="202124"/>
                </a:solidFill>
                <a:latin typeface="Roboto" panose="02000000000000000000" pitchFamily="2" charset="0"/>
                <a:ea typeface="+mn-ea"/>
                <a:cs typeface="+mn-cs"/>
              </a:rPr>
              <a:t>Repeat steps 1 and 2 to continue to train the generator and discriminator networks</a:t>
            </a:r>
          </a:p>
          <a:p>
            <a:pPr marL="182880" indent="-182880" defTabSz="731520">
              <a:spcBef>
                <a:spcPts val="800"/>
              </a:spcBef>
            </a:pPr>
            <a:endParaRPr lang="en-US" sz="1800" kern="1200" dirty="0">
              <a:solidFill>
                <a:srgbClr val="202124"/>
              </a:solidFill>
              <a:latin typeface="Roboto" panose="02000000000000000000" pitchFamily="2" charset="0"/>
              <a:ea typeface="+mn-ea"/>
              <a:cs typeface="+mn-cs"/>
            </a:endParaRPr>
          </a:p>
          <a:p>
            <a:pPr marL="0" indent="0">
              <a:buFont typeface="Arial" panose="020B0604020202020204" pitchFamily="34" charset="0"/>
              <a:buNone/>
            </a:pPr>
            <a:endParaRPr lang="en-US" sz="1800" dirty="0"/>
          </a:p>
        </p:txBody>
      </p:sp>
      <p:sp>
        <p:nvSpPr>
          <p:cNvPr id="7" name="Content Placeholder 2">
            <a:extLst>
              <a:ext uri="{FF2B5EF4-FFF2-40B4-BE49-F238E27FC236}">
                <a16:creationId xmlns:a16="http://schemas.microsoft.com/office/drawing/2014/main" id="{91327074-CC9B-8A7C-C971-FBBEB86B0881}"/>
              </a:ext>
            </a:extLst>
          </p:cNvPr>
          <p:cNvSpPr txBox="1">
            <a:spLocks/>
          </p:cNvSpPr>
          <p:nvPr/>
        </p:nvSpPr>
        <p:spPr>
          <a:xfrm>
            <a:off x="1821510" y="5020916"/>
            <a:ext cx="8424074" cy="12844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31520">
              <a:spcBef>
                <a:spcPts val="800"/>
              </a:spcBef>
              <a:buNone/>
            </a:pPr>
            <a:r>
              <a:rPr lang="en-US" sz="1800" b="1" kern="1200" dirty="0">
                <a:solidFill>
                  <a:srgbClr val="202124"/>
                </a:solidFill>
                <a:latin typeface="Roboto" panose="02000000000000000000" pitchFamily="2" charset="0"/>
                <a:ea typeface="+mn-ea"/>
                <a:cs typeface="+mn-cs"/>
              </a:rPr>
              <a:t>Convergence</a:t>
            </a:r>
          </a:p>
          <a:p>
            <a:pPr marL="182880" indent="-182880" defTabSz="731520">
              <a:spcBef>
                <a:spcPts val="800"/>
              </a:spcBef>
            </a:pPr>
            <a:r>
              <a:rPr lang="en-US" sz="1800" kern="1200" dirty="0">
                <a:solidFill>
                  <a:srgbClr val="202124"/>
                </a:solidFill>
                <a:latin typeface="Roboto" panose="02000000000000000000" pitchFamily="2" charset="0"/>
                <a:ea typeface="+mn-ea"/>
                <a:cs typeface="+mn-cs"/>
              </a:rPr>
              <a:t>As the generator improves with training, the discriminator performance gets worse </a:t>
            </a:r>
          </a:p>
          <a:p>
            <a:pPr marL="182880" indent="-182880" defTabSz="731520">
              <a:spcBef>
                <a:spcPts val="800"/>
              </a:spcBef>
            </a:pPr>
            <a:r>
              <a:rPr lang="en-US" sz="1800" kern="1200" dirty="0">
                <a:solidFill>
                  <a:srgbClr val="202124"/>
                </a:solidFill>
                <a:latin typeface="Roboto" panose="02000000000000000000" pitchFamily="2" charset="0"/>
                <a:ea typeface="+mn-ea"/>
                <a:cs typeface="+mn-cs"/>
              </a:rPr>
              <a:t>This progression poses a problem</a:t>
            </a:r>
          </a:p>
          <a:p>
            <a:pPr marL="548640" lvl="1" indent="-182880" defTabSz="731520">
              <a:spcBef>
                <a:spcPts val="400"/>
              </a:spcBef>
            </a:pPr>
            <a:r>
              <a:rPr lang="en-US" sz="1800" kern="1200" dirty="0">
                <a:solidFill>
                  <a:srgbClr val="202124"/>
                </a:solidFill>
                <a:latin typeface="Roboto" panose="02000000000000000000" pitchFamily="2" charset="0"/>
                <a:ea typeface="+mn-ea"/>
                <a:cs typeface="+mn-cs"/>
              </a:rPr>
              <a:t>Discriminator feedback gets less meaningful over time</a:t>
            </a:r>
          </a:p>
          <a:p>
            <a:pPr marL="0" indent="0">
              <a:buFont typeface="Arial" panose="020B0604020202020204" pitchFamily="34" charset="0"/>
              <a:buNone/>
            </a:pPr>
            <a:endParaRPr lang="en-US" sz="1800" dirty="0"/>
          </a:p>
        </p:txBody>
      </p:sp>
      <p:pic>
        <p:nvPicPr>
          <p:cNvPr id="4" name="Picture 3">
            <a:extLst>
              <a:ext uri="{FF2B5EF4-FFF2-40B4-BE49-F238E27FC236}">
                <a16:creationId xmlns:a16="http://schemas.microsoft.com/office/drawing/2014/main" id="{189662A9-6BEE-3974-EC0D-7572949BD6FA}"/>
              </a:ext>
            </a:extLst>
          </p:cNvPr>
          <p:cNvPicPr>
            <a:picLocks noChangeAspect="1"/>
          </p:cNvPicPr>
          <p:nvPr/>
        </p:nvPicPr>
        <p:blipFill>
          <a:blip r:embed="rId3"/>
          <a:stretch>
            <a:fillRect/>
          </a:stretch>
        </p:blipFill>
        <p:spPr>
          <a:xfrm>
            <a:off x="8045089" y="155377"/>
            <a:ext cx="3956748" cy="581538"/>
          </a:xfrm>
          <a:prstGeom prst="rect">
            <a:avLst/>
          </a:prstGeom>
        </p:spPr>
      </p:pic>
    </p:spTree>
    <p:extLst>
      <p:ext uri="{BB962C8B-B14F-4D97-AF65-F5344CB8AC3E}">
        <p14:creationId xmlns:p14="http://schemas.microsoft.com/office/powerpoint/2010/main" val="3893599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52C9DB-3C03-AB12-C175-692EDEC55F1E}"/>
              </a:ext>
            </a:extLst>
          </p:cNvPr>
          <p:cNvSpPr>
            <a:spLocks noGrp="1"/>
          </p:cNvSpPr>
          <p:nvPr>
            <p:ph type="title"/>
          </p:nvPr>
        </p:nvSpPr>
        <p:spPr>
          <a:xfrm>
            <a:off x="841248" y="334644"/>
            <a:ext cx="10509504" cy="1076914"/>
          </a:xfrm>
        </p:spPr>
        <p:txBody>
          <a:bodyPr anchor="ctr">
            <a:normAutofit/>
          </a:bodyPr>
          <a:lstStyle/>
          <a:p>
            <a:r>
              <a:rPr lang="en-US" sz="4000"/>
              <a:t>Loss Functions</a:t>
            </a:r>
          </a:p>
        </p:txBody>
      </p:sp>
      <p:sp>
        <p:nvSpPr>
          <p:cNvPr id="24" name="Rectangle 23">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8D2532-9704-F3BF-2F5B-75D55CEAA16F}"/>
                  </a:ext>
                </a:extLst>
              </p:cNvPr>
              <p:cNvSpPr>
                <a:spLocks noGrp="1"/>
              </p:cNvSpPr>
              <p:nvPr>
                <p:ph idx="1"/>
              </p:nvPr>
            </p:nvSpPr>
            <p:spPr>
              <a:xfrm>
                <a:off x="1275445" y="1737360"/>
                <a:ext cx="9631967" cy="3985692"/>
              </a:xfrm>
            </p:spPr>
            <p:txBody>
              <a:bodyPr>
                <a:normAutofit/>
              </a:bodyPr>
              <a:lstStyle/>
              <a:p>
                <a:pPr marL="0" indent="0" defTabSz="832104">
                  <a:spcBef>
                    <a:spcPts val="910"/>
                  </a:spcBef>
                  <a:buNone/>
                </a:pPr>
                <a:r>
                  <a:rPr lang="en-US" sz="2548" b="1" kern="1200">
                    <a:solidFill>
                      <a:srgbClr val="202124"/>
                    </a:solidFill>
                    <a:latin typeface="Roboto" panose="02000000000000000000" pitchFamily="2" charset="0"/>
                    <a:ea typeface="+mn-ea"/>
                    <a:cs typeface="+mn-cs"/>
                  </a:rPr>
                  <a:t>minimax loss</a:t>
                </a:r>
              </a:p>
              <a:p>
                <a:pPr marL="0" indent="0" defTabSz="832104">
                  <a:spcBef>
                    <a:spcPts val="910"/>
                  </a:spcBef>
                  <a:buNone/>
                </a:pPr>
                <a:endParaRPr lang="en-US" sz="1820" i="1" kern="1200">
                  <a:solidFill>
                    <a:srgbClr val="202124"/>
                  </a:solidFill>
                  <a:latin typeface="Cambria Math" panose="02040503050406030204" pitchFamily="18" charset="0"/>
                  <a:ea typeface="+mn-ea"/>
                  <a:cs typeface="+mn-cs"/>
                </a:endParaRPr>
              </a:p>
              <a:p>
                <a:pPr marL="0" indent="0" defTabSz="832104">
                  <a:spcBef>
                    <a:spcPts val="910"/>
                  </a:spcBef>
                  <a:buNone/>
                </a:pPr>
                <a14:m>
                  <m:oMathPara xmlns:m="http://schemas.openxmlformats.org/officeDocument/2006/math">
                    <m:oMathParaPr>
                      <m:jc m:val="centerGroup"/>
                    </m:oMathParaPr>
                    <m:oMath xmlns:m="http://schemas.openxmlformats.org/officeDocument/2006/math">
                      <m:sSub>
                        <m:sSubPr>
                          <m:ctrlPr>
                            <a:rPr lang="en-US" sz="1820" i="1" kern="1200">
                              <a:solidFill>
                                <a:srgbClr val="202124"/>
                              </a:solidFill>
                              <a:latin typeface="Cambria Math" panose="02040503050406030204" pitchFamily="18" charset="0"/>
                              <a:ea typeface="+mn-ea"/>
                              <a:cs typeface="+mn-cs"/>
                            </a:rPr>
                          </m:ctrlPr>
                        </m:sSubPr>
                        <m:e>
                          <m:r>
                            <a:rPr lang="en-US" sz="1820" i="1" kern="1200">
                              <a:solidFill>
                                <a:srgbClr val="202124"/>
                              </a:solidFill>
                              <a:latin typeface="Cambria Math" panose="02040503050406030204" pitchFamily="18" charset="0"/>
                              <a:ea typeface="+mn-ea"/>
                              <a:cs typeface="+mn-cs"/>
                            </a:rPr>
                            <m:t>𝐸</m:t>
                          </m:r>
                        </m:e>
                        <m:sub>
                          <m:r>
                            <a:rPr lang="en-US" sz="1820" i="1" kern="1200">
                              <a:solidFill>
                                <a:srgbClr val="202124"/>
                              </a:solidFill>
                              <a:latin typeface="Cambria Math" panose="02040503050406030204" pitchFamily="18" charset="0"/>
                              <a:ea typeface="+mn-ea"/>
                              <a:cs typeface="+mn-cs"/>
                            </a:rPr>
                            <m:t>𝑥</m:t>
                          </m:r>
                        </m:sub>
                      </m:sSub>
                      <m:r>
                        <a:rPr lang="en-US" sz="1820" i="1" kern="1200">
                          <a:solidFill>
                            <a:srgbClr val="202124"/>
                          </a:solidFill>
                          <a:latin typeface="Cambria Math" panose="02040503050406030204" pitchFamily="18" charset="0"/>
                          <a:ea typeface="+mn-ea"/>
                          <a:cs typeface="+mn-cs"/>
                        </a:rPr>
                        <m:t>[</m:t>
                      </m:r>
                      <m:r>
                        <m:rPr>
                          <m:sty m:val="p"/>
                        </m:rPr>
                        <a:rPr lang="en-US" sz="1820" kern="1200">
                          <a:solidFill>
                            <a:srgbClr val="202124"/>
                          </a:solidFill>
                          <a:latin typeface="Cambria Math" panose="02040503050406030204" pitchFamily="18" charset="0"/>
                          <a:ea typeface="+mn-ea"/>
                          <a:cs typeface="+mn-cs"/>
                        </a:rPr>
                        <m:t>log</m:t>
                      </m:r>
                      <m:r>
                        <a:rPr lang="en-US" sz="1820" i="1" kern="1200">
                          <a:solidFill>
                            <a:srgbClr val="202124"/>
                          </a:solidFill>
                          <a:latin typeface="Cambria Math" panose="02040503050406030204" pitchFamily="18" charset="0"/>
                          <a:ea typeface="+mn-ea"/>
                          <a:cs typeface="+mn-cs"/>
                        </a:rPr>
                        <m:t>⁡(</m:t>
                      </m:r>
                      <m:r>
                        <a:rPr lang="en-US" sz="1820" i="1" kern="1200">
                          <a:solidFill>
                            <a:srgbClr val="202124"/>
                          </a:solidFill>
                          <a:latin typeface="Cambria Math" panose="02040503050406030204" pitchFamily="18" charset="0"/>
                          <a:ea typeface="+mn-ea"/>
                          <a:cs typeface="+mn-cs"/>
                        </a:rPr>
                        <m:t>𝐷</m:t>
                      </m:r>
                      <m:r>
                        <a:rPr lang="en-US" sz="1820" i="1" kern="1200">
                          <a:solidFill>
                            <a:srgbClr val="202124"/>
                          </a:solidFill>
                          <a:latin typeface="Cambria Math" panose="02040503050406030204" pitchFamily="18" charset="0"/>
                          <a:ea typeface="+mn-ea"/>
                          <a:cs typeface="+mn-cs"/>
                        </a:rPr>
                        <m:t>(</m:t>
                      </m:r>
                      <m:r>
                        <a:rPr lang="en-US" sz="1820" i="1" kern="1200">
                          <a:solidFill>
                            <a:srgbClr val="202124"/>
                          </a:solidFill>
                          <a:latin typeface="Cambria Math" panose="02040503050406030204" pitchFamily="18" charset="0"/>
                          <a:ea typeface="+mn-ea"/>
                          <a:cs typeface="+mn-cs"/>
                        </a:rPr>
                        <m:t>𝑥</m:t>
                      </m:r>
                      <m:r>
                        <a:rPr lang="en-US" sz="1820" i="1" kern="1200">
                          <a:solidFill>
                            <a:srgbClr val="202124"/>
                          </a:solidFill>
                          <a:latin typeface="Cambria Math" panose="02040503050406030204" pitchFamily="18" charset="0"/>
                          <a:ea typeface="+mn-ea"/>
                          <a:cs typeface="+mn-cs"/>
                        </a:rPr>
                        <m:t>))]+</m:t>
                      </m:r>
                      <m:sSub>
                        <m:sSubPr>
                          <m:ctrlPr>
                            <a:rPr lang="en-US" sz="1820" i="1" kern="1200">
                              <a:solidFill>
                                <a:srgbClr val="202124"/>
                              </a:solidFill>
                              <a:latin typeface="Cambria Math" panose="02040503050406030204" pitchFamily="18" charset="0"/>
                              <a:ea typeface="+mn-ea"/>
                              <a:cs typeface="+mn-cs"/>
                            </a:rPr>
                          </m:ctrlPr>
                        </m:sSubPr>
                        <m:e>
                          <m:r>
                            <a:rPr lang="en-US" sz="1820" i="1" kern="1200">
                              <a:solidFill>
                                <a:srgbClr val="202124"/>
                              </a:solidFill>
                              <a:latin typeface="Cambria Math" panose="02040503050406030204" pitchFamily="18" charset="0"/>
                              <a:ea typeface="+mn-ea"/>
                              <a:cs typeface="+mn-cs"/>
                            </a:rPr>
                            <m:t>𝐸</m:t>
                          </m:r>
                        </m:e>
                        <m:sub>
                          <m:r>
                            <a:rPr lang="en-US" sz="1820" i="1" kern="1200">
                              <a:solidFill>
                                <a:srgbClr val="202124"/>
                              </a:solidFill>
                              <a:latin typeface="Cambria Math" panose="02040503050406030204" pitchFamily="18" charset="0"/>
                              <a:ea typeface="+mn-ea"/>
                              <a:cs typeface="+mn-cs"/>
                            </a:rPr>
                            <m:t>𝑧</m:t>
                          </m:r>
                        </m:sub>
                      </m:sSub>
                      <m:r>
                        <a:rPr lang="en-US" sz="1820" i="1" kern="1200">
                          <a:solidFill>
                            <a:srgbClr val="202124"/>
                          </a:solidFill>
                          <a:latin typeface="Cambria Math" panose="02040503050406030204" pitchFamily="18" charset="0"/>
                          <a:ea typeface="+mn-ea"/>
                          <a:cs typeface="+mn-cs"/>
                        </a:rPr>
                        <m:t>[</m:t>
                      </m:r>
                      <m:r>
                        <m:rPr>
                          <m:sty m:val="p"/>
                        </m:rPr>
                        <a:rPr lang="en-US" sz="1820" kern="1200">
                          <a:solidFill>
                            <a:srgbClr val="202124"/>
                          </a:solidFill>
                          <a:latin typeface="Cambria Math" panose="02040503050406030204" pitchFamily="18" charset="0"/>
                          <a:ea typeface="+mn-ea"/>
                          <a:cs typeface="+mn-cs"/>
                        </a:rPr>
                        <m:t>log</m:t>
                      </m:r>
                      <m:r>
                        <a:rPr lang="en-US" sz="1820" i="1" kern="1200">
                          <a:solidFill>
                            <a:srgbClr val="202124"/>
                          </a:solidFill>
                          <a:latin typeface="Cambria Math" panose="02040503050406030204" pitchFamily="18" charset="0"/>
                          <a:ea typeface="+mn-ea"/>
                          <a:cs typeface="+mn-cs"/>
                        </a:rPr>
                        <m:t>⁡(1−</m:t>
                      </m:r>
                      <m:r>
                        <a:rPr lang="en-US" sz="1820" i="1" kern="1200">
                          <a:solidFill>
                            <a:srgbClr val="202124"/>
                          </a:solidFill>
                          <a:latin typeface="Cambria Math" panose="02040503050406030204" pitchFamily="18" charset="0"/>
                          <a:ea typeface="+mn-ea"/>
                          <a:cs typeface="+mn-cs"/>
                        </a:rPr>
                        <m:t>𝐷</m:t>
                      </m:r>
                      <m:r>
                        <a:rPr lang="en-US" sz="1820" i="1" kern="1200">
                          <a:solidFill>
                            <a:srgbClr val="202124"/>
                          </a:solidFill>
                          <a:latin typeface="Cambria Math" panose="02040503050406030204" pitchFamily="18" charset="0"/>
                          <a:ea typeface="+mn-ea"/>
                          <a:cs typeface="+mn-cs"/>
                        </a:rPr>
                        <m:t>(</m:t>
                      </m:r>
                      <m:r>
                        <a:rPr lang="en-US" sz="1820" i="1" kern="1200">
                          <a:solidFill>
                            <a:srgbClr val="202124"/>
                          </a:solidFill>
                          <a:latin typeface="Cambria Math" panose="02040503050406030204" pitchFamily="18" charset="0"/>
                          <a:ea typeface="+mn-ea"/>
                          <a:cs typeface="+mn-cs"/>
                        </a:rPr>
                        <m:t>𝐺</m:t>
                      </m:r>
                      <m:r>
                        <a:rPr lang="en-US" sz="1820" i="1" kern="1200">
                          <a:solidFill>
                            <a:srgbClr val="202124"/>
                          </a:solidFill>
                          <a:latin typeface="Cambria Math" panose="02040503050406030204" pitchFamily="18" charset="0"/>
                          <a:ea typeface="+mn-ea"/>
                          <a:cs typeface="+mn-cs"/>
                        </a:rPr>
                        <m:t>(</m:t>
                      </m:r>
                      <m:r>
                        <a:rPr lang="en-US" sz="1820" i="1" kern="1200">
                          <a:solidFill>
                            <a:srgbClr val="202124"/>
                          </a:solidFill>
                          <a:latin typeface="Cambria Math" panose="02040503050406030204" pitchFamily="18" charset="0"/>
                          <a:ea typeface="+mn-ea"/>
                          <a:cs typeface="+mn-cs"/>
                        </a:rPr>
                        <m:t>𝑧</m:t>
                      </m:r>
                      <m:r>
                        <a:rPr lang="en-US" sz="1820" i="1" kern="1200">
                          <a:solidFill>
                            <a:srgbClr val="202124"/>
                          </a:solidFill>
                          <a:latin typeface="Cambria Math" panose="02040503050406030204" pitchFamily="18" charset="0"/>
                          <a:ea typeface="+mn-ea"/>
                          <a:cs typeface="+mn-cs"/>
                        </a:rPr>
                        <m:t>))]</m:t>
                      </m:r>
                    </m:oMath>
                  </m:oMathPara>
                </a14:m>
                <a:endParaRPr lang="en-US" sz="1820" kern="1200">
                  <a:solidFill>
                    <a:srgbClr val="202124"/>
                  </a:solidFill>
                  <a:latin typeface="Roboto" panose="02000000000000000000" pitchFamily="2" charset="0"/>
                  <a:ea typeface="+mn-ea"/>
                  <a:cs typeface="+mn-cs"/>
                </a:endParaRPr>
              </a:p>
              <a:p>
                <a:pPr marL="0" indent="0" defTabSz="832104">
                  <a:spcBef>
                    <a:spcPts val="910"/>
                  </a:spcBef>
                  <a:buNone/>
                </a:pPr>
                <a14:m>
                  <m:oMath xmlns:m="http://schemas.openxmlformats.org/officeDocument/2006/math">
                    <m:r>
                      <a:rPr lang="en-US" sz="1820" b="1" i="1" kern="1200">
                        <a:solidFill>
                          <a:srgbClr val="202124"/>
                        </a:solidFill>
                        <a:latin typeface="Cambria Math" panose="02040503050406030204" pitchFamily="18" charset="0"/>
                        <a:ea typeface="+mn-ea"/>
                        <a:cs typeface="+mn-cs"/>
                      </a:rPr>
                      <m:t>𝑫</m:t>
                    </m:r>
                    <m:r>
                      <a:rPr lang="en-US" sz="1820" b="1" i="1" kern="1200">
                        <a:solidFill>
                          <a:srgbClr val="202124"/>
                        </a:solidFill>
                        <a:latin typeface="Cambria Math" panose="02040503050406030204" pitchFamily="18" charset="0"/>
                        <a:ea typeface="+mn-ea"/>
                        <a:cs typeface="+mn-cs"/>
                      </a:rPr>
                      <m:t>(</m:t>
                    </m:r>
                    <m:r>
                      <a:rPr lang="en-US" sz="1820" b="1" i="1" kern="1200">
                        <a:solidFill>
                          <a:srgbClr val="202124"/>
                        </a:solidFill>
                        <a:latin typeface="Cambria Math" panose="02040503050406030204" pitchFamily="18" charset="0"/>
                        <a:ea typeface="+mn-ea"/>
                        <a:cs typeface="+mn-cs"/>
                      </a:rPr>
                      <m:t>𝒙</m:t>
                    </m:r>
                    <m:r>
                      <a:rPr lang="en-US" sz="1820" b="1" i="1" kern="1200">
                        <a:solidFill>
                          <a:srgbClr val="202124"/>
                        </a:solidFill>
                        <a:latin typeface="Cambria Math" panose="02040503050406030204" pitchFamily="18" charset="0"/>
                        <a:ea typeface="+mn-ea"/>
                        <a:cs typeface="+mn-cs"/>
                      </a:rPr>
                      <m:t>)</m:t>
                    </m:r>
                  </m:oMath>
                </a14:m>
                <a:r>
                  <a:rPr lang="en-US" sz="1820" b="1" kern="1200">
                    <a:solidFill>
                      <a:srgbClr val="202124"/>
                    </a:solidFill>
                    <a:latin typeface="Roboto" panose="02000000000000000000" pitchFamily="2" charset="0"/>
                    <a:ea typeface="+mn-ea"/>
                    <a:cs typeface="+mn-cs"/>
                  </a:rPr>
                  <a:t> </a:t>
                </a:r>
                <a:r>
                  <a:rPr lang="en-US" sz="1820" kern="1200">
                    <a:solidFill>
                      <a:srgbClr val="202124"/>
                    </a:solidFill>
                    <a:latin typeface="Roboto" panose="02000000000000000000" pitchFamily="2" charset="0"/>
                    <a:ea typeface="+mn-ea"/>
                    <a:cs typeface="+mn-cs"/>
                  </a:rPr>
                  <a:t>: </a:t>
                </a:r>
                <a:r>
                  <a:rPr lang="en-US" sz="1820" kern="1200">
                    <a:solidFill>
                      <a:schemeClr val="tx1"/>
                    </a:solidFill>
                    <a:latin typeface="+mn-lt"/>
                    <a:ea typeface="+mn-ea"/>
                    <a:cs typeface="+mn-cs"/>
                  </a:rPr>
                  <a:t>discriminator's estimate of the probability that real data instance x is real</a:t>
                </a:r>
              </a:p>
              <a:p>
                <a:pPr marL="0" indent="0" defTabSz="832104">
                  <a:spcBef>
                    <a:spcPts val="910"/>
                  </a:spcBef>
                  <a:buNone/>
                </a:pPr>
                <a14:m>
                  <m:oMath xmlns:m="http://schemas.openxmlformats.org/officeDocument/2006/math">
                    <m:sSub>
                      <m:sSubPr>
                        <m:ctrlPr>
                          <a:rPr lang="en-US" sz="1820" b="1" i="1" kern="1200">
                            <a:solidFill>
                              <a:srgbClr val="202124"/>
                            </a:solidFill>
                            <a:latin typeface="Cambria Math" panose="02040503050406030204" pitchFamily="18" charset="0"/>
                            <a:ea typeface="+mn-ea"/>
                            <a:cs typeface="+mn-cs"/>
                          </a:rPr>
                        </m:ctrlPr>
                      </m:sSubPr>
                      <m:e>
                        <m:r>
                          <a:rPr lang="en-US" sz="1820" b="1" i="1" kern="1200">
                            <a:solidFill>
                              <a:srgbClr val="202124"/>
                            </a:solidFill>
                            <a:latin typeface="Cambria Math" panose="02040503050406030204" pitchFamily="18" charset="0"/>
                            <a:ea typeface="+mn-ea"/>
                            <a:cs typeface="+mn-cs"/>
                          </a:rPr>
                          <m:t>𝑬</m:t>
                        </m:r>
                      </m:e>
                      <m:sub>
                        <m:r>
                          <a:rPr lang="en-US" sz="1820" b="1" i="1" kern="1200">
                            <a:solidFill>
                              <a:srgbClr val="202124"/>
                            </a:solidFill>
                            <a:latin typeface="Cambria Math" panose="02040503050406030204" pitchFamily="18" charset="0"/>
                            <a:ea typeface="+mn-ea"/>
                            <a:cs typeface="+mn-cs"/>
                          </a:rPr>
                          <m:t>𝒙</m:t>
                        </m:r>
                      </m:sub>
                    </m:sSub>
                  </m:oMath>
                </a14:m>
                <a:r>
                  <a:rPr lang="en-US" sz="1820" b="1" kern="1200">
                    <a:solidFill>
                      <a:srgbClr val="202124"/>
                    </a:solidFill>
                    <a:latin typeface="Roboto" panose="02000000000000000000" pitchFamily="2" charset="0"/>
                    <a:ea typeface="+mn-ea"/>
                    <a:cs typeface="+mn-cs"/>
                  </a:rPr>
                  <a:t> </a:t>
                </a:r>
                <a:r>
                  <a:rPr lang="en-US" sz="1820" kern="1200">
                    <a:solidFill>
                      <a:srgbClr val="202124"/>
                    </a:solidFill>
                    <a:latin typeface="Roboto" panose="02000000000000000000" pitchFamily="2" charset="0"/>
                    <a:ea typeface="+mn-ea"/>
                    <a:cs typeface="+mn-cs"/>
                  </a:rPr>
                  <a:t>: </a:t>
                </a:r>
                <a:r>
                  <a:rPr lang="en-US" sz="1820" kern="1200">
                    <a:solidFill>
                      <a:schemeClr val="tx1"/>
                    </a:solidFill>
                    <a:latin typeface="+mn-lt"/>
                    <a:ea typeface="+mn-ea"/>
                    <a:cs typeface="+mn-cs"/>
                  </a:rPr>
                  <a:t>expected value over all real data instances</a:t>
                </a:r>
              </a:p>
              <a:p>
                <a:pPr marL="0" indent="0" defTabSz="832104">
                  <a:spcBef>
                    <a:spcPts val="910"/>
                  </a:spcBef>
                  <a:buNone/>
                </a:pPr>
                <a14:m>
                  <m:oMath xmlns:m="http://schemas.openxmlformats.org/officeDocument/2006/math">
                    <m:r>
                      <a:rPr lang="en-US" sz="1820" b="1" i="1" kern="1200">
                        <a:solidFill>
                          <a:srgbClr val="202124"/>
                        </a:solidFill>
                        <a:latin typeface="Cambria Math" panose="02040503050406030204" pitchFamily="18" charset="0"/>
                        <a:ea typeface="+mn-ea"/>
                        <a:cs typeface="+mn-cs"/>
                      </a:rPr>
                      <m:t>𝑮</m:t>
                    </m:r>
                    <m:r>
                      <a:rPr lang="en-US" sz="1820" b="1" i="1" kern="1200">
                        <a:solidFill>
                          <a:srgbClr val="202124"/>
                        </a:solidFill>
                        <a:latin typeface="Cambria Math" panose="02040503050406030204" pitchFamily="18" charset="0"/>
                        <a:ea typeface="+mn-ea"/>
                        <a:cs typeface="+mn-cs"/>
                      </a:rPr>
                      <m:t>(</m:t>
                    </m:r>
                    <m:r>
                      <a:rPr lang="en-US" sz="1820" b="1" i="1" kern="1200">
                        <a:solidFill>
                          <a:srgbClr val="202124"/>
                        </a:solidFill>
                        <a:latin typeface="Cambria Math" panose="02040503050406030204" pitchFamily="18" charset="0"/>
                        <a:ea typeface="+mn-ea"/>
                        <a:cs typeface="+mn-cs"/>
                      </a:rPr>
                      <m:t>𝒛</m:t>
                    </m:r>
                    <m:r>
                      <a:rPr lang="en-US" sz="1820" b="1" i="1" kern="1200">
                        <a:solidFill>
                          <a:srgbClr val="202124"/>
                        </a:solidFill>
                        <a:latin typeface="Cambria Math" panose="02040503050406030204" pitchFamily="18" charset="0"/>
                        <a:ea typeface="+mn-ea"/>
                        <a:cs typeface="+mn-cs"/>
                      </a:rPr>
                      <m:t>)</m:t>
                    </m:r>
                  </m:oMath>
                </a14:m>
                <a:r>
                  <a:rPr lang="en-US" sz="1820" b="1" kern="1200">
                    <a:solidFill>
                      <a:srgbClr val="202124"/>
                    </a:solidFill>
                    <a:latin typeface="Roboto" panose="02000000000000000000" pitchFamily="2" charset="0"/>
                    <a:ea typeface="+mn-ea"/>
                    <a:cs typeface="+mn-cs"/>
                  </a:rPr>
                  <a:t>: </a:t>
                </a:r>
                <a:r>
                  <a:rPr lang="en-US" sz="1820" kern="1200">
                    <a:solidFill>
                      <a:schemeClr val="tx1"/>
                    </a:solidFill>
                    <a:latin typeface="+mn-lt"/>
                    <a:ea typeface="+mn-ea"/>
                    <a:cs typeface="+mn-cs"/>
                  </a:rPr>
                  <a:t>generator's output when given noise z</a:t>
                </a:r>
              </a:p>
              <a:p>
                <a:pPr marL="0" indent="0" defTabSz="832104">
                  <a:spcBef>
                    <a:spcPts val="910"/>
                  </a:spcBef>
                  <a:buNone/>
                </a:pPr>
                <a14:m>
                  <m:oMath xmlns:m="http://schemas.openxmlformats.org/officeDocument/2006/math">
                    <m:r>
                      <a:rPr lang="en-US" sz="1820" b="1" i="1" kern="1200">
                        <a:solidFill>
                          <a:srgbClr val="202124"/>
                        </a:solidFill>
                        <a:latin typeface="Cambria Math" panose="02040503050406030204" pitchFamily="18" charset="0"/>
                        <a:ea typeface="+mn-ea"/>
                        <a:cs typeface="+mn-cs"/>
                      </a:rPr>
                      <m:t>𝑫</m:t>
                    </m:r>
                    <m:r>
                      <a:rPr lang="en-US" sz="1820" b="1" i="1" kern="1200">
                        <a:solidFill>
                          <a:srgbClr val="202124"/>
                        </a:solidFill>
                        <a:latin typeface="Cambria Math" panose="02040503050406030204" pitchFamily="18" charset="0"/>
                        <a:ea typeface="+mn-ea"/>
                        <a:cs typeface="+mn-cs"/>
                      </a:rPr>
                      <m:t>(</m:t>
                    </m:r>
                    <m:r>
                      <a:rPr lang="en-US" sz="1820" b="1" i="1" kern="1200">
                        <a:solidFill>
                          <a:srgbClr val="202124"/>
                        </a:solidFill>
                        <a:latin typeface="Cambria Math" panose="02040503050406030204" pitchFamily="18" charset="0"/>
                        <a:ea typeface="+mn-ea"/>
                        <a:cs typeface="+mn-cs"/>
                      </a:rPr>
                      <m:t>𝑮</m:t>
                    </m:r>
                    <m:r>
                      <a:rPr lang="en-US" sz="1820" b="1" i="1" kern="1200">
                        <a:solidFill>
                          <a:srgbClr val="202124"/>
                        </a:solidFill>
                        <a:latin typeface="Cambria Math" panose="02040503050406030204" pitchFamily="18" charset="0"/>
                        <a:ea typeface="+mn-ea"/>
                        <a:cs typeface="+mn-cs"/>
                      </a:rPr>
                      <m:t>(</m:t>
                    </m:r>
                    <m:r>
                      <a:rPr lang="en-US" sz="1820" b="1" i="1" kern="1200">
                        <a:solidFill>
                          <a:srgbClr val="202124"/>
                        </a:solidFill>
                        <a:latin typeface="Cambria Math" panose="02040503050406030204" pitchFamily="18" charset="0"/>
                        <a:ea typeface="+mn-ea"/>
                        <a:cs typeface="+mn-cs"/>
                      </a:rPr>
                      <m:t>𝒛</m:t>
                    </m:r>
                    <m:r>
                      <a:rPr lang="en-US" sz="1820" b="1" i="1" kern="1200">
                        <a:solidFill>
                          <a:srgbClr val="202124"/>
                        </a:solidFill>
                        <a:latin typeface="Cambria Math" panose="02040503050406030204" pitchFamily="18" charset="0"/>
                        <a:ea typeface="+mn-ea"/>
                        <a:cs typeface="+mn-cs"/>
                      </a:rPr>
                      <m:t>))</m:t>
                    </m:r>
                  </m:oMath>
                </a14:m>
                <a:r>
                  <a:rPr lang="en-US" sz="1820" b="1" kern="1200">
                    <a:solidFill>
                      <a:srgbClr val="202124"/>
                    </a:solidFill>
                    <a:latin typeface="Roboto" panose="02000000000000000000" pitchFamily="2" charset="0"/>
                    <a:ea typeface="+mn-ea"/>
                    <a:cs typeface="+mn-cs"/>
                  </a:rPr>
                  <a:t>: </a:t>
                </a:r>
                <a:r>
                  <a:rPr lang="en-US" sz="1820" kern="1200">
                    <a:solidFill>
                      <a:schemeClr val="tx1"/>
                    </a:solidFill>
                    <a:latin typeface="+mn-lt"/>
                    <a:ea typeface="+mn-ea"/>
                    <a:cs typeface="+mn-cs"/>
                  </a:rPr>
                  <a:t>discriminator's estimate of the probability that a fake instance is real</a:t>
                </a:r>
              </a:p>
              <a:p>
                <a:pPr marL="0" indent="0" defTabSz="832104">
                  <a:spcBef>
                    <a:spcPts val="910"/>
                  </a:spcBef>
                  <a:buNone/>
                </a:pPr>
                <a14:m>
                  <m:oMath xmlns:m="http://schemas.openxmlformats.org/officeDocument/2006/math">
                    <m:sSub>
                      <m:sSubPr>
                        <m:ctrlPr>
                          <a:rPr lang="en-US" sz="1820" b="1" i="1" kern="1200">
                            <a:solidFill>
                              <a:srgbClr val="202124"/>
                            </a:solidFill>
                            <a:latin typeface="Cambria Math" panose="02040503050406030204" pitchFamily="18" charset="0"/>
                            <a:ea typeface="+mn-ea"/>
                            <a:cs typeface="+mn-cs"/>
                          </a:rPr>
                        </m:ctrlPr>
                      </m:sSubPr>
                      <m:e>
                        <m:r>
                          <a:rPr lang="en-US" sz="1820" b="1" i="1" kern="1200">
                            <a:solidFill>
                              <a:srgbClr val="202124"/>
                            </a:solidFill>
                            <a:latin typeface="Cambria Math" panose="02040503050406030204" pitchFamily="18" charset="0"/>
                            <a:ea typeface="+mn-ea"/>
                            <a:cs typeface="+mn-cs"/>
                          </a:rPr>
                          <m:t>𝑬</m:t>
                        </m:r>
                      </m:e>
                      <m:sub>
                        <m:r>
                          <a:rPr lang="en-US" sz="1820" b="1" i="1" kern="1200">
                            <a:solidFill>
                              <a:srgbClr val="202124"/>
                            </a:solidFill>
                            <a:latin typeface="Cambria Math" panose="02040503050406030204" pitchFamily="18" charset="0"/>
                            <a:ea typeface="+mn-ea"/>
                            <a:cs typeface="+mn-cs"/>
                          </a:rPr>
                          <m:t>𝒛</m:t>
                        </m:r>
                      </m:sub>
                    </m:sSub>
                  </m:oMath>
                </a14:m>
                <a:r>
                  <a:rPr lang="en-US" sz="1820" kern="1200">
                    <a:solidFill>
                      <a:srgbClr val="202124"/>
                    </a:solidFill>
                    <a:latin typeface="Roboto" panose="02000000000000000000" pitchFamily="2" charset="0"/>
                    <a:ea typeface="+mn-ea"/>
                    <a:cs typeface="+mn-cs"/>
                  </a:rPr>
                  <a:t>: </a:t>
                </a:r>
                <a:r>
                  <a:rPr lang="en-US" sz="1820" kern="1200">
                    <a:solidFill>
                      <a:schemeClr val="tx1"/>
                    </a:solidFill>
                    <a:latin typeface="+mn-lt"/>
                    <a:ea typeface="+mn-ea"/>
                    <a:cs typeface="+mn-cs"/>
                  </a:rPr>
                  <a:t>expected value over all generated fake instances G(z)</a:t>
                </a:r>
              </a:p>
              <a:p>
                <a:pPr marL="0" indent="0">
                  <a:buNone/>
                </a:pPr>
                <a:endParaRPr lang="en-US" sz="2000" dirty="0">
                  <a:solidFill>
                    <a:srgbClr val="202124"/>
                  </a:solidFill>
                  <a:latin typeface="Roboto" panose="02000000000000000000" pitchFamily="2" charset="0"/>
                </a:endParaRPr>
              </a:p>
            </p:txBody>
          </p:sp>
        </mc:Choice>
        <mc:Fallback xmlns="">
          <p:sp>
            <p:nvSpPr>
              <p:cNvPr id="3" name="Content Placeholder 2">
                <a:extLst>
                  <a:ext uri="{FF2B5EF4-FFF2-40B4-BE49-F238E27FC236}">
                    <a16:creationId xmlns:a16="http://schemas.microsoft.com/office/drawing/2014/main" id="{DD8D2532-9704-F3BF-2F5B-75D55CEAA16F}"/>
                  </a:ext>
                </a:extLst>
              </p:cNvPr>
              <p:cNvSpPr>
                <a:spLocks noGrp="1" noRot="1" noChangeAspect="1" noMove="1" noResize="1" noEditPoints="1" noAdjustHandles="1" noChangeArrowheads="1" noChangeShapeType="1" noTextEdit="1"/>
              </p:cNvSpPr>
              <p:nvPr>
                <p:ph idx="1"/>
              </p:nvPr>
            </p:nvSpPr>
            <p:spPr>
              <a:xfrm>
                <a:off x="1275445" y="1737360"/>
                <a:ext cx="9631967" cy="3985692"/>
              </a:xfrm>
              <a:blipFill>
                <a:blip r:embed="rId3"/>
                <a:stretch>
                  <a:fillRect l="-1076" t="-244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22D6660-1F58-A31A-B2F2-A3311DCBA98C}"/>
              </a:ext>
            </a:extLst>
          </p:cNvPr>
          <p:cNvSpPr txBox="1"/>
          <p:nvPr/>
        </p:nvSpPr>
        <p:spPr>
          <a:xfrm>
            <a:off x="9892968" y="5674121"/>
            <a:ext cx="803142" cy="344390"/>
          </a:xfrm>
          <a:prstGeom prst="rect">
            <a:avLst/>
          </a:prstGeom>
          <a:noFill/>
        </p:spPr>
        <p:txBody>
          <a:bodyPr wrap="square" rtlCol="0">
            <a:spAutoFit/>
          </a:bodyPr>
          <a:lstStyle/>
          <a:p>
            <a:pPr defTabSz="832104">
              <a:spcAft>
                <a:spcPts val="600"/>
              </a:spcAft>
            </a:pPr>
            <a:r>
              <a:rPr lang="en-US" sz="1638" b="1" kern="1200" dirty="0">
                <a:solidFill>
                  <a:schemeClr val="tx1"/>
                </a:solidFill>
                <a:latin typeface="+mn-lt"/>
                <a:ea typeface="+mn-ea"/>
                <a:cs typeface="+mn-cs"/>
              </a:rPr>
              <a:t>Cont..</a:t>
            </a:r>
            <a:endParaRPr lang="en-US" b="1" dirty="0"/>
          </a:p>
        </p:txBody>
      </p:sp>
      <p:sp>
        <p:nvSpPr>
          <p:cNvPr id="15" name="TextBox 14">
            <a:extLst>
              <a:ext uri="{FF2B5EF4-FFF2-40B4-BE49-F238E27FC236}">
                <a16:creationId xmlns:a16="http://schemas.microsoft.com/office/drawing/2014/main" id="{940D2CDE-4D83-A491-F917-CA2E24874163}"/>
              </a:ext>
            </a:extLst>
          </p:cNvPr>
          <p:cNvSpPr txBox="1"/>
          <p:nvPr/>
        </p:nvSpPr>
        <p:spPr>
          <a:xfrm>
            <a:off x="3300510" y="4737793"/>
            <a:ext cx="5581836" cy="428451"/>
          </a:xfrm>
          <a:prstGeom prst="rect">
            <a:avLst/>
          </a:prstGeom>
          <a:noFill/>
        </p:spPr>
        <p:txBody>
          <a:bodyPr wrap="square">
            <a:spAutoFit/>
          </a:bodyPr>
          <a:lstStyle/>
          <a:p>
            <a:pPr defTabSz="832104">
              <a:spcAft>
                <a:spcPts val="600"/>
              </a:spcAft>
            </a:pPr>
            <a:r>
              <a:rPr lang="en-US" sz="2184" b="1" kern="1200" dirty="0">
                <a:solidFill>
                  <a:schemeClr val="tx1"/>
                </a:solidFill>
                <a:latin typeface="+mn-lt"/>
                <a:ea typeface="+mn-ea"/>
                <a:cs typeface="+mn-cs"/>
              </a:rPr>
              <a:t>Generator can't directly affect the log(D(x))</a:t>
            </a:r>
            <a:endParaRPr lang="en-US" sz="2400" b="1" dirty="0"/>
          </a:p>
        </p:txBody>
      </p:sp>
      <p:sp>
        <p:nvSpPr>
          <p:cNvPr id="17" name="TextBox 16">
            <a:extLst>
              <a:ext uri="{FF2B5EF4-FFF2-40B4-BE49-F238E27FC236}">
                <a16:creationId xmlns:a16="http://schemas.microsoft.com/office/drawing/2014/main" id="{176B4256-3CE2-249E-C70D-14648C1FCA6C}"/>
              </a:ext>
            </a:extLst>
          </p:cNvPr>
          <p:cNvSpPr txBox="1"/>
          <p:nvPr/>
        </p:nvSpPr>
        <p:spPr>
          <a:xfrm>
            <a:off x="1275444" y="5427042"/>
            <a:ext cx="7975009" cy="1027333"/>
          </a:xfrm>
          <a:prstGeom prst="rect">
            <a:avLst/>
          </a:prstGeom>
          <a:noFill/>
        </p:spPr>
        <p:txBody>
          <a:bodyPr wrap="square">
            <a:spAutoFit/>
          </a:bodyPr>
          <a:lstStyle/>
          <a:p>
            <a:pPr marL="260033" indent="-260033" defTabSz="832104">
              <a:spcAft>
                <a:spcPts val="600"/>
              </a:spcAft>
              <a:buFont typeface="Arial" panose="020B0604020202020204" pitchFamily="34" charset="0"/>
              <a:buChar char="•"/>
            </a:pPr>
            <a:r>
              <a:rPr lang="en-US" sz="1638" b="1" kern="1200" dirty="0">
                <a:solidFill>
                  <a:srgbClr val="FF0000"/>
                </a:solidFill>
                <a:latin typeface="Roboto" panose="02000000000000000000" pitchFamily="2" charset="0"/>
                <a:ea typeface="+mn-ea"/>
                <a:cs typeface="+mn-cs"/>
              </a:rPr>
              <a:t>minimax loss function can cause the GAN to get stuck in the early stages</a:t>
            </a:r>
          </a:p>
          <a:p>
            <a:pPr marL="260033" indent="-260033" defTabSz="832104">
              <a:spcAft>
                <a:spcPts val="600"/>
              </a:spcAft>
              <a:buFont typeface="Arial" panose="020B0604020202020204" pitchFamily="34" charset="0"/>
              <a:buChar char="•"/>
            </a:pPr>
            <a:r>
              <a:rPr lang="en-US" sz="1638" b="1" kern="1200" dirty="0">
                <a:solidFill>
                  <a:srgbClr val="00B050"/>
                </a:solidFill>
                <a:latin typeface="Roboto" panose="02000000000000000000" pitchFamily="2" charset="0"/>
                <a:ea typeface="+mn-ea"/>
                <a:cs typeface="+mn-cs"/>
              </a:rPr>
              <a:t>modify the generator loss so that the generator tries to maximize log D(G(z))</a:t>
            </a:r>
          </a:p>
          <a:p>
            <a:pPr marL="285750" indent="-285750">
              <a:spcAft>
                <a:spcPts val="600"/>
              </a:spcAft>
              <a:buFont typeface="Arial" panose="020B0604020202020204" pitchFamily="34" charset="0"/>
              <a:buChar char="•"/>
            </a:pPr>
            <a:endParaRPr lang="en-US" b="1" dirty="0">
              <a:solidFill>
                <a:srgbClr val="00B050"/>
              </a:solidFill>
            </a:endParaRPr>
          </a:p>
        </p:txBody>
      </p:sp>
      <p:pic>
        <p:nvPicPr>
          <p:cNvPr id="5" name="Picture 4">
            <a:extLst>
              <a:ext uri="{FF2B5EF4-FFF2-40B4-BE49-F238E27FC236}">
                <a16:creationId xmlns:a16="http://schemas.microsoft.com/office/drawing/2014/main" id="{82A59357-2300-C1E5-4CC6-9A9E1FAF32BF}"/>
              </a:ext>
            </a:extLst>
          </p:cNvPr>
          <p:cNvPicPr>
            <a:picLocks noChangeAspect="1"/>
          </p:cNvPicPr>
          <p:nvPr/>
        </p:nvPicPr>
        <p:blipFill>
          <a:blip r:embed="rId4"/>
          <a:stretch>
            <a:fillRect/>
          </a:stretch>
        </p:blipFill>
        <p:spPr>
          <a:xfrm>
            <a:off x="7914594" y="490902"/>
            <a:ext cx="3956748" cy="581538"/>
          </a:xfrm>
          <a:prstGeom prst="rect">
            <a:avLst/>
          </a:prstGeom>
        </p:spPr>
      </p:pic>
    </p:spTree>
    <p:extLst>
      <p:ext uri="{BB962C8B-B14F-4D97-AF65-F5344CB8AC3E}">
        <p14:creationId xmlns:p14="http://schemas.microsoft.com/office/powerpoint/2010/main" val="3608661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52C9DB-3C03-AB12-C175-692EDEC55F1E}"/>
              </a:ext>
            </a:extLst>
          </p:cNvPr>
          <p:cNvSpPr>
            <a:spLocks noGrp="1"/>
          </p:cNvSpPr>
          <p:nvPr>
            <p:ph type="title"/>
          </p:nvPr>
        </p:nvSpPr>
        <p:spPr>
          <a:xfrm>
            <a:off x="838200" y="365125"/>
            <a:ext cx="10515600" cy="1325563"/>
          </a:xfrm>
        </p:spPr>
        <p:txBody>
          <a:bodyPr>
            <a:normAutofit/>
          </a:bodyPr>
          <a:lstStyle/>
          <a:p>
            <a:r>
              <a:rPr lang="en-US" sz="5400"/>
              <a:t>Loss Functions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8D2532-9704-F3BF-2F5B-75D55CEAA16F}"/>
                  </a:ext>
                </a:extLst>
              </p:cNvPr>
              <p:cNvSpPr>
                <a:spLocks noGrp="1"/>
              </p:cNvSpPr>
              <p:nvPr>
                <p:ph idx="1"/>
              </p:nvPr>
            </p:nvSpPr>
            <p:spPr>
              <a:xfrm>
                <a:off x="838200" y="1929384"/>
                <a:ext cx="10515600" cy="4251960"/>
              </a:xfrm>
            </p:spPr>
            <p:txBody>
              <a:bodyPr>
                <a:normAutofit/>
              </a:bodyPr>
              <a:lstStyle/>
              <a:p>
                <a:pPr marL="0" indent="0">
                  <a:buNone/>
                </a:pPr>
                <a:r>
                  <a:rPr lang="en-US" sz="1400" b="1" i="0">
                    <a:effectLst/>
                  </a:rPr>
                  <a:t>Wasserstein </a:t>
                </a:r>
                <a:r>
                  <a:rPr lang="en-US" sz="1400" b="1" i="0">
                    <a:effectLst/>
                    <a:latin typeface="Roboto" panose="02000000000000000000" pitchFamily="2" charset="0"/>
                  </a:rPr>
                  <a:t>loss (</a:t>
                </a:r>
                <a:r>
                  <a:rPr lang="en-US" sz="1400" b="0" i="0">
                    <a:effectLst/>
                    <a:latin typeface="Roboto" panose="02000000000000000000" pitchFamily="2" charset="0"/>
                  </a:rPr>
                  <a:t>WGAN discriminator is actually called a "critic" instead of a "discriminator"</a:t>
                </a:r>
                <a:r>
                  <a:rPr lang="en-US" sz="1400" b="1" i="0">
                    <a:effectLst/>
                    <a:latin typeface="Roboto" panose="02000000000000000000" pitchFamily="2" charset="0"/>
                  </a:rPr>
                  <a:t>)</a:t>
                </a:r>
                <a:endParaRPr lang="en-US" sz="1400" b="1">
                  <a:latin typeface="Roboto" panose="02000000000000000000" pitchFamily="2" charset="0"/>
                </a:endParaRPr>
              </a:p>
              <a:p>
                <a:pPr marL="0" indent="0">
                  <a:buNone/>
                </a:pPr>
                <a:endParaRPr lang="en-US" sz="1400" b="1" i="1">
                  <a:latin typeface="Roboto" panose="02000000000000000000" pitchFamily="2" charset="0"/>
                </a:endParaRPr>
              </a:p>
              <a:p>
                <a:pPr marL="0" indent="0">
                  <a:buNone/>
                </a:pPr>
                <a14:m>
                  <m:oMathPara xmlns:m="http://schemas.openxmlformats.org/officeDocument/2006/math">
                    <m:oMathParaPr>
                      <m:jc m:val="left"/>
                    </m:oMathParaPr>
                    <m:oMath xmlns:m="http://schemas.openxmlformats.org/officeDocument/2006/math">
                      <m:r>
                        <a:rPr lang="en-US" sz="1400" b="1" i="0">
                          <a:latin typeface="Cambria Math" panose="02040503050406030204" pitchFamily="18" charset="0"/>
                        </a:rPr>
                        <m:t>𝐂𝐫𝐢𝐭𝐢𝐜</m:t>
                      </m:r>
                      <m:r>
                        <a:rPr lang="en-US" sz="1400" b="1" i="0">
                          <a:latin typeface="Cambria Math" panose="02040503050406030204" pitchFamily="18" charset="0"/>
                        </a:rPr>
                        <m:t> </m:t>
                      </m:r>
                      <m:r>
                        <a:rPr lang="en-US" sz="1400" b="1" i="0">
                          <a:latin typeface="Cambria Math" panose="02040503050406030204" pitchFamily="18" charset="0"/>
                        </a:rPr>
                        <m:t>𝐋𝐨𝐬𝐬</m:t>
                      </m:r>
                      <m:r>
                        <a:rPr lang="en-US" sz="1400" i="1">
                          <a:latin typeface="Cambria Math" panose="02040503050406030204" pitchFamily="18" charset="0"/>
                        </a:rPr>
                        <m:t>: </m:t>
                      </m:r>
                      <m:r>
                        <a:rPr lang="en-US" sz="1400" i="1">
                          <a:latin typeface="Cambria Math" panose="02040503050406030204" pitchFamily="18" charset="0"/>
                        </a:rPr>
                        <m:t>𝐷</m:t>
                      </m:r>
                      <m:r>
                        <a:rPr lang="en-US" sz="1400" i="1">
                          <a:latin typeface="Cambria Math" panose="02040503050406030204" pitchFamily="18" charset="0"/>
                        </a:rPr>
                        <m:t>(</m:t>
                      </m:r>
                      <m:r>
                        <a:rPr lang="en-US" sz="1400" i="1">
                          <a:latin typeface="Cambria Math" panose="02040503050406030204" pitchFamily="18" charset="0"/>
                        </a:rPr>
                        <m:t>𝑥</m:t>
                      </m:r>
                      <m:r>
                        <a:rPr lang="en-US" sz="1400" i="1">
                          <a:latin typeface="Cambria Math" panose="02040503050406030204" pitchFamily="18" charset="0"/>
                        </a:rPr>
                        <m:t>) − </m:t>
                      </m:r>
                      <m:r>
                        <a:rPr lang="en-US" sz="1400" i="1">
                          <a:latin typeface="Cambria Math" panose="02040503050406030204" pitchFamily="18" charset="0"/>
                        </a:rPr>
                        <m:t>𝐷</m:t>
                      </m:r>
                      <m:r>
                        <a:rPr lang="en-US" sz="1400" i="1">
                          <a:latin typeface="Cambria Math" panose="02040503050406030204" pitchFamily="18" charset="0"/>
                        </a:rPr>
                        <m:t>(</m:t>
                      </m:r>
                      <m:r>
                        <a:rPr lang="en-US" sz="1400" i="1">
                          <a:latin typeface="Cambria Math" panose="02040503050406030204" pitchFamily="18" charset="0"/>
                        </a:rPr>
                        <m:t>𝐺</m:t>
                      </m:r>
                      <m:r>
                        <a:rPr lang="en-US" sz="1400" i="1">
                          <a:latin typeface="Cambria Math" panose="02040503050406030204" pitchFamily="18" charset="0"/>
                        </a:rPr>
                        <m:t>(</m:t>
                      </m:r>
                      <m:r>
                        <a:rPr lang="en-US" sz="1400" i="1">
                          <a:latin typeface="Cambria Math" panose="02040503050406030204" pitchFamily="18" charset="0"/>
                        </a:rPr>
                        <m:t>𝑧</m:t>
                      </m:r>
                      <m:r>
                        <a:rPr lang="en-US" sz="1400" i="1">
                          <a:latin typeface="Cambria Math" panose="02040503050406030204" pitchFamily="18" charset="0"/>
                        </a:rPr>
                        <m:t>))</m:t>
                      </m:r>
                    </m:oMath>
                  </m:oMathPara>
                </a14:m>
                <a:endParaRPr lang="en-US" sz="1400">
                  <a:latin typeface="Roboto" panose="02000000000000000000" pitchFamily="2" charset="0"/>
                </a:endParaRPr>
              </a:p>
              <a:p>
                <a:pPr lvl="1"/>
                <a:r>
                  <a:rPr lang="en-US" sz="1400" b="0" i="0">
                    <a:effectLst/>
                    <a:latin typeface="Roboto" panose="02000000000000000000" pitchFamily="2" charset="0"/>
                  </a:rPr>
                  <a:t>discriminator tries to maximize the difference between its output on real instances and its output on fake instances.</a:t>
                </a:r>
              </a:p>
              <a:p>
                <a:pPr marL="0" indent="0">
                  <a:buNone/>
                </a:pPr>
                <a:endParaRPr lang="en-US" sz="1400">
                  <a:latin typeface="Roboto" panose="02000000000000000000" pitchFamily="2" charset="0"/>
                </a:endParaRPr>
              </a:p>
              <a:p>
                <a:pPr marL="0" indent="0">
                  <a:buNone/>
                </a:pPr>
                <a:r>
                  <a:rPr lang="en-US" sz="1400" b="1">
                    <a:latin typeface="Roboto" panose="02000000000000000000" pitchFamily="2" charset="0"/>
                  </a:rPr>
                  <a:t>Generator Loss</a:t>
                </a:r>
                <a:r>
                  <a:rPr lang="en-US" sz="1400">
                    <a:latin typeface="Roboto" panose="02000000000000000000" pitchFamily="2" charset="0"/>
                  </a:rPr>
                  <a:t>: D(G(z))</a:t>
                </a:r>
              </a:p>
              <a:p>
                <a:pPr lvl="1"/>
                <a:r>
                  <a:rPr lang="en-US" sz="1400" b="0" i="0">
                    <a:effectLst/>
                    <a:latin typeface="Roboto" panose="02000000000000000000" pitchFamily="2" charset="0"/>
                  </a:rPr>
                  <a:t>generator tries to maximize the discriminator's output for its fake instances.</a:t>
                </a:r>
              </a:p>
              <a:p>
                <a:pPr marL="0" indent="0">
                  <a:buNone/>
                </a:pPr>
                <a:endParaRPr lang="en-US" sz="1400">
                  <a:latin typeface="Roboto" panose="02000000000000000000" pitchFamily="2" charset="0"/>
                </a:endParaRPr>
              </a:p>
              <a:p>
                <a:pPr marL="0" indent="0">
                  <a:buNone/>
                </a:pPr>
                <a:r>
                  <a:rPr lang="en-US" sz="1400">
                    <a:latin typeface="Roboto" panose="02000000000000000000" pitchFamily="2" charset="0"/>
                  </a:rPr>
                  <a:t>In these functions:</a:t>
                </a:r>
              </a:p>
              <a:p>
                <a:pPr marL="0" indent="0">
                  <a:buNone/>
                </a:pPr>
                <a:endParaRPr lang="en-US" sz="1400">
                  <a:latin typeface="Roboto" panose="02000000000000000000" pitchFamily="2" charset="0"/>
                </a:endParaRPr>
              </a:p>
              <a:p>
                <a:r>
                  <a:rPr lang="en-US" sz="1400">
                    <a:latin typeface="Roboto" panose="02000000000000000000" pitchFamily="2" charset="0"/>
                  </a:rPr>
                  <a:t>D(x) is the critic's output for a real instance.</a:t>
                </a:r>
              </a:p>
              <a:p>
                <a:r>
                  <a:rPr lang="en-US" sz="1400">
                    <a:latin typeface="Roboto" panose="02000000000000000000" pitchFamily="2" charset="0"/>
                  </a:rPr>
                  <a:t>G(z) is the generator's output when given noise z.</a:t>
                </a:r>
              </a:p>
              <a:p>
                <a:r>
                  <a:rPr lang="en-US" sz="1400">
                    <a:latin typeface="Roboto" panose="02000000000000000000" pitchFamily="2" charset="0"/>
                  </a:rPr>
                  <a:t>D(G(z)) is the critic's output for a fake instance.</a:t>
                </a:r>
              </a:p>
              <a:p>
                <a:r>
                  <a:rPr lang="en-US" sz="1400">
                    <a:latin typeface="Roboto" panose="02000000000000000000" pitchFamily="2" charset="0"/>
                  </a:rPr>
                  <a:t>The output of critic D does not have to be between 1 and 0.</a:t>
                </a:r>
              </a:p>
            </p:txBody>
          </p:sp>
        </mc:Choice>
        <mc:Fallback xmlns="">
          <p:sp>
            <p:nvSpPr>
              <p:cNvPr id="3" name="Content Placeholder 2">
                <a:extLst>
                  <a:ext uri="{FF2B5EF4-FFF2-40B4-BE49-F238E27FC236}">
                    <a16:creationId xmlns:a16="http://schemas.microsoft.com/office/drawing/2014/main" id="{DD8D2532-9704-F3BF-2F5B-75D55CEAA16F}"/>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3"/>
                <a:stretch>
                  <a:fillRect l="-174" t="-86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15240EC-D6F4-6FCD-66B5-3DDAEE53466A}"/>
              </a:ext>
            </a:extLst>
          </p:cNvPr>
          <p:cNvPicPr>
            <a:picLocks noChangeAspect="1"/>
          </p:cNvPicPr>
          <p:nvPr/>
        </p:nvPicPr>
        <p:blipFill>
          <a:blip r:embed="rId4"/>
          <a:stretch>
            <a:fillRect/>
          </a:stretch>
        </p:blipFill>
        <p:spPr>
          <a:xfrm>
            <a:off x="7814628" y="257149"/>
            <a:ext cx="3956748" cy="581538"/>
          </a:xfrm>
          <a:prstGeom prst="rect">
            <a:avLst/>
          </a:prstGeom>
        </p:spPr>
      </p:pic>
    </p:spTree>
    <p:extLst>
      <p:ext uri="{BB962C8B-B14F-4D97-AF65-F5344CB8AC3E}">
        <p14:creationId xmlns:p14="http://schemas.microsoft.com/office/powerpoint/2010/main" val="3774508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0CC7C-4E12-9F77-1F69-E320408F0F48}"/>
              </a:ext>
            </a:extLst>
          </p:cNvPr>
          <p:cNvSpPr>
            <a:spLocks noGrp="1"/>
          </p:cNvSpPr>
          <p:nvPr>
            <p:ph type="title"/>
          </p:nvPr>
        </p:nvSpPr>
        <p:spPr>
          <a:xfrm>
            <a:off x="841248" y="334644"/>
            <a:ext cx="10509504" cy="1076914"/>
          </a:xfrm>
        </p:spPr>
        <p:txBody>
          <a:bodyPr anchor="ctr">
            <a:normAutofit/>
          </a:bodyPr>
          <a:lstStyle/>
          <a:p>
            <a:r>
              <a:rPr lang="en-US" sz="4000"/>
              <a:t>The approximation: GAN</a:t>
            </a:r>
          </a:p>
        </p:txBody>
      </p:sp>
      <p:sp>
        <p:nvSpPr>
          <p:cNvPr id="3" name="Content Placeholder 2">
            <a:extLst>
              <a:ext uri="{FF2B5EF4-FFF2-40B4-BE49-F238E27FC236}">
                <a16:creationId xmlns:a16="http://schemas.microsoft.com/office/drawing/2014/main" id="{207BFCE6-E1E3-0039-9315-9566A22B1FE1}"/>
              </a:ext>
            </a:extLst>
          </p:cNvPr>
          <p:cNvSpPr>
            <a:spLocks noGrp="1"/>
          </p:cNvSpPr>
          <p:nvPr>
            <p:ph idx="1"/>
          </p:nvPr>
        </p:nvSpPr>
        <p:spPr>
          <a:xfrm>
            <a:off x="494914" y="1699460"/>
            <a:ext cx="4744338" cy="3645546"/>
          </a:xfrm>
        </p:spPr>
        <p:txBody>
          <a:bodyPr/>
          <a:lstStyle/>
          <a:p>
            <a:pPr marL="0" indent="0" defTabSz="758952">
              <a:spcBef>
                <a:spcPts val="830"/>
              </a:spcBef>
              <a:buNone/>
            </a:pPr>
            <a:r>
              <a:rPr lang="en-US" sz="1494" kern="1200" dirty="0">
                <a:solidFill>
                  <a:srgbClr val="242424"/>
                </a:solidFill>
                <a:latin typeface="source-serif-pro"/>
                <a:ea typeface="+mn-ea"/>
                <a:cs typeface="+mn-cs"/>
              </a:rPr>
              <a:t>Two networks can then be trained jointly (at the same time) with opposite goals:</a:t>
            </a:r>
          </a:p>
          <a:p>
            <a:pPr marL="0" indent="0" defTabSz="758952">
              <a:spcBef>
                <a:spcPts val="830"/>
              </a:spcBef>
              <a:buNone/>
            </a:pPr>
            <a:endParaRPr lang="en-US" sz="1494" kern="1200" dirty="0">
              <a:solidFill>
                <a:srgbClr val="242424"/>
              </a:solidFill>
              <a:latin typeface="source-serif-pro"/>
              <a:ea typeface="+mn-ea"/>
              <a:cs typeface="+mn-cs"/>
            </a:endParaRPr>
          </a:p>
          <a:p>
            <a:pPr marL="189738" indent="-189738" defTabSz="758952">
              <a:spcBef>
                <a:spcPts val="830"/>
              </a:spcBef>
            </a:pPr>
            <a:r>
              <a:rPr lang="en-US" sz="1494" kern="1200" dirty="0">
                <a:solidFill>
                  <a:srgbClr val="242424"/>
                </a:solidFill>
                <a:latin typeface="source-serif-pro"/>
                <a:ea typeface="+mn-ea"/>
                <a:cs typeface="+mn-cs"/>
              </a:rPr>
              <a:t>the goal of the generator is to fool the discriminator, so the generative neural network is trained to </a:t>
            </a:r>
            <a:r>
              <a:rPr lang="en-US" sz="1494" b="1" kern="1200" dirty="0" err="1">
                <a:solidFill>
                  <a:srgbClr val="242424"/>
                </a:solidFill>
                <a:latin typeface="source-serif-pro"/>
                <a:ea typeface="+mn-ea"/>
                <a:cs typeface="+mn-cs"/>
              </a:rPr>
              <a:t>maximise</a:t>
            </a:r>
            <a:r>
              <a:rPr lang="en-US" sz="1494" b="1" kern="1200" dirty="0">
                <a:solidFill>
                  <a:srgbClr val="242424"/>
                </a:solidFill>
                <a:latin typeface="source-serif-pro"/>
                <a:ea typeface="+mn-ea"/>
                <a:cs typeface="+mn-cs"/>
              </a:rPr>
              <a:t> the final classification error </a:t>
            </a:r>
            <a:r>
              <a:rPr lang="en-US" sz="1494" kern="1200" dirty="0">
                <a:solidFill>
                  <a:srgbClr val="242424"/>
                </a:solidFill>
                <a:latin typeface="source-serif-pro"/>
                <a:ea typeface="+mn-ea"/>
                <a:cs typeface="+mn-cs"/>
              </a:rPr>
              <a:t>(between true and generated data)</a:t>
            </a:r>
          </a:p>
          <a:p>
            <a:pPr marL="0" indent="0" defTabSz="758952">
              <a:spcBef>
                <a:spcPts val="830"/>
              </a:spcBef>
              <a:buNone/>
            </a:pPr>
            <a:endParaRPr lang="en-US" sz="1494" kern="1200" dirty="0">
              <a:solidFill>
                <a:srgbClr val="242424"/>
              </a:solidFill>
              <a:latin typeface="source-serif-pro"/>
              <a:ea typeface="+mn-ea"/>
              <a:cs typeface="+mn-cs"/>
            </a:endParaRPr>
          </a:p>
          <a:p>
            <a:pPr marL="189738" indent="-189738" defTabSz="758952">
              <a:spcBef>
                <a:spcPts val="830"/>
              </a:spcBef>
            </a:pPr>
            <a:r>
              <a:rPr lang="en-US" sz="1494" kern="1200" dirty="0">
                <a:solidFill>
                  <a:srgbClr val="242424"/>
                </a:solidFill>
                <a:latin typeface="source-serif-pro"/>
                <a:ea typeface="+mn-ea"/>
                <a:cs typeface="+mn-cs"/>
              </a:rPr>
              <a:t>the goal of the discriminator is to detect fake generated data, so the discriminative neural network is trained to </a:t>
            </a:r>
            <a:r>
              <a:rPr lang="en-US" sz="1494" b="1" kern="1200" dirty="0" err="1">
                <a:solidFill>
                  <a:srgbClr val="242424"/>
                </a:solidFill>
                <a:latin typeface="source-serif-pro"/>
                <a:ea typeface="+mn-ea"/>
                <a:cs typeface="+mn-cs"/>
              </a:rPr>
              <a:t>minimise</a:t>
            </a:r>
            <a:r>
              <a:rPr lang="en-US" sz="1494" b="1" kern="1200" dirty="0">
                <a:solidFill>
                  <a:srgbClr val="242424"/>
                </a:solidFill>
                <a:latin typeface="source-serif-pro"/>
                <a:ea typeface="+mn-ea"/>
                <a:cs typeface="+mn-cs"/>
              </a:rPr>
              <a:t> the final classification error</a:t>
            </a:r>
          </a:p>
          <a:p>
            <a:endParaRPr lang="en-US" dirty="0"/>
          </a:p>
        </p:txBody>
      </p:sp>
      <p:pic>
        <p:nvPicPr>
          <p:cNvPr id="5122" name="Picture 2">
            <a:extLst>
              <a:ext uri="{FF2B5EF4-FFF2-40B4-BE49-F238E27FC236}">
                <a16:creationId xmlns:a16="http://schemas.microsoft.com/office/drawing/2014/main" id="{5AF0E9B0-5587-D41C-51D3-01C095C2E6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9252" y="1834196"/>
            <a:ext cx="6798260" cy="26757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DF4958C-C3C8-B1D7-C63B-76F57C998AFA}"/>
              </a:ext>
            </a:extLst>
          </p:cNvPr>
          <p:cNvSpPr txBox="1"/>
          <p:nvPr/>
        </p:nvSpPr>
        <p:spPr>
          <a:xfrm>
            <a:off x="1563969" y="5336207"/>
            <a:ext cx="7861099" cy="347788"/>
          </a:xfrm>
          <a:prstGeom prst="rect">
            <a:avLst/>
          </a:prstGeom>
          <a:noFill/>
        </p:spPr>
        <p:txBody>
          <a:bodyPr wrap="square">
            <a:spAutoFit/>
          </a:bodyPr>
          <a:lstStyle/>
          <a:p>
            <a:pPr marL="237173" indent="-237173" defTabSz="758952">
              <a:spcAft>
                <a:spcPts val="600"/>
              </a:spcAft>
              <a:buFont typeface="Arial" panose="020B0604020202020204" pitchFamily="34" charset="0"/>
              <a:buChar char="•"/>
            </a:pPr>
            <a:r>
              <a:rPr lang="en-US" sz="1660" b="1" kern="1200" dirty="0">
                <a:solidFill>
                  <a:srgbClr val="00B050"/>
                </a:solidFill>
                <a:latin typeface="source-serif-pro"/>
                <a:ea typeface="+mn-ea"/>
                <a:cs typeface="+mn-cs"/>
              </a:rPr>
              <a:t>These opposite goals and the implied notion of adversarial training</a:t>
            </a:r>
            <a:endParaRPr lang="en-US" sz="2000" b="1" dirty="0">
              <a:solidFill>
                <a:srgbClr val="00B050"/>
              </a:solidFill>
            </a:endParaRPr>
          </a:p>
        </p:txBody>
      </p:sp>
      <p:sp>
        <p:nvSpPr>
          <p:cNvPr id="7" name="TextBox 6">
            <a:extLst>
              <a:ext uri="{FF2B5EF4-FFF2-40B4-BE49-F238E27FC236}">
                <a16:creationId xmlns:a16="http://schemas.microsoft.com/office/drawing/2014/main" id="{A671EC35-1587-CA4C-A9C5-E12A37CCA40F}"/>
              </a:ext>
            </a:extLst>
          </p:cNvPr>
          <p:cNvSpPr txBox="1"/>
          <p:nvPr/>
        </p:nvSpPr>
        <p:spPr>
          <a:xfrm>
            <a:off x="1563969" y="5916837"/>
            <a:ext cx="9783735" cy="369332"/>
          </a:xfrm>
          <a:prstGeom prst="rect">
            <a:avLst/>
          </a:prstGeom>
          <a:noFill/>
        </p:spPr>
        <p:txBody>
          <a:bodyPr wrap="square">
            <a:spAutoFit/>
          </a:bodyPr>
          <a:lstStyle/>
          <a:p>
            <a:pPr marL="237173" indent="-237173" defTabSz="758952">
              <a:spcAft>
                <a:spcPts val="600"/>
              </a:spcAft>
              <a:buFont typeface="Arial" panose="020B0604020202020204" pitchFamily="34" charset="0"/>
              <a:buChar char="•"/>
            </a:pPr>
            <a:r>
              <a:rPr lang="en-US" sz="1800" b="1" kern="1200" dirty="0">
                <a:solidFill>
                  <a:srgbClr val="00B050"/>
                </a:solidFill>
                <a:latin typeface="source-serif-pro"/>
                <a:ea typeface="+mn-ea"/>
                <a:cs typeface="+mn-cs"/>
              </a:rPr>
              <a:t>From a game theory point of view, we can think of this setting as a </a:t>
            </a:r>
            <a:r>
              <a:rPr lang="en-US" sz="1800" b="1" u="sng" kern="1200" dirty="0">
                <a:solidFill>
                  <a:srgbClr val="00B050"/>
                </a:solidFill>
                <a:latin typeface="source-serif-pro"/>
                <a:ea typeface="+mn-ea"/>
                <a:cs typeface="+mn-cs"/>
              </a:rPr>
              <a:t>minimax</a:t>
            </a:r>
            <a:r>
              <a:rPr lang="en-US" sz="1800" b="1" kern="1200" dirty="0">
                <a:solidFill>
                  <a:srgbClr val="00B050"/>
                </a:solidFill>
                <a:latin typeface="source-serif-pro"/>
                <a:ea typeface="+mn-ea"/>
                <a:cs typeface="+mn-cs"/>
              </a:rPr>
              <a:t> two-players game</a:t>
            </a:r>
          </a:p>
        </p:txBody>
      </p:sp>
      <p:pic>
        <p:nvPicPr>
          <p:cNvPr id="6" name="Picture 5">
            <a:extLst>
              <a:ext uri="{FF2B5EF4-FFF2-40B4-BE49-F238E27FC236}">
                <a16:creationId xmlns:a16="http://schemas.microsoft.com/office/drawing/2014/main" id="{60588F8B-68C5-A60A-F3CC-0E4374C8421C}"/>
              </a:ext>
            </a:extLst>
          </p:cNvPr>
          <p:cNvPicPr>
            <a:picLocks noChangeAspect="1"/>
          </p:cNvPicPr>
          <p:nvPr/>
        </p:nvPicPr>
        <p:blipFill>
          <a:blip r:embed="rId4"/>
          <a:stretch>
            <a:fillRect/>
          </a:stretch>
        </p:blipFill>
        <p:spPr>
          <a:xfrm>
            <a:off x="7955859" y="71553"/>
            <a:ext cx="3956748" cy="581538"/>
          </a:xfrm>
          <a:prstGeom prst="rect">
            <a:avLst/>
          </a:prstGeom>
        </p:spPr>
      </p:pic>
    </p:spTree>
    <p:extLst>
      <p:ext uri="{BB962C8B-B14F-4D97-AF65-F5344CB8AC3E}">
        <p14:creationId xmlns:p14="http://schemas.microsoft.com/office/powerpoint/2010/main" val="80101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7F4FAC-C6C1-1772-69CB-AAF46FE3A594}"/>
              </a:ext>
            </a:extLst>
          </p:cNvPr>
          <p:cNvSpPr>
            <a:spLocks noGrp="1"/>
          </p:cNvSpPr>
          <p:nvPr>
            <p:ph type="title"/>
          </p:nvPr>
        </p:nvSpPr>
        <p:spPr>
          <a:xfrm>
            <a:off x="795528" y="386930"/>
            <a:ext cx="10141799" cy="1300554"/>
          </a:xfrm>
        </p:spPr>
        <p:txBody>
          <a:bodyPr anchor="b">
            <a:normAutofit/>
          </a:bodyPr>
          <a:lstStyle/>
          <a:p>
            <a:r>
              <a:rPr lang="en-US" sz="4800"/>
              <a:t>Direct method</a:t>
            </a:r>
          </a:p>
        </p:txBody>
      </p:sp>
      <p:sp>
        <p:nvSpPr>
          <p:cNvPr id="3081" name="Rectangle 308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1E8B714D-AACE-8605-60C3-CCC6AA2C05D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1636" y="2794921"/>
            <a:ext cx="5983158" cy="28120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A84DE31-791F-8C97-72B2-02BCC9BE1DD5}"/>
              </a:ext>
            </a:extLst>
          </p:cNvPr>
          <p:cNvSpPr>
            <a:spLocks noGrp="1"/>
          </p:cNvSpPr>
          <p:nvPr>
            <p:ph idx="1"/>
          </p:nvPr>
        </p:nvSpPr>
        <p:spPr>
          <a:xfrm>
            <a:off x="6406429" y="2599509"/>
            <a:ext cx="4530898" cy="3639450"/>
          </a:xfrm>
        </p:spPr>
        <p:txBody>
          <a:bodyPr anchor="ctr">
            <a:normAutofit/>
          </a:bodyPr>
          <a:lstStyle/>
          <a:p>
            <a:pPr marL="0" indent="0">
              <a:buNone/>
            </a:pPr>
            <a:r>
              <a:rPr lang="en-US" sz="1300" b="1" i="0">
                <a:effectLst/>
                <a:latin typeface="sohne"/>
              </a:rPr>
              <a:t>Comparing two probability distributions based on samples</a:t>
            </a:r>
          </a:p>
          <a:p>
            <a:r>
              <a:rPr lang="en-US" sz="1300" b="0" i="0">
                <a:effectLst/>
                <a:latin typeface="source-serif-pro"/>
              </a:rPr>
              <a:t>Maximum Mean Discrepancy (MMD) approach</a:t>
            </a:r>
          </a:p>
          <a:p>
            <a:pPr lvl="1"/>
            <a:r>
              <a:rPr lang="en-US" sz="1300" b="0" i="0">
                <a:effectLst/>
                <a:latin typeface="source-serif-pro"/>
              </a:rPr>
              <a:t>defines a distance between two probability distributions</a:t>
            </a:r>
          </a:p>
          <a:p>
            <a:pPr marL="0" indent="0">
              <a:buNone/>
            </a:pPr>
            <a:endParaRPr lang="en-US" sz="1300">
              <a:latin typeface="source-serif-pro"/>
            </a:endParaRPr>
          </a:p>
          <a:p>
            <a:pPr marL="0" indent="0">
              <a:buNone/>
            </a:pPr>
            <a:r>
              <a:rPr lang="en-US" sz="1300" b="1">
                <a:latin typeface="source-serif-pro"/>
              </a:rPr>
              <a:t>GMN optimize the network by</a:t>
            </a:r>
          </a:p>
          <a:p>
            <a:pPr>
              <a:buFont typeface="Arial" panose="020B0604020202020204" pitchFamily="34" charset="0"/>
              <a:buChar char="•"/>
            </a:pPr>
            <a:r>
              <a:rPr lang="en-US" sz="1300" b="0" i="0">
                <a:effectLst/>
                <a:latin typeface="source-serif-pro"/>
              </a:rPr>
              <a:t>generate some uniform inputs</a:t>
            </a:r>
          </a:p>
          <a:p>
            <a:pPr>
              <a:buFont typeface="Arial" panose="020B0604020202020204" pitchFamily="34" charset="0"/>
              <a:buChar char="•"/>
            </a:pPr>
            <a:r>
              <a:rPr lang="en-US" sz="1300" b="0" i="0">
                <a:effectLst/>
                <a:latin typeface="source-serif-pro"/>
              </a:rPr>
              <a:t>make these inputs go through the network and collect the generated outputs</a:t>
            </a:r>
          </a:p>
          <a:p>
            <a:pPr>
              <a:buFont typeface="Arial" panose="020B0604020202020204" pitchFamily="34" charset="0"/>
              <a:buChar char="•"/>
            </a:pPr>
            <a:r>
              <a:rPr lang="en-US" sz="1300" b="0" i="0">
                <a:effectLst/>
                <a:latin typeface="source-serif-pro"/>
              </a:rPr>
              <a:t>compare the true distribution and the generated one based on the available samples </a:t>
            </a:r>
          </a:p>
          <a:p>
            <a:pPr>
              <a:buFont typeface="Arial" panose="020B0604020202020204" pitchFamily="34" charset="0"/>
              <a:buChar char="•"/>
            </a:pPr>
            <a:r>
              <a:rPr lang="en-US" sz="1300" b="0" i="0">
                <a:effectLst/>
                <a:latin typeface="source-serif-pro"/>
              </a:rPr>
              <a:t>use backpropagation to make one step of gradient descent to lower the distance (for example MMD) between true and generated distributions</a:t>
            </a:r>
          </a:p>
          <a:p>
            <a:endParaRPr lang="en-US" sz="1300"/>
          </a:p>
        </p:txBody>
      </p:sp>
      <p:sp>
        <p:nvSpPr>
          <p:cNvPr id="3085" name="Rectangle 3084">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C44BB9F-3710-1762-15C3-88907A59FD19}"/>
              </a:ext>
            </a:extLst>
          </p:cNvPr>
          <p:cNvPicPr>
            <a:picLocks noChangeAspect="1"/>
          </p:cNvPicPr>
          <p:nvPr/>
        </p:nvPicPr>
        <p:blipFill>
          <a:blip r:embed="rId3"/>
          <a:stretch>
            <a:fillRect/>
          </a:stretch>
        </p:blipFill>
        <p:spPr>
          <a:xfrm>
            <a:off x="173934" y="109653"/>
            <a:ext cx="3956748" cy="581538"/>
          </a:xfrm>
          <a:prstGeom prst="rect">
            <a:avLst/>
          </a:prstGeom>
        </p:spPr>
      </p:pic>
    </p:spTree>
    <p:extLst>
      <p:ext uri="{BB962C8B-B14F-4D97-AF65-F5344CB8AC3E}">
        <p14:creationId xmlns:p14="http://schemas.microsoft.com/office/powerpoint/2010/main" val="3293784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F2E763-9CB1-9B08-12C2-C1ABCE792E19}"/>
              </a:ext>
            </a:extLst>
          </p:cNvPr>
          <p:cNvSpPr>
            <a:spLocks noGrp="1"/>
          </p:cNvSpPr>
          <p:nvPr>
            <p:ph type="title"/>
          </p:nvPr>
        </p:nvSpPr>
        <p:spPr>
          <a:xfrm>
            <a:off x="589560" y="856180"/>
            <a:ext cx="4560584" cy="1128068"/>
          </a:xfrm>
        </p:spPr>
        <p:txBody>
          <a:bodyPr anchor="ctr">
            <a:normAutofit/>
          </a:bodyPr>
          <a:lstStyle/>
          <a:p>
            <a:r>
              <a:rPr lang="en-US" sz="2500" b="1" i="0">
                <a:effectLst/>
                <a:latin typeface="sohne"/>
              </a:rPr>
              <a:t>The “indirect” training method</a:t>
            </a:r>
            <a:br>
              <a:rPr lang="en-US" sz="2500" b="1" i="0">
                <a:effectLst/>
                <a:latin typeface="sohne"/>
              </a:rPr>
            </a:br>
            <a:endParaRPr lang="en-US" sz="2500"/>
          </a:p>
        </p:txBody>
      </p:sp>
      <p:grpSp>
        <p:nvGrpSpPr>
          <p:cNvPr id="4107" name="Group 410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4108" name="Rectangle 410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11" name="Rectangle 411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117" name="Content Placeholder 2">
            <a:extLst>
              <a:ext uri="{FF2B5EF4-FFF2-40B4-BE49-F238E27FC236}">
                <a16:creationId xmlns:a16="http://schemas.microsoft.com/office/drawing/2014/main" id="{7673B994-5A94-46B0-CFA4-1BF2B33242CF}"/>
              </a:ext>
            </a:extLst>
          </p:cNvPr>
          <p:cNvGraphicFramePr>
            <a:graphicFrameLocks noGrp="1"/>
          </p:cNvGraphicFramePr>
          <p:nvPr>
            <p:ph idx="1"/>
          </p:nvPr>
        </p:nvGraphicFramePr>
        <p:xfrm>
          <a:off x="590719" y="2330505"/>
          <a:ext cx="4559425" cy="3979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113" name="Rectangle 411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5" name="Rectangle 411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A group of graphs showing different colored lines&#10;&#10;Description automatically generated">
            <a:extLst>
              <a:ext uri="{FF2B5EF4-FFF2-40B4-BE49-F238E27FC236}">
                <a16:creationId xmlns:a16="http://schemas.microsoft.com/office/drawing/2014/main" id="{39C0AA8A-B435-1DF1-2D2A-B2209B26D55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547" r="-2" b="-2"/>
          <a:stretch/>
        </p:blipFill>
        <p:spPr bwMode="auto">
          <a:xfrm>
            <a:off x="6519567" y="156002"/>
            <a:ext cx="4093558" cy="39682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385F7D1-557D-184B-A919-10AD3929DA05}"/>
              </a:ext>
            </a:extLst>
          </p:cNvPr>
          <p:cNvSpPr txBox="1"/>
          <p:nvPr/>
        </p:nvSpPr>
        <p:spPr>
          <a:xfrm>
            <a:off x="5685809" y="4040424"/>
            <a:ext cx="6093912" cy="2308324"/>
          </a:xfrm>
          <a:prstGeom prst="rect">
            <a:avLst/>
          </a:prstGeom>
          <a:noFill/>
        </p:spPr>
        <p:txBody>
          <a:bodyPr wrap="square">
            <a:spAutoFit/>
          </a:bodyPr>
          <a:lstStyle/>
          <a:p>
            <a:pPr algn="just"/>
            <a:r>
              <a:rPr lang="en-US" sz="1600" b="0" i="0" dirty="0">
                <a:solidFill>
                  <a:srgbClr val="6B6B6B"/>
                </a:solidFill>
                <a:effectLst/>
                <a:latin typeface="sohne"/>
              </a:rPr>
              <a:t>Intuition for the adversarial method. The blue distribution is the true one, the orange is the generated one. In grey, with corresponding y-axis on the right, we displayed the probability to be true for the discriminator if it chooses the class with the higher density in each point (assuming “true” and “generated” data are in equal proportions). The closer the two distributions are, the more often the discriminator is wrong. When training, the goal is to “move the green area” (generated distribution is too high) towards the red area (generated distribution is too low).</a:t>
            </a:r>
            <a:endParaRPr lang="en-US" sz="1600" dirty="0"/>
          </a:p>
        </p:txBody>
      </p:sp>
    </p:spTree>
    <p:extLst>
      <p:ext uri="{BB962C8B-B14F-4D97-AF65-F5344CB8AC3E}">
        <p14:creationId xmlns:p14="http://schemas.microsoft.com/office/powerpoint/2010/main" val="3353585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452988-6F16-EAB2-877F-91B4EBB9C8C0}"/>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Type of GANs</a:t>
            </a:r>
          </a:p>
        </p:txBody>
      </p:sp>
      <p:sp>
        <p:nvSpPr>
          <p:cNvPr id="3" name="Content Placeholder 2">
            <a:extLst>
              <a:ext uri="{FF2B5EF4-FFF2-40B4-BE49-F238E27FC236}">
                <a16:creationId xmlns:a16="http://schemas.microsoft.com/office/drawing/2014/main" id="{6BFF6273-9128-F7D0-5796-2A9E156D7504}"/>
              </a:ext>
            </a:extLst>
          </p:cNvPr>
          <p:cNvSpPr>
            <a:spLocks noGrp="1"/>
          </p:cNvSpPr>
          <p:nvPr>
            <p:ph idx="1"/>
          </p:nvPr>
        </p:nvSpPr>
        <p:spPr>
          <a:xfrm>
            <a:off x="4810259" y="649480"/>
            <a:ext cx="6555347" cy="5546047"/>
          </a:xfrm>
        </p:spPr>
        <p:txBody>
          <a:bodyPr anchor="ctr">
            <a:normAutofit/>
          </a:bodyPr>
          <a:lstStyle/>
          <a:p>
            <a:r>
              <a:rPr lang="en-US" sz="2000" b="1" i="0" dirty="0">
                <a:effectLst/>
              </a:rPr>
              <a:t>Progressive GAN (</a:t>
            </a:r>
            <a:r>
              <a:rPr lang="en-US" sz="1600" b="1" i="0" dirty="0">
                <a:effectLst/>
                <a:latin typeface="Lucida Grande"/>
              </a:rPr>
              <a:t>Progressive Growing of GANs for Improved Quality, Stability, and Variation</a:t>
            </a:r>
            <a:r>
              <a:rPr lang="en-US" sz="2000" b="1" i="0" dirty="0">
                <a:effectLst/>
              </a:rPr>
              <a:t>)</a:t>
            </a:r>
          </a:p>
          <a:p>
            <a:pPr lvl="1"/>
            <a:r>
              <a:rPr lang="en-US" sz="2000" b="0" i="0" dirty="0">
                <a:effectLst/>
                <a:latin typeface="Roboto" panose="02000000000000000000" pitchFamily="2" charset="0"/>
              </a:rPr>
              <a:t>generator's first layers produce very low-resolution images, and subsequent layers add details</a:t>
            </a:r>
          </a:p>
          <a:p>
            <a:pPr lvl="1"/>
            <a:r>
              <a:rPr lang="en-US" sz="2000" dirty="0">
                <a:latin typeface="Roboto" panose="02000000000000000000" pitchFamily="2" charset="0"/>
              </a:rPr>
              <a:t>Training is quicker</a:t>
            </a:r>
          </a:p>
          <a:p>
            <a:pPr lvl="1"/>
            <a:r>
              <a:rPr lang="en-US" sz="2000" dirty="0">
                <a:latin typeface="Roboto" panose="02000000000000000000" pitchFamily="2" charset="0"/>
              </a:rPr>
              <a:t>Produce higher resolution images</a:t>
            </a:r>
          </a:p>
          <a:p>
            <a:pPr lvl="1"/>
            <a:endParaRPr lang="en-US" sz="2000" dirty="0">
              <a:latin typeface="Roboto" panose="02000000000000000000" pitchFamily="2" charset="0"/>
            </a:endParaRPr>
          </a:p>
          <a:p>
            <a:r>
              <a:rPr lang="en-US" sz="2000" b="1" i="0" dirty="0">
                <a:effectLst/>
              </a:rPr>
              <a:t>Conditional GAN (</a:t>
            </a:r>
            <a:r>
              <a:rPr lang="en-US" sz="1600" b="1" i="0" dirty="0">
                <a:effectLst/>
                <a:latin typeface="Lucida Grande"/>
              </a:rPr>
              <a:t>Conditional Generative Adversarial Nets</a:t>
            </a:r>
            <a:r>
              <a:rPr lang="en-US" sz="2000" b="1" i="0" dirty="0">
                <a:effectLst/>
              </a:rPr>
              <a:t>)</a:t>
            </a:r>
          </a:p>
          <a:p>
            <a:pPr lvl="1"/>
            <a:r>
              <a:rPr lang="en-US" sz="2000" b="0" i="0" dirty="0">
                <a:effectLst/>
                <a:latin typeface="Roboto" panose="02000000000000000000" pitchFamily="2" charset="0"/>
              </a:rPr>
              <a:t>train on a labeled data set and let you specify the label for each generated instance</a:t>
            </a:r>
            <a:endParaRPr lang="en-US" sz="2000" b="1" dirty="0">
              <a:latin typeface="Roboto" panose="02000000000000000000" pitchFamily="2" charset="0"/>
            </a:endParaRPr>
          </a:p>
          <a:p>
            <a:pPr lvl="1"/>
            <a:r>
              <a:rPr lang="en-US" sz="2000" b="0" i="0" dirty="0">
                <a:effectLst/>
                <a:latin typeface="Roboto" panose="02000000000000000000" pitchFamily="2" charset="0"/>
              </a:rPr>
              <a:t>a conditional MNIST GAN would let you specify which digit the GAN should generate</a:t>
            </a:r>
            <a:endParaRPr lang="en-US" sz="2000" b="1" i="0" dirty="0">
              <a:effectLst/>
              <a:latin typeface="Roboto" panose="02000000000000000000" pitchFamily="2" charset="0"/>
            </a:endParaRPr>
          </a:p>
          <a:p>
            <a:pPr lvl="1"/>
            <a:r>
              <a:rPr lang="en-US" sz="2000" b="0" i="0" dirty="0">
                <a:effectLst/>
                <a:latin typeface="Roboto" panose="02000000000000000000" pitchFamily="2" charset="0"/>
              </a:rPr>
              <a:t>Instead of modeling the joint probability P(X, Y), conditional GANs model the conditional probability P(X | Y)</a:t>
            </a:r>
            <a:endParaRPr lang="en-US" sz="2000" b="1" i="0" dirty="0">
              <a:effectLst/>
            </a:endParaRPr>
          </a:p>
          <a:p>
            <a:pPr lvl="1"/>
            <a:endParaRPr lang="en-US" sz="2000" dirty="0"/>
          </a:p>
        </p:txBody>
      </p:sp>
      <p:pic>
        <p:nvPicPr>
          <p:cNvPr id="4" name="Picture 3">
            <a:extLst>
              <a:ext uri="{FF2B5EF4-FFF2-40B4-BE49-F238E27FC236}">
                <a16:creationId xmlns:a16="http://schemas.microsoft.com/office/drawing/2014/main" id="{CEE29847-021B-A19F-6A4C-C3283F97F930}"/>
              </a:ext>
            </a:extLst>
          </p:cNvPr>
          <p:cNvPicPr>
            <a:picLocks noChangeAspect="1"/>
          </p:cNvPicPr>
          <p:nvPr/>
        </p:nvPicPr>
        <p:blipFill>
          <a:blip r:embed="rId3"/>
          <a:stretch>
            <a:fillRect/>
          </a:stretch>
        </p:blipFill>
        <p:spPr>
          <a:xfrm>
            <a:off x="173934" y="109653"/>
            <a:ext cx="3201366" cy="470517"/>
          </a:xfrm>
          <a:prstGeom prst="rect">
            <a:avLst/>
          </a:prstGeom>
        </p:spPr>
      </p:pic>
    </p:spTree>
    <p:extLst>
      <p:ext uri="{BB962C8B-B14F-4D97-AF65-F5344CB8AC3E}">
        <p14:creationId xmlns:p14="http://schemas.microsoft.com/office/powerpoint/2010/main" val="3290191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452988-6F16-EAB2-877F-91B4EBB9C8C0}"/>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Type of GANs</a:t>
            </a:r>
          </a:p>
        </p:txBody>
      </p:sp>
      <p:sp>
        <p:nvSpPr>
          <p:cNvPr id="3" name="Content Placeholder 2">
            <a:extLst>
              <a:ext uri="{FF2B5EF4-FFF2-40B4-BE49-F238E27FC236}">
                <a16:creationId xmlns:a16="http://schemas.microsoft.com/office/drawing/2014/main" id="{6BFF6273-9128-F7D0-5796-2A9E156D7504}"/>
              </a:ext>
            </a:extLst>
          </p:cNvPr>
          <p:cNvSpPr>
            <a:spLocks noGrp="1"/>
          </p:cNvSpPr>
          <p:nvPr>
            <p:ph idx="1"/>
          </p:nvPr>
        </p:nvSpPr>
        <p:spPr>
          <a:xfrm>
            <a:off x="4810259" y="649480"/>
            <a:ext cx="6555347" cy="5546047"/>
          </a:xfrm>
        </p:spPr>
        <p:txBody>
          <a:bodyPr anchor="ctr">
            <a:normAutofit/>
          </a:bodyPr>
          <a:lstStyle/>
          <a:p>
            <a:r>
              <a:rPr lang="en-US" sz="2000" b="1" i="0" dirty="0">
                <a:effectLst/>
              </a:rPr>
              <a:t>Image-to-Image Translation (</a:t>
            </a:r>
            <a:r>
              <a:rPr lang="en-US" sz="1600" b="1" i="0" dirty="0">
                <a:effectLst/>
                <a:latin typeface="Lucida Grande"/>
              </a:rPr>
              <a:t>Image-to-Image Translation with Conditional Adversarial Networks</a:t>
            </a:r>
            <a:r>
              <a:rPr lang="en-US" sz="2000" b="1" i="0" dirty="0">
                <a:effectLst/>
              </a:rPr>
              <a:t>)</a:t>
            </a:r>
          </a:p>
          <a:p>
            <a:pPr lvl="1"/>
            <a:r>
              <a:rPr lang="en-US" sz="2000" b="0" i="0" dirty="0">
                <a:effectLst/>
                <a:latin typeface="Roboto" panose="02000000000000000000" pitchFamily="2" charset="0"/>
              </a:rPr>
              <a:t>take an image as input and map it to a generated output image with different properties</a:t>
            </a:r>
          </a:p>
          <a:p>
            <a:pPr lvl="1"/>
            <a:r>
              <a:rPr lang="en-US" sz="2000" dirty="0">
                <a:latin typeface="Roboto" panose="02000000000000000000" pitchFamily="2" charset="0"/>
              </a:rPr>
              <a:t>take sketches of objects and turn them into photorealistic images of that object</a:t>
            </a:r>
          </a:p>
          <a:p>
            <a:pPr marL="457200" lvl="1" indent="0">
              <a:buNone/>
            </a:pPr>
            <a:endParaRPr lang="en-US" sz="2000" dirty="0">
              <a:latin typeface="Roboto" panose="02000000000000000000" pitchFamily="2" charset="0"/>
            </a:endParaRPr>
          </a:p>
          <a:p>
            <a:r>
              <a:rPr lang="en-US" sz="2000" b="1" i="0" dirty="0" err="1">
                <a:effectLst/>
                <a:highlight>
                  <a:srgbClr val="00FF00"/>
                </a:highlight>
              </a:rPr>
              <a:t>CycleGAN</a:t>
            </a:r>
            <a:r>
              <a:rPr lang="en-US" sz="2000" b="1" i="0" dirty="0">
                <a:effectLst/>
                <a:highlight>
                  <a:srgbClr val="00FF00"/>
                </a:highlight>
              </a:rPr>
              <a:t> (</a:t>
            </a:r>
            <a:r>
              <a:rPr lang="en-US" sz="1600" b="1" i="0" dirty="0">
                <a:effectLst/>
                <a:highlight>
                  <a:srgbClr val="00FF00"/>
                </a:highlight>
                <a:latin typeface="Lucida Grande"/>
              </a:rPr>
              <a:t>Unpaired Image-to-Image Translation using Cycle-Consistent Adversarial Networks</a:t>
            </a:r>
            <a:r>
              <a:rPr lang="en-US" sz="2000" b="1" i="0" dirty="0">
                <a:effectLst/>
                <a:highlight>
                  <a:srgbClr val="00FF00"/>
                </a:highlight>
              </a:rPr>
              <a:t>)</a:t>
            </a:r>
          </a:p>
          <a:p>
            <a:pPr lvl="1"/>
            <a:r>
              <a:rPr lang="en-US" sz="2000" b="0" i="0" dirty="0">
                <a:effectLst/>
                <a:latin typeface="Roboto" panose="02000000000000000000" pitchFamily="2" charset="0"/>
              </a:rPr>
              <a:t>transform images from one set into images that could plausibly belong to another set</a:t>
            </a:r>
          </a:p>
          <a:p>
            <a:pPr lvl="1"/>
            <a:r>
              <a:rPr lang="en-US" sz="2000" b="0" i="0" dirty="0">
                <a:effectLst/>
                <a:latin typeface="Roboto" panose="02000000000000000000" pitchFamily="2" charset="0"/>
              </a:rPr>
              <a:t>training data for the </a:t>
            </a:r>
            <a:r>
              <a:rPr lang="en-US" sz="2000" b="0" i="0" dirty="0" err="1">
                <a:effectLst/>
                <a:latin typeface="Roboto" panose="02000000000000000000" pitchFamily="2" charset="0"/>
              </a:rPr>
              <a:t>CycleGAN</a:t>
            </a:r>
            <a:r>
              <a:rPr lang="en-US" sz="2000" b="0" i="0" dirty="0">
                <a:effectLst/>
                <a:latin typeface="Roboto" panose="02000000000000000000" pitchFamily="2" charset="0"/>
              </a:rPr>
              <a:t> is simply two sets of images </a:t>
            </a:r>
          </a:p>
          <a:p>
            <a:pPr lvl="1"/>
            <a:r>
              <a:rPr lang="en-US" sz="2000" b="0" i="0" dirty="0">
                <a:effectLst/>
                <a:latin typeface="Roboto" panose="02000000000000000000" pitchFamily="2" charset="0"/>
              </a:rPr>
              <a:t>requires no labels or pairwise correspondences between images</a:t>
            </a:r>
            <a:endParaRPr lang="en-US" sz="2000" dirty="0"/>
          </a:p>
        </p:txBody>
      </p:sp>
      <p:pic>
        <p:nvPicPr>
          <p:cNvPr id="4" name="Picture 3">
            <a:extLst>
              <a:ext uri="{FF2B5EF4-FFF2-40B4-BE49-F238E27FC236}">
                <a16:creationId xmlns:a16="http://schemas.microsoft.com/office/drawing/2014/main" id="{CC7099A6-5519-ED22-BC63-F72227FD1A69}"/>
              </a:ext>
            </a:extLst>
          </p:cNvPr>
          <p:cNvPicPr>
            <a:picLocks noChangeAspect="1"/>
          </p:cNvPicPr>
          <p:nvPr/>
        </p:nvPicPr>
        <p:blipFill>
          <a:blip r:embed="rId3"/>
          <a:stretch>
            <a:fillRect/>
          </a:stretch>
        </p:blipFill>
        <p:spPr>
          <a:xfrm>
            <a:off x="173934" y="109653"/>
            <a:ext cx="3246818" cy="477197"/>
          </a:xfrm>
          <a:prstGeom prst="rect">
            <a:avLst/>
          </a:prstGeom>
        </p:spPr>
      </p:pic>
    </p:spTree>
    <p:extLst>
      <p:ext uri="{BB962C8B-B14F-4D97-AF65-F5344CB8AC3E}">
        <p14:creationId xmlns:p14="http://schemas.microsoft.com/office/powerpoint/2010/main" val="2738027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452988-6F16-EAB2-877F-91B4EBB9C8C0}"/>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Type of GANs</a:t>
            </a:r>
          </a:p>
        </p:txBody>
      </p:sp>
      <p:sp>
        <p:nvSpPr>
          <p:cNvPr id="3" name="Content Placeholder 2">
            <a:extLst>
              <a:ext uri="{FF2B5EF4-FFF2-40B4-BE49-F238E27FC236}">
                <a16:creationId xmlns:a16="http://schemas.microsoft.com/office/drawing/2014/main" id="{6BFF6273-9128-F7D0-5796-2A9E156D7504}"/>
              </a:ext>
            </a:extLst>
          </p:cNvPr>
          <p:cNvSpPr>
            <a:spLocks noGrp="1"/>
          </p:cNvSpPr>
          <p:nvPr>
            <p:ph idx="1"/>
          </p:nvPr>
        </p:nvSpPr>
        <p:spPr>
          <a:xfrm>
            <a:off x="4810259" y="649480"/>
            <a:ext cx="6555347" cy="5546047"/>
          </a:xfrm>
        </p:spPr>
        <p:txBody>
          <a:bodyPr anchor="ctr">
            <a:normAutofit/>
          </a:bodyPr>
          <a:lstStyle/>
          <a:p>
            <a:r>
              <a:rPr lang="en-US" sz="2000" b="1" i="0" dirty="0">
                <a:effectLst/>
              </a:rPr>
              <a:t>Text-to-Image Synthesis (</a:t>
            </a:r>
            <a:r>
              <a:rPr lang="en-US" sz="1600" b="1" i="0" dirty="0" err="1">
                <a:effectLst/>
                <a:latin typeface="Lucida Grande"/>
              </a:rPr>
              <a:t>StackGAN</a:t>
            </a:r>
            <a:r>
              <a:rPr lang="en-US" sz="1600" b="1" i="0" dirty="0">
                <a:effectLst/>
                <a:latin typeface="Lucida Grande"/>
              </a:rPr>
              <a:t>: Text to Photo-realistic Image Synthesis with Stacked Generative Adversarial Networks</a:t>
            </a:r>
            <a:r>
              <a:rPr lang="en-US" sz="2000" b="1" i="0" dirty="0">
                <a:effectLst/>
              </a:rPr>
              <a:t>)</a:t>
            </a:r>
          </a:p>
          <a:p>
            <a:pPr lvl="1"/>
            <a:r>
              <a:rPr lang="en-US" sz="2000" b="0" i="0" dirty="0">
                <a:effectLst/>
                <a:latin typeface="Roboto" panose="02000000000000000000" pitchFamily="2" charset="0"/>
              </a:rPr>
              <a:t>take text as input and produce images that are plausible and described by the text</a:t>
            </a:r>
          </a:p>
          <a:p>
            <a:pPr lvl="1"/>
            <a:r>
              <a:rPr lang="en-US" sz="2000" dirty="0">
                <a:latin typeface="Roboto" panose="02000000000000000000" pitchFamily="2" charset="0"/>
              </a:rPr>
              <a:t>take sketches of objects and turn them into photorealistic images of that object</a:t>
            </a:r>
          </a:p>
          <a:p>
            <a:pPr marL="457200" lvl="1" indent="0">
              <a:buNone/>
            </a:pPr>
            <a:endParaRPr lang="en-US" sz="2000" dirty="0">
              <a:latin typeface="Roboto" panose="02000000000000000000" pitchFamily="2" charset="0"/>
            </a:endParaRPr>
          </a:p>
          <a:p>
            <a:r>
              <a:rPr lang="en-US" sz="2000" b="1" i="0" dirty="0">
                <a:effectLst/>
              </a:rPr>
              <a:t>Super-resolution (</a:t>
            </a:r>
            <a:r>
              <a:rPr lang="en-US" sz="1600" b="1" i="0" dirty="0">
                <a:effectLst/>
                <a:latin typeface="Lucida Grande"/>
              </a:rPr>
              <a:t>Photo-Realistic Single Image Super-Resolution Using a Generative Adversarial Network</a:t>
            </a:r>
            <a:r>
              <a:rPr lang="en-US" sz="2000" b="1" i="0" dirty="0">
                <a:effectLst/>
              </a:rPr>
              <a:t>)</a:t>
            </a:r>
          </a:p>
          <a:p>
            <a:pPr lvl="1"/>
            <a:r>
              <a:rPr lang="en-US" sz="2000" b="0" i="0" dirty="0">
                <a:effectLst/>
                <a:latin typeface="Roboto" panose="02000000000000000000" pitchFamily="2" charset="0"/>
              </a:rPr>
              <a:t>increase the resolution of images, adding detail where necessary to fill in blurry areas</a:t>
            </a:r>
          </a:p>
        </p:txBody>
      </p:sp>
      <p:pic>
        <p:nvPicPr>
          <p:cNvPr id="4" name="Picture 3">
            <a:extLst>
              <a:ext uri="{FF2B5EF4-FFF2-40B4-BE49-F238E27FC236}">
                <a16:creationId xmlns:a16="http://schemas.microsoft.com/office/drawing/2014/main" id="{C92D1C09-7D2D-0A10-B0EC-DBFD5678A3F8}"/>
              </a:ext>
            </a:extLst>
          </p:cNvPr>
          <p:cNvPicPr>
            <a:picLocks noChangeAspect="1"/>
          </p:cNvPicPr>
          <p:nvPr/>
        </p:nvPicPr>
        <p:blipFill>
          <a:blip r:embed="rId3"/>
          <a:stretch>
            <a:fillRect/>
          </a:stretch>
        </p:blipFill>
        <p:spPr>
          <a:xfrm>
            <a:off x="173934" y="109653"/>
            <a:ext cx="3351992" cy="492655"/>
          </a:xfrm>
          <a:prstGeom prst="rect">
            <a:avLst/>
          </a:prstGeom>
        </p:spPr>
      </p:pic>
    </p:spTree>
    <p:extLst>
      <p:ext uri="{BB962C8B-B14F-4D97-AF65-F5344CB8AC3E}">
        <p14:creationId xmlns:p14="http://schemas.microsoft.com/office/powerpoint/2010/main" val="1825791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E02FFB-BCEA-CE24-C0A2-985F6886BC92}"/>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Part II</a:t>
            </a:r>
            <a:br>
              <a:rPr lang="en-US" sz="7200" kern="1200" dirty="0">
                <a:solidFill>
                  <a:schemeClr val="tx1"/>
                </a:solidFill>
                <a:latin typeface="+mj-lt"/>
                <a:ea typeface="+mj-ea"/>
                <a:cs typeface="+mj-cs"/>
              </a:rPr>
            </a:br>
            <a:r>
              <a:rPr lang="en-US" sz="7200" dirty="0"/>
              <a:t>Synthetic Data</a:t>
            </a:r>
            <a:endParaRPr lang="en-US" sz="72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5A12DC5-D846-9CA2-B876-73E5B8027233}"/>
              </a:ext>
            </a:extLst>
          </p:cNvPr>
          <p:cNvPicPr>
            <a:picLocks noChangeAspect="1"/>
          </p:cNvPicPr>
          <p:nvPr/>
        </p:nvPicPr>
        <p:blipFill>
          <a:blip r:embed="rId2"/>
          <a:stretch>
            <a:fillRect/>
          </a:stretch>
        </p:blipFill>
        <p:spPr>
          <a:xfrm>
            <a:off x="173934" y="109653"/>
            <a:ext cx="3956748" cy="581538"/>
          </a:xfrm>
          <a:prstGeom prst="rect">
            <a:avLst/>
          </a:prstGeom>
        </p:spPr>
      </p:pic>
    </p:spTree>
    <p:extLst>
      <p:ext uri="{BB962C8B-B14F-4D97-AF65-F5344CB8AC3E}">
        <p14:creationId xmlns:p14="http://schemas.microsoft.com/office/powerpoint/2010/main" val="257148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DBE15D4-F4C6-3B6F-8FB2-B50303555016}"/>
              </a:ext>
            </a:extLst>
          </p:cNvPr>
          <p:cNvSpPr>
            <a:spLocks noGrp="1"/>
          </p:cNvSpPr>
          <p:nvPr>
            <p:ph type="title"/>
          </p:nvPr>
        </p:nvSpPr>
        <p:spPr>
          <a:xfrm>
            <a:off x="395927" y="995533"/>
            <a:ext cx="11019934" cy="1313740"/>
          </a:xfrm>
        </p:spPr>
        <p:txBody>
          <a:bodyPr>
            <a:normAutofit/>
          </a:bodyPr>
          <a:lstStyle/>
          <a:p>
            <a:pPr algn="l"/>
            <a:r>
              <a:rPr lang="en-IN" sz="3200" b="1" dirty="0"/>
              <a:t>Use-Case Example in a Typical Computer Vision Domain – </a:t>
            </a:r>
            <a:br>
              <a:rPr lang="en-IN" sz="3200" b="1" dirty="0"/>
            </a:br>
            <a:r>
              <a:rPr lang="en-IN" sz="3200" b="1" dirty="0"/>
              <a:t>Object Detection in Advanced Manufacturing Setup</a:t>
            </a:r>
          </a:p>
        </p:txBody>
      </p:sp>
      <p:pic>
        <p:nvPicPr>
          <p:cNvPr id="10" name="eXtended Reality Applications for Industry4.0 - Trim2">
            <a:hlinkClick r:id="" action="ppaction://media"/>
            <a:extLst>
              <a:ext uri="{FF2B5EF4-FFF2-40B4-BE49-F238E27FC236}">
                <a16:creationId xmlns:a16="http://schemas.microsoft.com/office/drawing/2014/main" id="{455D018E-158B-6514-9926-57A01C0023E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960776" y="2550116"/>
            <a:ext cx="7055146" cy="3968519"/>
          </a:xfrm>
          <a:prstGeom prst="rect">
            <a:avLst/>
          </a:prstGeom>
        </p:spPr>
      </p:pic>
      <p:pic>
        <p:nvPicPr>
          <p:cNvPr id="11" name="Picture 10">
            <a:extLst>
              <a:ext uri="{FF2B5EF4-FFF2-40B4-BE49-F238E27FC236}">
                <a16:creationId xmlns:a16="http://schemas.microsoft.com/office/drawing/2014/main" id="{96B732EB-572C-B958-893E-290F2DF20EA6}"/>
              </a:ext>
            </a:extLst>
          </p:cNvPr>
          <p:cNvPicPr>
            <a:picLocks noChangeAspect="1"/>
          </p:cNvPicPr>
          <p:nvPr/>
        </p:nvPicPr>
        <p:blipFill>
          <a:blip r:embed="rId5"/>
          <a:stretch>
            <a:fillRect/>
          </a:stretch>
        </p:blipFill>
        <p:spPr>
          <a:xfrm>
            <a:off x="173934" y="109653"/>
            <a:ext cx="3956748" cy="581538"/>
          </a:xfrm>
          <a:prstGeom prst="rect">
            <a:avLst/>
          </a:prstGeom>
        </p:spPr>
      </p:pic>
    </p:spTree>
    <p:extLst>
      <p:ext uri="{BB962C8B-B14F-4D97-AF65-F5344CB8AC3E}">
        <p14:creationId xmlns:p14="http://schemas.microsoft.com/office/powerpoint/2010/main" val="1528951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97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1017-4D0D-08D4-F48F-12506F75DFC5}"/>
              </a:ext>
            </a:extLst>
          </p:cNvPr>
          <p:cNvSpPr>
            <a:spLocks noGrp="1"/>
          </p:cNvSpPr>
          <p:nvPr>
            <p:ph type="title"/>
          </p:nvPr>
        </p:nvSpPr>
        <p:spPr>
          <a:xfrm>
            <a:off x="145654" y="833046"/>
            <a:ext cx="10515600" cy="1325563"/>
          </a:xfrm>
        </p:spPr>
        <p:txBody>
          <a:bodyPr/>
          <a:lstStyle/>
          <a:p>
            <a:r>
              <a:rPr lang="en-IN" dirty="0"/>
              <a:t>Generation of Synthetic Data </a:t>
            </a:r>
          </a:p>
        </p:txBody>
      </p:sp>
      <p:sp>
        <p:nvSpPr>
          <p:cNvPr id="3" name="Content Placeholder 2">
            <a:extLst>
              <a:ext uri="{FF2B5EF4-FFF2-40B4-BE49-F238E27FC236}">
                <a16:creationId xmlns:a16="http://schemas.microsoft.com/office/drawing/2014/main" id="{2BE67095-2916-E974-FDD6-27B5A5FB6020}"/>
              </a:ext>
            </a:extLst>
          </p:cNvPr>
          <p:cNvSpPr>
            <a:spLocks noGrp="1"/>
          </p:cNvSpPr>
          <p:nvPr>
            <p:ph idx="1"/>
          </p:nvPr>
        </p:nvSpPr>
        <p:spPr>
          <a:xfrm>
            <a:off x="1115589" y="2596943"/>
            <a:ext cx="3648959" cy="2765229"/>
          </a:xfrm>
        </p:spPr>
        <p:txBody>
          <a:bodyPr>
            <a:normAutofit/>
          </a:bodyPr>
          <a:lstStyle/>
          <a:p>
            <a:pPr marL="0" indent="0">
              <a:buNone/>
            </a:pPr>
            <a:r>
              <a:rPr lang="en-IN" sz="1800" dirty="0">
                <a:latin typeface="Arial" panose="020B0604020202020204" pitchFamily="34" charset="0"/>
                <a:cs typeface="Arial" panose="020B0604020202020204" pitchFamily="34" charset="0"/>
              </a:rPr>
              <a:t>The Use-Cases of GANs</a:t>
            </a:r>
          </a:p>
          <a:p>
            <a:pPr>
              <a:buFont typeface="Wingdings" panose="05000000000000000000" pitchFamily="2" charset="2"/>
              <a:buChar char="§"/>
            </a:pPr>
            <a:r>
              <a:rPr lang="en-IN" sz="1800" dirty="0">
                <a:latin typeface="Arial" panose="020B0604020202020204" pitchFamily="34" charset="0"/>
                <a:cs typeface="Arial" panose="020B0604020202020204" pitchFamily="34" charset="0"/>
              </a:rPr>
              <a:t>Virtual Environments</a:t>
            </a:r>
          </a:p>
          <a:p>
            <a:pPr>
              <a:buFont typeface="Wingdings" panose="05000000000000000000" pitchFamily="2" charset="2"/>
              <a:buChar char="§"/>
            </a:pPr>
            <a:r>
              <a:rPr lang="en-IN" sz="1800" dirty="0">
                <a:latin typeface="Arial" panose="020B0604020202020204" pitchFamily="34" charset="0"/>
                <a:cs typeface="Arial" panose="020B0604020202020204" pitchFamily="34" charset="0"/>
              </a:rPr>
              <a:t>Style Transfer</a:t>
            </a:r>
          </a:p>
          <a:p>
            <a:pPr>
              <a:buFont typeface="Wingdings" panose="05000000000000000000" pitchFamily="2" charset="2"/>
              <a:buChar char="§"/>
            </a:pPr>
            <a:r>
              <a:rPr lang="en-IN" sz="1800" dirty="0">
                <a:latin typeface="Arial" panose="020B0604020202020204" pitchFamily="34" charset="0"/>
                <a:cs typeface="Arial" panose="020B0604020202020204" pitchFamily="34" charset="0"/>
              </a:rPr>
              <a:t>Object Detection</a:t>
            </a:r>
          </a:p>
          <a:p>
            <a:pPr>
              <a:buFont typeface="Wingdings" panose="05000000000000000000" pitchFamily="2" charset="2"/>
              <a:buChar char="§"/>
            </a:pPr>
            <a:r>
              <a:rPr lang="en-IN" sz="1800" dirty="0">
                <a:latin typeface="Arial" panose="020B0604020202020204" pitchFamily="34" charset="0"/>
                <a:cs typeface="Arial" panose="020B0604020202020204" pitchFamily="34" charset="0"/>
              </a:rPr>
              <a:t>3D Object Generation</a:t>
            </a:r>
          </a:p>
          <a:p>
            <a:pPr>
              <a:buFont typeface="Wingdings" panose="05000000000000000000" pitchFamily="2" charset="2"/>
              <a:buChar char="§"/>
            </a:pPr>
            <a:r>
              <a:rPr lang="en-IN" sz="1800" dirty="0">
                <a:latin typeface="Arial" panose="020B0604020202020204" pitchFamily="34" charset="0"/>
                <a:cs typeface="Arial" panose="020B0604020202020204" pitchFamily="34" charset="0"/>
              </a:rPr>
              <a:t>Data Imbalance Correction</a:t>
            </a:r>
          </a:p>
          <a:p>
            <a:pPr>
              <a:buFont typeface="Wingdings" panose="05000000000000000000" pitchFamily="2" charset="2"/>
              <a:buChar char="§"/>
            </a:pPr>
            <a:r>
              <a:rPr lang="en-IN" sz="1800" dirty="0">
                <a:latin typeface="Arial" panose="020B0604020202020204" pitchFamily="34" charset="0"/>
                <a:cs typeface="Arial" panose="020B0604020202020204" pitchFamily="34" charset="0"/>
              </a:rPr>
              <a:t>Image Augmentation</a:t>
            </a:r>
          </a:p>
        </p:txBody>
      </p:sp>
      <p:pic>
        <p:nvPicPr>
          <p:cNvPr id="14346" name="Picture 10">
            <a:extLst>
              <a:ext uri="{FF2B5EF4-FFF2-40B4-BE49-F238E27FC236}">
                <a16:creationId xmlns:a16="http://schemas.microsoft.com/office/drawing/2014/main" id="{BFD2E05F-1FDE-4E78-8703-AEEE56D452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8640" y="2039431"/>
            <a:ext cx="3867150" cy="1285876"/>
          </a:xfrm>
          <a:prstGeom prst="rect">
            <a:avLst/>
          </a:prstGeom>
          <a:noFill/>
          <a:extLst>
            <a:ext uri="{909E8E84-426E-40DD-AFC4-6F175D3DCCD1}">
              <a14:hiddenFill xmlns:a14="http://schemas.microsoft.com/office/drawing/2010/main">
                <a:solidFill>
                  <a:srgbClr val="FFFFFF"/>
                </a:solidFill>
              </a14:hiddenFill>
            </a:ext>
          </a:extLst>
        </p:spPr>
      </p:pic>
      <p:pic>
        <p:nvPicPr>
          <p:cNvPr id="14347" name="Picture 11">
            <a:extLst>
              <a:ext uri="{FF2B5EF4-FFF2-40B4-BE49-F238E27FC236}">
                <a16:creationId xmlns:a16="http://schemas.microsoft.com/office/drawing/2014/main" id="{4362D1D6-B93E-3974-25A5-A3E705CE3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3403" y="3623215"/>
            <a:ext cx="3857625" cy="1285876"/>
          </a:xfrm>
          <a:prstGeom prst="rect">
            <a:avLst/>
          </a:prstGeom>
          <a:noFill/>
          <a:extLst>
            <a:ext uri="{909E8E84-426E-40DD-AFC4-6F175D3DCCD1}">
              <a14:hiddenFill xmlns:a14="http://schemas.microsoft.com/office/drawing/2010/main">
                <a:solidFill>
                  <a:srgbClr val="FFFFFF"/>
                </a:solidFill>
              </a14:hiddenFill>
            </a:ext>
          </a:extLst>
        </p:spPr>
      </p:pic>
      <p:pic>
        <p:nvPicPr>
          <p:cNvPr id="14348" name="Picture 12">
            <a:extLst>
              <a:ext uri="{FF2B5EF4-FFF2-40B4-BE49-F238E27FC236}">
                <a16:creationId xmlns:a16="http://schemas.microsoft.com/office/drawing/2014/main" id="{15EFB158-172D-8B16-9E1A-0796213520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3403" y="5206999"/>
            <a:ext cx="3867150" cy="12858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1AFD62A-C4F7-54F2-5D6D-43D8DA95D45C}"/>
              </a:ext>
            </a:extLst>
          </p:cNvPr>
          <p:cNvPicPr>
            <a:picLocks noChangeAspect="1"/>
          </p:cNvPicPr>
          <p:nvPr/>
        </p:nvPicPr>
        <p:blipFill>
          <a:blip r:embed="rId5"/>
          <a:stretch>
            <a:fillRect/>
          </a:stretch>
        </p:blipFill>
        <p:spPr>
          <a:xfrm>
            <a:off x="173934" y="109653"/>
            <a:ext cx="3956748" cy="581538"/>
          </a:xfrm>
          <a:prstGeom prst="rect">
            <a:avLst/>
          </a:prstGeom>
        </p:spPr>
      </p:pic>
    </p:spTree>
    <p:extLst>
      <p:ext uri="{BB962C8B-B14F-4D97-AF65-F5344CB8AC3E}">
        <p14:creationId xmlns:p14="http://schemas.microsoft.com/office/powerpoint/2010/main" val="3684790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DC42F-C6EB-AFC4-5C01-AB72B6D0B199}"/>
              </a:ext>
            </a:extLst>
          </p:cNvPr>
          <p:cNvSpPr>
            <a:spLocks noGrp="1"/>
          </p:cNvSpPr>
          <p:nvPr>
            <p:ph type="title"/>
          </p:nvPr>
        </p:nvSpPr>
        <p:spPr>
          <a:xfrm>
            <a:off x="1046798" y="1025566"/>
            <a:ext cx="2822943" cy="1109932"/>
          </a:xfrm>
        </p:spPr>
        <p:txBody>
          <a:bodyPr>
            <a:normAutofit/>
          </a:bodyPr>
          <a:lstStyle/>
          <a:p>
            <a:r>
              <a:rPr lang="en-US" sz="4000" dirty="0" err="1"/>
              <a:t>CycleGAN</a:t>
            </a:r>
            <a:endParaRPr lang="en-US" sz="4000" dirty="0"/>
          </a:p>
        </p:txBody>
      </p:sp>
      <p:pic>
        <p:nvPicPr>
          <p:cNvPr id="1026" name="Picture 2">
            <a:extLst>
              <a:ext uri="{FF2B5EF4-FFF2-40B4-BE49-F238E27FC236}">
                <a16:creationId xmlns:a16="http://schemas.microsoft.com/office/drawing/2014/main" id="{628A8F6F-5FF6-D61D-0ABE-A08CC332F5B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2793305"/>
            <a:ext cx="7180870" cy="29441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5FBC476-B900-A91A-6A46-E2CFA07CE779}"/>
              </a:ext>
            </a:extLst>
          </p:cNvPr>
          <p:cNvSpPr txBox="1"/>
          <p:nvPr/>
        </p:nvSpPr>
        <p:spPr>
          <a:xfrm>
            <a:off x="125261" y="5651399"/>
            <a:ext cx="6864262" cy="276999"/>
          </a:xfrm>
          <a:prstGeom prst="rect">
            <a:avLst/>
          </a:prstGeom>
          <a:noFill/>
        </p:spPr>
        <p:txBody>
          <a:bodyPr wrap="square">
            <a:spAutoFit/>
          </a:bodyPr>
          <a:lstStyle/>
          <a:p>
            <a:pPr algn="ctr"/>
            <a:r>
              <a:rPr lang="en-US" sz="1200" b="0" i="0" dirty="0">
                <a:solidFill>
                  <a:srgbClr val="151515"/>
                </a:solidFill>
                <a:effectLst/>
                <a:latin typeface="Avenir Next W01"/>
              </a:rPr>
              <a:t>Figure. Overview of </a:t>
            </a:r>
            <a:r>
              <a:rPr lang="en-US" sz="1200" b="0" i="0" dirty="0" err="1">
                <a:solidFill>
                  <a:srgbClr val="151515"/>
                </a:solidFill>
                <a:effectLst/>
                <a:latin typeface="Avenir Next W01"/>
              </a:rPr>
              <a:t>CycleGAN</a:t>
            </a:r>
            <a:r>
              <a:rPr lang="en-US" sz="1200" b="0" i="0" dirty="0">
                <a:solidFill>
                  <a:srgbClr val="151515"/>
                </a:solidFill>
                <a:effectLst/>
                <a:latin typeface="Avenir Next W01"/>
              </a:rPr>
              <a:t> architecture: Translating from satellite image to map routes domain </a:t>
            </a:r>
            <a:endParaRPr lang="en-US" sz="1200" dirty="0"/>
          </a:p>
        </p:txBody>
      </p:sp>
      <p:sp>
        <p:nvSpPr>
          <p:cNvPr id="4" name="TextBox 3">
            <a:extLst>
              <a:ext uri="{FF2B5EF4-FFF2-40B4-BE49-F238E27FC236}">
                <a16:creationId xmlns:a16="http://schemas.microsoft.com/office/drawing/2014/main" id="{2F3BAEE7-AC51-B94E-0FC7-6E22B54EB4F1}"/>
              </a:ext>
            </a:extLst>
          </p:cNvPr>
          <p:cNvSpPr txBox="1"/>
          <p:nvPr/>
        </p:nvSpPr>
        <p:spPr>
          <a:xfrm>
            <a:off x="260624" y="3260993"/>
            <a:ext cx="352135" cy="369332"/>
          </a:xfrm>
          <a:prstGeom prst="rect">
            <a:avLst/>
          </a:prstGeom>
          <a:noFill/>
        </p:spPr>
        <p:txBody>
          <a:bodyPr wrap="square" rtlCol="0">
            <a:spAutoFit/>
          </a:bodyPr>
          <a:lstStyle/>
          <a:p>
            <a:r>
              <a:rPr lang="en-US" b="1" dirty="0"/>
              <a:t>X</a:t>
            </a:r>
          </a:p>
        </p:txBody>
      </p:sp>
      <p:sp>
        <p:nvSpPr>
          <p:cNvPr id="6" name="TextBox 5">
            <a:extLst>
              <a:ext uri="{FF2B5EF4-FFF2-40B4-BE49-F238E27FC236}">
                <a16:creationId xmlns:a16="http://schemas.microsoft.com/office/drawing/2014/main" id="{65989592-03D7-07EC-5E41-85AED174BF1F}"/>
              </a:ext>
            </a:extLst>
          </p:cNvPr>
          <p:cNvSpPr txBox="1"/>
          <p:nvPr/>
        </p:nvSpPr>
        <p:spPr>
          <a:xfrm>
            <a:off x="1577652" y="2925902"/>
            <a:ext cx="276508" cy="369332"/>
          </a:xfrm>
          <a:prstGeom prst="rect">
            <a:avLst/>
          </a:prstGeom>
          <a:noFill/>
        </p:spPr>
        <p:txBody>
          <a:bodyPr wrap="square" rtlCol="0">
            <a:spAutoFit/>
          </a:bodyPr>
          <a:lstStyle/>
          <a:p>
            <a:r>
              <a:rPr lang="en-US" b="1" dirty="0"/>
              <a:t>G</a:t>
            </a:r>
          </a:p>
        </p:txBody>
      </p:sp>
      <p:sp>
        <p:nvSpPr>
          <p:cNvPr id="7" name="TextBox 6">
            <a:extLst>
              <a:ext uri="{FF2B5EF4-FFF2-40B4-BE49-F238E27FC236}">
                <a16:creationId xmlns:a16="http://schemas.microsoft.com/office/drawing/2014/main" id="{C9181977-BC5B-0B5C-FC14-9E1A5D5B8B08}"/>
              </a:ext>
            </a:extLst>
          </p:cNvPr>
          <p:cNvSpPr txBox="1"/>
          <p:nvPr/>
        </p:nvSpPr>
        <p:spPr>
          <a:xfrm>
            <a:off x="2820723" y="3260993"/>
            <a:ext cx="352135" cy="369332"/>
          </a:xfrm>
          <a:prstGeom prst="rect">
            <a:avLst/>
          </a:prstGeom>
          <a:noFill/>
        </p:spPr>
        <p:txBody>
          <a:bodyPr wrap="square" rtlCol="0">
            <a:spAutoFit/>
          </a:bodyPr>
          <a:lstStyle/>
          <a:p>
            <a:r>
              <a:rPr lang="en-US" b="1" dirty="0"/>
              <a:t>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BA728D-7011-49C1-73D0-EEBABA9C4523}"/>
                  </a:ext>
                </a:extLst>
              </p:cNvPr>
              <p:cNvSpPr txBox="1"/>
              <p:nvPr/>
            </p:nvSpPr>
            <p:spPr>
              <a:xfrm>
                <a:off x="3964642" y="5117620"/>
                <a:ext cx="3521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𝑫</m:t>
                          </m:r>
                        </m:e>
                        <m:sub>
                          <m:r>
                            <a:rPr lang="en-US" b="1" i="1" dirty="0" smtClean="0">
                              <a:latin typeface="Cambria Math" panose="02040503050406030204" pitchFamily="18" charset="0"/>
                            </a:rPr>
                            <m:t>𝒀</m:t>
                          </m:r>
                        </m:sub>
                      </m:sSub>
                    </m:oMath>
                  </m:oMathPara>
                </a14:m>
                <a:endParaRPr lang="en-US" b="1" dirty="0"/>
              </a:p>
            </p:txBody>
          </p:sp>
        </mc:Choice>
        <mc:Fallback xmlns="">
          <p:sp>
            <p:nvSpPr>
              <p:cNvPr id="8" name="TextBox 7">
                <a:extLst>
                  <a:ext uri="{FF2B5EF4-FFF2-40B4-BE49-F238E27FC236}">
                    <a16:creationId xmlns:a16="http://schemas.microsoft.com/office/drawing/2014/main" id="{26BA728D-7011-49C1-73D0-EEBABA9C4523}"/>
                  </a:ext>
                </a:extLst>
              </p:cNvPr>
              <p:cNvSpPr txBox="1">
                <a:spLocks noRot="1" noChangeAspect="1" noMove="1" noResize="1" noEditPoints="1" noAdjustHandles="1" noChangeArrowheads="1" noChangeShapeType="1" noTextEdit="1"/>
              </p:cNvSpPr>
              <p:nvPr/>
            </p:nvSpPr>
            <p:spPr>
              <a:xfrm>
                <a:off x="3964642" y="5117620"/>
                <a:ext cx="352135" cy="369332"/>
              </a:xfrm>
              <a:prstGeom prst="rect">
                <a:avLst/>
              </a:prstGeom>
              <a:blipFill>
                <a:blip r:embed="rId4"/>
                <a:stretch>
                  <a:fillRect r="-24138"/>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A2B316B-D65E-C8AE-58E5-62F96FD20250}"/>
              </a:ext>
            </a:extLst>
          </p:cNvPr>
          <p:cNvSpPr txBox="1"/>
          <p:nvPr/>
        </p:nvSpPr>
        <p:spPr>
          <a:xfrm>
            <a:off x="5587792" y="2692584"/>
            <a:ext cx="361316" cy="369332"/>
          </a:xfrm>
          <a:prstGeom prst="rect">
            <a:avLst/>
          </a:prstGeom>
          <a:noFill/>
        </p:spPr>
        <p:txBody>
          <a:bodyPr wrap="square" rtlCol="0">
            <a:spAutoFit/>
          </a:bodyPr>
          <a:lstStyle/>
          <a:p>
            <a:r>
              <a:rPr lang="en-US" b="1" dirty="0"/>
              <a:t>X</a:t>
            </a:r>
          </a:p>
        </p:txBody>
      </p:sp>
      <p:sp>
        <p:nvSpPr>
          <p:cNvPr id="10" name="TextBox 9">
            <a:extLst>
              <a:ext uri="{FF2B5EF4-FFF2-40B4-BE49-F238E27FC236}">
                <a16:creationId xmlns:a16="http://schemas.microsoft.com/office/drawing/2014/main" id="{F6CB2C8F-D4FC-82F6-BF85-39A84E998C73}"/>
              </a:ext>
            </a:extLst>
          </p:cNvPr>
          <p:cNvSpPr txBox="1"/>
          <p:nvPr/>
        </p:nvSpPr>
        <p:spPr>
          <a:xfrm>
            <a:off x="4169915" y="2877250"/>
            <a:ext cx="352135" cy="369332"/>
          </a:xfrm>
          <a:prstGeom prst="rect">
            <a:avLst/>
          </a:prstGeom>
          <a:noFill/>
        </p:spPr>
        <p:txBody>
          <a:bodyPr wrap="square" rtlCol="0">
            <a:spAutoFit/>
          </a:bodyPr>
          <a:lstStyle/>
          <a:p>
            <a:r>
              <a:rPr lang="en-US" b="1" dirty="0"/>
              <a:t>F</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C18D55F-CB47-DB2A-7C0B-3285D14685FF}"/>
                  </a:ext>
                </a:extLst>
              </p:cNvPr>
              <p:cNvSpPr txBox="1"/>
              <p:nvPr/>
            </p:nvSpPr>
            <p:spPr>
              <a:xfrm>
                <a:off x="6217673" y="5114757"/>
                <a:ext cx="3521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𝑫</m:t>
                          </m:r>
                        </m:e>
                        <m:sub>
                          <m:r>
                            <a:rPr lang="en-US" b="1" i="1" dirty="0" smtClean="0">
                              <a:latin typeface="Cambria Math" panose="02040503050406030204" pitchFamily="18" charset="0"/>
                            </a:rPr>
                            <m:t>𝑿</m:t>
                          </m:r>
                        </m:sub>
                      </m:sSub>
                    </m:oMath>
                  </m:oMathPara>
                </a14:m>
                <a:endParaRPr lang="en-US" b="1" dirty="0"/>
              </a:p>
            </p:txBody>
          </p:sp>
        </mc:Choice>
        <mc:Fallback xmlns="">
          <p:sp>
            <p:nvSpPr>
              <p:cNvPr id="11" name="TextBox 10">
                <a:extLst>
                  <a:ext uri="{FF2B5EF4-FFF2-40B4-BE49-F238E27FC236}">
                    <a16:creationId xmlns:a16="http://schemas.microsoft.com/office/drawing/2014/main" id="{6C18D55F-CB47-DB2A-7C0B-3285D14685FF}"/>
                  </a:ext>
                </a:extLst>
              </p:cNvPr>
              <p:cNvSpPr txBox="1">
                <a:spLocks noRot="1" noChangeAspect="1" noMove="1" noResize="1" noEditPoints="1" noAdjustHandles="1" noChangeArrowheads="1" noChangeShapeType="1" noTextEdit="1"/>
              </p:cNvSpPr>
              <p:nvPr/>
            </p:nvSpPr>
            <p:spPr>
              <a:xfrm>
                <a:off x="6217673" y="5114757"/>
                <a:ext cx="352135" cy="369332"/>
              </a:xfrm>
              <a:prstGeom prst="rect">
                <a:avLst/>
              </a:prstGeom>
              <a:blipFill>
                <a:blip r:embed="rId5"/>
                <a:stretch>
                  <a:fillRect r="-25862"/>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C59ABBAB-6071-CC41-FDAF-29B3F85A3507}"/>
              </a:ext>
            </a:extLst>
          </p:cNvPr>
          <p:cNvCxnSpPr/>
          <p:nvPr/>
        </p:nvCxnSpPr>
        <p:spPr>
          <a:xfrm>
            <a:off x="8020280" y="5191875"/>
            <a:ext cx="1454226"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A3088C9-9DF5-D811-BC11-37C0AD64EF1A}"/>
              </a:ext>
            </a:extLst>
          </p:cNvPr>
          <p:cNvCxnSpPr/>
          <p:nvPr/>
        </p:nvCxnSpPr>
        <p:spPr>
          <a:xfrm>
            <a:off x="8747393" y="5651399"/>
            <a:ext cx="1454226"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C1A76EC-A116-83D6-473B-3B2F193B0200}"/>
              </a:ext>
            </a:extLst>
          </p:cNvPr>
          <p:cNvPicPr>
            <a:picLocks noChangeAspect="1"/>
          </p:cNvPicPr>
          <p:nvPr/>
        </p:nvPicPr>
        <p:blipFill>
          <a:blip r:embed="rId6"/>
          <a:stretch>
            <a:fillRect/>
          </a:stretch>
        </p:blipFill>
        <p:spPr>
          <a:xfrm>
            <a:off x="7284309" y="513843"/>
            <a:ext cx="3956748" cy="581538"/>
          </a:xfrm>
          <a:prstGeom prst="rect">
            <a:avLst/>
          </a:prstGeom>
        </p:spPr>
      </p:pic>
      <p:pic>
        <p:nvPicPr>
          <p:cNvPr id="12" name="Picture 11">
            <a:extLst>
              <a:ext uri="{FF2B5EF4-FFF2-40B4-BE49-F238E27FC236}">
                <a16:creationId xmlns:a16="http://schemas.microsoft.com/office/drawing/2014/main" id="{F6062FF7-B085-D321-457F-F71C0FC6E4B6}"/>
              </a:ext>
            </a:extLst>
          </p:cNvPr>
          <p:cNvPicPr>
            <a:picLocks noChangeAspect="1"/>
          </p:cNvPicPr>
          <p:nvPr/>
        </p:nvPicPr>
        <p:blipFill>
          <a:blip r:embed="rId7"/>
          <a:stretch>
            <a:fillRect/>
          </a:stretch>
        </p:blipFill>
        <p:spPr>
          <a:xfrm>
            <a:off x="7180870" y="2496186"/>
            <a:ext cx="4985912" cy="3432212"/>
          </a:xfrm>
          <a:prstGeom prst="rect">
            <a:avLst/>
          </a:prstGeom>
        </p:spPr>
      </p:pic>
    </p:spTree>
    <p:extLst>
      <p:ext uri="{BB962C8B-B14F-4D97-AF65-F5344CB8AC3E}">
        <p14:creationId xmlns:p14="http://schemas.microsoft.com/office/powerpoint/2010/main" val="13010928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6A583-4321-7B3D-2882-DC92D6178974}"/>
              </a:ext>
            </a:extLst>
          </p:cNvPr>
          <p:cNvSpPr>
            <a:spLocks noGrp="1"/>
          </p:cNvSpPr>
          <p:nvPr>
            <p:ph type="title"/>
          </p:nvPr>
        </p:nvSpPr>
        <p:spPr>
          <a:xfrm>
            <a:off x="581025" y="727075"/>
            <a:ext cx="10515600" cy="1325563"/>
          </a:xfrm>
        </p:spPr>
        <p:txBody>
          <a:bodyPr/>
          <a:lstStyle/>
          <a:p>
            <a:r>
              <a:rPr lang="en-GB" dirty="0">
                <a:cs typeface="Calibri Light"/>
              </a:rPr>
              <a:t>Examples</a:t>
            </a:r>
          </a:p>
        </p:txBody>
      </p:sp>
      <p:pic>
        <p:nvPicPr>
          <p:cNvPr id="4" name="Content Placeholder 3" descr="A collage of different animals&#10;&#10;Description automatically generated">
            <a:extLst>
              <a:ext uri="{FF2B5EF4-FFF2-40B4-BE49-F238E27FC236}">
                <a16:creationId xmlns:a16="http://schemas.microsoft.com/office/drawing/2014/main" id="{EC1A65CD-C1CF-21CF-232B-2812A96F5ABB}"/>
              </a:ext>
            </a:extLst>
          </p:cNvPr>
          <p:cNvPicPr>
            <a:picLocks noGrp="1" noChangeAspect="1"/>
          </p:cNvPicPr>
          <p:nvPr>
            <p:ph idx="1"/>
          </p:nvPr>
        </p:nvPicPr>
        <p:blipFill>
          <a:blip r:embed="rId2"/>
          <a:stretch>
            <a:fillRect/>
          </a:stretch>
        </p:blipFill>
        <p:spPr>
          <a:xfrm>
            <a:off x="1574123" y="1825625"/>
            <a:ext cx="9043754" cy="4351338"/>
          </a:xfrm>
        </p:spPr>
      </p:pic>
      <p:pic>
        <p:nvPicPr>
          <p:cNvPr id="5" name="Picture 4">
            <a:extLst>
              <a:ext uri="{FF2B5EF4-FFF2-40B4-BE49-F238E27FC236}">
                <a16:creationId xmlns:a16="http://schemas.microsoft.com/office/drawing/2014/main" id="{B1AC6C49-CB3A-F292-BAF6-A4534F6833CC}"/>
              </a:ext>
            </a:extLst>
          </p:cNvPr>
          <p:cNvPicPr>
            <a:picLocks noChangeAspect="1"/>
          </p:cNvPicPr>
          <p:nvPr/>
        </p:nvPicPr>
        <p:blipFill>
          <a:blip r:embed="rId3"/>
          <a:stretch>
            <a:fillRect/>
          </a:stretch>
        </p:blipFill>
        <p:spPr>
          <a:xfrm>
            <a:off x="173934" y="109653"/>
            <a:ext cx="3956748" cy="581538"/>
          </a:xfrm>
          <a:prstGeom prst="rect">
            <a:avLst/>
          </a:prstGeom>
        </p:spPr>
      </p:pic>
    </p:spTree>
    <p:extLst>
      <p:ext uri="{BB962C8B-B14F-4D97-AF65-F5344CB8AC3E}">
        <p14:creationId xmlns:p14="http://schemas.microsoft.com/office/powerpoint/2010/main" val="1079730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E5807-D249-64EA-B2BC-04DE7A7414BE}"/>
              </a:ext>
            </a:extLst>
          </p:cNvPr>
          <p:cNvSpPr>
            <a:spLocks noGrp="1"/>
          </p:cNvSpPr>
          <p:nvPr>
            <p:ph type="title"/>
          </p:nvPr>
        </p:nvSpPr>
        <p:spPr>
          <a:xfrm>
            <a:off x="841248" y="334644"/>
            <a:ext cx="10509504" cy="1076914"/>
          </a:xfrm>
        </p:spPr>
        <p:txBody>
          <a:bodyPr anchor="ctr">
            <a:normAutofit/>
          </a:bodyPr>
          <a:lstStyle/>
          <a:p>
            <a:r>
              <a:rPr lang="en-US" dirty="0"/>
              <a:t>Cycle Consistency Loss</a:t>
            </a:r>
            <a:endParaRPr lang="en-US">
              <a:cs typeface="Calibri Light"/>
            </a:endParaRPr>
          </a:p>
        </p:txBody>
      </p:sp>
      <p:pic>
        <p:nvPicPr>
          <p:cNvPr id="7" name="Picture 6" descr="A white page with black text&#10;&#10;Description automatically generated">
            <a:extLst>
              <a:ext uri="{FF2B5EF4-FFF2-40B4-BE49-F238E27FC236}">
                <a16:creationId xmlns:a16="http://schemas.microsoft.com/office/drawing/2014/main" id="{9C9BE2B4-0AE4-1E7E-A661-96C3ADE46BB6}"/>
              </a:ext>
            </a:extLst>
          </p:cNvPr>
          <p:cNvPicPr>
            <a:picLocks noChangeAspect="1"/>
          </p:cNvPicPr>
          <p:nvPr/>
        </p:nvPicPr>
        <p:blipFill>
          <a:blip r:embed="rId3"/>
          <a:stretch>
            <a:fillRect/>
          </a:stretch>
        </p:blipFill>
        <p:spPr>
          <a:xfrm>
            <a:off x="612555" y="3571298"/>
            <a:ext cx="4403985" cy="3092218"/>
          </a:xfrm>
          <a:prstGeom prst="rect">
            <a:avLst/>
          </a:prstGeom>
        </p:spPr>
      </p:pic>
      <p:sp>
        <p:nvSpPr>
          <p:cNvPr id="10" name="TextBox 9">
            <a:extLst>
              <a:ext uri="{FF2B5EF4-FFF2-40B4-BE49-F238E27FC236}">
                <a16:creationId xmlns:a16="http://schemas.microsoft.com/office/drawing/2014/main" id="{8C975CE9-473B-8357-B609-262AF3238A2C}"/>
              </a:ext>
            </a:extLst>
          </p:cNvPr>
          <p:cNvSpPr txBox="1"/>
          <p:nvPr/>
        </p:nvSpPr>
        <p:spPr>
          <a:xfrm>
            <a:off x="2155670" y="1564342"/>
            <a:ext cx="1318119" cy="400110"/>
          </a:xfrm>
          <a:prstGeom prst="rect">
            <a:avLst/>
          </a:prstGeom>
          <a:noFill/>
        </p:spPr>
        <p:txBody>
          <a:bodyPr wrap="square" lIns="91440" tIns="45720" rIns="91440" bIns="45720" rtlCol="0" anchor="t">
            <a:spAutoFit/>
          </a:bodyPr>
          <a:lstStyle/>
          <a:p>
            <a:pPr defTabSz="850392">
              <a:spcAft>
                <a:spcPts val="600"/>
              </a:spcAft>
            </a:pPr>
            <a:r>
              <a:rPr lang="en-US" sz="2000" b="1" kern="1200" dirty="0">
                <a:latin typeface="+mn-lt"/>
                <a:ea typeface="+mn-ea"/>
                <a:cs typeface="+mn-cs"/>
              </a:rPr>
              <a:t>Objective</a:t>
            </a:r>
            <a:endParaRPr lang="en-US" sz="2000" b="1">
              <a:cs typeface="Calibri"/>
            </a:endParaRPr>
          </a:p>
        </p:txBody>
      </p:sp>
      <p:pic>
        <p:nvPicPr>
          <p:cNvPr id="12" name="Picture 11" descr="A group of math equations&#10;&#10;Description automatically generated with medium confidence">
            <a:extLst>
              <a:ext uri="{FF2B5EF4-FFF2-40B4-BE49-F238E27FC236}">
                <a16:creationId xmlns:a16="http://schemas.microsoft.com/office/drawing/2014/main" id="{563ED381-EE56-1D06-135B-999F3648D8F6}"/>
              </a:ext>
            </a:extLst>
          </p:cNvPr>
          <p:cNvPicPr>
            <a:picLocks noChangeAspect="1"/>
          </p:cNvPicPr>
          <p:nvPr/>
        </p:nvPicPr>
        <p:blipFill>
          <a:blip r:embed="rId4"/>
          <a:stretch>
            <a:fillRect/>
          </a:stretch>
        </p:blipFill>
        <p:spPr>
          <a:xfrm>
            <a:off x="621432" y="2101724"/>
            <a:ext cx="4232617" cy="1171160"/>
          </a:xfrm>
          <a:prstGeom prst="rect">
            <a:avLst/>
          </a:prstGeom>
        </p:spPr>
      </p:pic>
      <p:pic>
        <p:nvPicPr>
          <p:cNvPr id="14" name="Picture 13" descr="A black text on a white background&#10;&#10;Description automatically generated">
            <a:extLst>
              <a:ext uri="{FF2B5EF4-FFF2-40B4-BE49-F238E27FC236}">
                <a16:creationId xmlns:a16="http://schemas.microsoft.com/office/drawing/2014/main" id="{880F535A-8F5A-3F79-7174-52468CF9B220}"/>
              </a:ext>
            </a:extLst>
          </p:cNvPr>
          <p:cNvPicPr>
            <a:picLocks noChangeAspect="1"/>
          </p:cNvPicPr>
          <p:nvPr/>
        </p:nvPicPr>
        <p:blipFill>
          <a:blip r:embed="rId5"/>
          <a:stretch>
            <a:fillRect/>
          </a:stretch>
        </p:blipFill>
        <p:spPr>
          <a:xfrm>
            <a:off x="5356717" y="1963885"/>
            <a:ext cx="4804117" cy="1198007"/>
          </a:xfrm>
          <a:prstGeom prst="rect">
            <a:avLst/>
          </a:prstGeom>
        </p:spPr>
      </p:pic>
      <p:pic>
        <p:nvPicPr>
          <p:cNvPr id="3" name="Picture 2">
            <a:extLst>
              <a:ext uri="{FF2B5EF4-FFF2-40B4-BE49-F238E27FC236}">
                <a16:creationId xmlns:a16="http://schemas.microsoft.com/office/drawing/2014/main" id="{BBFA106C-AEB5-682B-0018-85139CC886C3}"/>
              </a:ext>
            </a:extLst>
          </p:cNvPr>
          <p:cNvPicPr>
            <a:picLocks noChangeAspect="1"/>
          </p:cNvPicPr>
          <p:nvPr/>
        </p:nvPicPr>
        <p:blipFill>
          <a:blip r:embed="rId6"/>
          <a:stretch>
            <a:fillRect/>
          </a:stretch>
        </p:blipFill>
        <p:spPr>
          <a:xfrm>
            <a:off x="7628123" y="334643"/>
            <a:ext cx="3956748" cy="581538"/>
          </a:xfrm>
          <a:prstGeom prst="rect">
            <a:avLst/>
          </a:prstGeom>
        </p:spPr>
      </p:pic>
      <p:pic>
        <p:nvPicPr>
          <p:cNvPr id="4" name="Picture 3">
            <a:extLst>
              <a:ext uri="{FF2B5EF4-FFF2-40B4-BE49-F238E27FC236}">
                <a16:creationId xmlns:a16="http://schemas.microsoft.com/office/drawing/2014/main" id="{53A1F6F0-8652-AD3A-8185-64884AB63091}"/>
              </a:ext>
            </a:extLst>
          </p:cNvPr>
          <p:cNvPicPr>
            <a:picLocks noChangeAspect="1"/>
          </p:cNvPicPr>
          <p:nvPr/>
        </p:nvPicPr>
        <p:blipFill>
          <a:blip r:embed="rId7"/>
          <a:stretch>
            <a:fillRect/>
          </a:stretch>
        </p:blipFill>
        <p:spPr>
          <a:xfrm>
            <a:off x="5359173" y="4327072"/>
            <a:ext cx="5991225" cy="1905000"/>
          </a:xfrm>
          <a:prstGeom prst="rect">
            <a:avLst/>
          </a:prstGeom>
        </p:spPr>
      </p:pic>
    </p:spTree>
    <p:extLst>
      <p:ext uri="{BB962C8B-B14F-4D97-AF65-F5344CB8AC3E}">
        <p14:creationId xmlns:p14="http://schemas.microsoft.com/office/powerpoint/2010/main" val="14479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 white text with black text&#10;&#10;Description automatically generated">
            <a:extLst>
              <a:ext uri="{FF2B5EF4-FFF2-40B4-BE49-F238E27FC236}">
                <a16:creationId xmlns:a16="http://schemas.microsoft.com/office/drawing/2014/main" id="{66EA16E1-22AE-1BED-376E-99F2C205C341}"/>
              </a:ext>
            </a:extLst>
          </p:cNvPr>
          <p:cNvPicPr>
            <a:picLocks noChangeAspect="1"/>
          </p:cNvPicPr>
          <p:nvPr/>
        </p:nvPicPr>
        <p:blipFill>
          <a:blip r:embed="rId2"/>
          <a:stretch>
            <a:fillRect/>
          </a:stretch>
        </p:blipFill>
        <p:spPr>
          <a:xfrm>
            <a:off x="1206954" y="2522764"/>
            <a:ext cx="3790950" cy="3009900"/>
          </a:xfrm>
          <a:prstGeom prst="rect">
            <a:avLst/>
          </a:prstGeom>
        </p:spPr>
      </p:pic>
      <p:sp>
        <p:nvSpPr>
          <p:cNvPr id="5" name="TextBox 1">
            <a:extLst>
              <a:ext uri="{FF2B5EF4-FFF2-40B4-BE49-F238E27FC236}">
                <a16:creationId xmlns:a16="http://schemas.microsoft.com/office/drawing/2014/main" id="{677E6604-0567-A5EC-B181-B0FB9CDB5C4C}"/>
              </a:ext>
            </a:extLst>
          </p:cNvPr>
          <p:cNvSpPr txBox="1"/>
          <p:nvPr/>
        </p:nvSpPr>
        <p:spPr>
          <a:xfrm>
            <a:off x="1314450" y="1986164"/>
            <a:ext cx="2882940" cy="34996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50392">
              <a:spcAft>
                <a:spcPts val="600"/>
              </a:spcAft>
            </a:pPr>
            <a:r>
              <a:rPr lang="en-US" sz="1674" b="1" kern="1200">
                <a:solidFill>
                  <a:schemeClr val="tx1"/>
                </a:solidFill>
                <a:latin typeface="+mn-lt"/>
                <a:ea typeface="+mn-ea"/>
                <a:cs typeface="+mn-cs"/>
              </a:rPr>
              <a:t>Adversarial Loss</a:t>
            </a:r>
            <a:endParaRPr lang="en-US" b="1"/>
          </a:p>
        </p:txBody>
      </p:sp>
    </p:spTree>
    <p:extLst>
      <p:ext uri="{BB962C8B-B14F-4D97-AF65-F5344CB8AC3E}">
        <p14:creationId xmlns:p14="http://schemas.microsoft.com/office/powerpoint/2010/main" val="3734346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graphicFrame>
        <p:nvGraphicFramePr>
          <p:cNvPr id="54" name="Google Shape;54;p13"/>
          <p:cNvGraphicFramePr/>
          <p:nvPr>
            <p:extLst>
              <p:ext uri="{D42A27DB-BD31-4B8C-83A1-F6EECF244321}">
                <p14:modId xmlns:p14="http://schemas.microsoft.com/office/powerpoint/2010/main" val="2411867978"/>
              </p:ext>
            </p:extLst>
          </p:nvPr>
        </p:nvGraphicFramePr>
        <p:xfrm>
          <a:off x="1155700" y="76234"/>
          <a:ext cx="9937752" cy="6210240"/>
        </p:xfrm>
        <a:graphic>
          <a:graphicData uri="http://schemas.openxmlformats.org/drawingml/2006/table">
            <a:tbl>
              <a:tblPr>
                <a:noFill/>
              </a:tblPr>
              <a:tblGrid>
                <a:gridCol w="2484438">
                  <a:extLst>
                    <a:ext uri="{9D8B030D-6E8A-4147-A177-3AD203B41FA5}">
                      <a16:colId xmlns:a16="http://schemas.microsoft.com/office/drawing/2014/main" val="20000"/>
                    </a:ext>
                  </a:extLst>
                </a:gridCol>
                <a:gridCol w="2484438">
                  <a:extLst>
                    <a:ext uri="{9D8B030D-6E8A-4147-A177-3AD203B41FA5}">
                      <a16:colId xmlns:a16="http://schemas.microsoft.com/office/drawing/2014/main" val="20001"/>
                    </a:ext>
                  </a:extLst>
                </a:gridCol>
                <a:gridCol w="2484438">
                  <a:extLst>
                    <a:ext uri="{9D8B030D-6E8A-4147-A177-3AD203B41FA5}">
                      <a16:colId xmlns:a16="http://schemas.microsoft.com/office/drawing/2014/main" val="20002"/>
                    </a:ext>
                  </a:extLst>
                </a:gridCol>
                <a:gridCol w="2484438">
                  <a:extLst>
                    <a:ext uri="{9D8B030D-6E8A-4147-A177-3AD203B41FA5}">
                      <a16:colId xmlns:a16="http://schemas.microsoft.com/office/drawing/2014/main" val="20003"/>
                    </a:ext>
                  </a:extLst>
                </a:gridCol>
              </a:tblGrid>
              <a:tr h="568920">
                <a:tc gridSpan="4">
                  <a:txBody>
                    <a:bodyPr/>
                    <a:lstStyle/>
                    <a:p>
                      <a:pPr marL="0" lvl="0" indent="0" algn="ctr" rtl="0">
                        <a:spcBef>
                          <a:spcPts val="0"/>
                        </a:spcBef>
                        <a:spcAft>
                          <a:spcPts val="0"/>
                        </a:spcAft>
                        <a:buNone/>
                      </a:pPr>
                      <a:r>
                        <a:rPr lang="en" sz="2100" b="1" dirty="0">
                          <a:latin typeface="Times New Roman"/>
                          <a:ea typeface="Times New Roman"/>
                          <a:cs typeface="Times New Roman"/>
                          <a:sym typeface="Times New Roman"/>
                        </a:rPr>
                        <a:t>Training Dataset</a:t>
                      </a:r>
                      <a:endParaRPr sz="2100" b="1" dirty="0">
                        <a:latin typeface="Times New Roman"/>
                        <a:ea typeface="Times New Roman"/>
                        <a:cs typeface="Times New Roman"/>
                        <a:sym typeface="Times New Roman"/>
                      </a:endParaRPr>
                    </a:p>
                  </a:txBody>
                  <a:tcPr marL="121900" marR="121900" marT="121900" marB="12190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68920">
                <a:tc gridSpan="2">
                  <a:txBody>
                    <a:bodyPr/>
                    <a:lstStyle/>
                    <a:p>
                      <a:pPr marL="0" lvl="0" indent="0" algn="ctr" rtl="0">
                        <a:spcBef>
                          <a:spcPts val="0"/>
                        </a:spcBef>
                        <a:spcAft>
                          <a:spcPts val="0"/>
                        </a:spcAft>
                        <a:buNone/>
                      </a:pPr>
                      <a:r>
                        <a:rPr lang="en" sz="2100" b="1" dirty="0">
                          <a:latin typeface="Times New Roman"/>
                          <a:ea typeface="Times New Roman"/>
                          <a:cs typeface="Times New Roman"/>
                          <a:sym typeface="Times New Roman"/>
                        </a:rPr>
                        <a:t>3D Printed Specimen Replica (Class A)</a:t>
                      </a:r>
                      <a:endParaRPr sz="2100" b="1" dirty="0">
                        <a:latin typeface="Times New Roman"/>
                        <a:ea typeface="Times New Roman"/>
                        <a:cs typeface="Times New Roman"/>
                        <a:sym typeface="Times New Roman"/>
                      </a:endParaRPr>
                    </a:p>
                  </a:txBody>
                  <a:tcPr marL="121900" marR="121900" marT="121900" marB="121900"/>
                </a:tc>
                <a:tc hMerge="1">
                  <a:txBody>
                    <a:bodyPr/>
                    <a:lstStyle/>
                    <a:p>
                      <a:endParaRPr lang="en-US"/>
                    </a:p>
                  </a:txBody>
                  <a:tcPr/>
                </a:tc>
                <a:tc gridSpan="2">
                  <a:txBody>
                    <a:bodyPr/>
                    <a:lstStyle/>
                    <a:p>
                      <a:pPr marL="0" lvl="0" indent="0" algn="ctr" rtl="0">
                        <a:spcBef>
                          <a:spcPts val="0"/>
                        </a:spcBef>
                        <a:spcAft>
                          <a:spcPts val="0"/>
                        </a:spcAft>
                        <a:buNone/>
                      </a:pPr>
                      <a:r>
                        <a:rPr lang="en" sz="2100" b="1" dirty="0">
                          <a:solidFill>
                            <a:schemeClr val="dk1"/>
                          </a:solidFill>
                          <a:latin typeface="Times New Roman"/>
                          <a:ea typeface="Times New Roman"/>
                          <a:cs typeface="Times New Roman"/>
                          <a:sym typeface="Times New Roman"/>
                        </a:rPr>
                        <a:t>Metal Specimen (Class B)</a:t>
                      </a:r>
                      <a:endParaRPr sz="2100" b="1" dirty="0">
                        <a:latin typeface="Times New Roman"/>
                        <a:ea typeface="Times New Roman"/>
                        <a:cs typeface="Times New Roman"/>
                        <a:sym typeface="Times New Roman"/>
                      </a:endParaRPr>
                    </a:p>
                  </a:txBody>
                  <a:tcPr marL="121900" marR="121900" marT="121900" marB="121900"/>
                </a:tc>
                <a:tc hMerge="1">
                  <a:txBody>
                    <a:bodyPr/>
                    <a:lstStyle/>
                    <a:p>
                      <a:endParaRPr lang="en-US"/>
                    </a:p>
                  </a:txBody>
                  <a:tcPr/>
                </a:tc>
                <a:extLst>
                  <a:ext uri="{0D108BD9-81ED-4DB2-BD59-A6C34878D82A}">
                    <a16:rowId xmlns:a16="http://schemas.microsoft.com/office/drawing/2014/main" val="10001"/>
                  </a:ext>
                </a:extLst>
              </a:tr>
              <a:tr h="1268100">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extLst>
                  <a:ext uri="{0D108BD9-81ED-4DB2-BD59-A6C34878D82A}">
                    <a16:rowId xmlns:a16="http://schemas.microsoft.com/office/drawing/2014/main" val="10002"/>
                  </a:ext>
                </a:extLst>
              </a:tr>
              <a:tr h="1268100">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extLst>
                  <a:ext uri="{0D108BD9-81ED-4DB2-BD59-A6C34878D82A}">
                    <a16:rowId xmlns:a16="http://schemas.microsoft.com/office/drawing/2014/main" val="10003"/>
                  </a:ext>
                </a:extLst>
              </a:tr>
              <a:tr h="1268100">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extLst>
                  <a:ext uri="{0D108BD9-81ED-4DB2-BD59-A6C34878D82A}">
                    <a16:rowId xmlns:a16="http://schemas.microsoft.com/office/drawing/2014/main" val="10004"/>
                  </a:ext>
                </a:extLst>
              </a:tr>
              <a:tr h="1268100">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endParaRPr sz="2400"/>
                    </a:p>
                  </a:txBody>
                  <a:tcPr marL="121900" marR="121900" marT="121900" marB="121900"/>
                </a:tc>
                <a:extLst>
                  <a:ext uri="{0D108BD9-81ED-4DB2-BD59-A6C34878D82A}">
                    <a16:rowId xmlns:a16="http://schemas.microsoft.com/office/drawing/2014/main" val="10005"/>
                  </a:ext>
                </a:extLst>
              </a:tr>
            </a:tbl>
          </a:graphicData>
        </a:graphic>
      </p:graphicFrame>
      <p:pic>
        <p:nvPicPr>
          <p:cNvPr id="55" name="Google Shape;55;p13"/>
          <p:cNvPicPr preferRelativeResize="0"/>
          <p:nvPr/>
        </p:nvPicPr>
        <p:blipFill>
          <a:blip r:embed="rId3">
            <a:alphaModFix/>
          </a:blip>
          <a:stretch>
            <a:fillRect/>
          </a:stretch>
        </p:blipFill>
        <p:spPr>
          <a:xfrm>
            <a:off x="1541700" y="1801758"/>
            <a:ext cx="1929536" cy="1085368"/>
          </a:xfrm>
          <a:prstGeom prst="rect">
            <a:avLst/>
          </a:prstGeom>
          <a:noFill/>
          <a:ln>
            <a:noFill/>
          </a:ln>
        </p:spPr>
      </p:pic>
      <p:pic>
        <p:nvPicPr>
          <p:cNvPr id="56" name="Google Shape;56;p13"/>
          <p:cNvPicPr preferRelativeResize="0"/>
          <p:nvPr/>
        </p:nvPicPr>
        <p:blipFill>
          <a:blip r:embed="rId4">
            <a:alphaModFix/>
          </a:blip>
          <a:stretch>
            <a:fillRect/>
          </a:stretch>
        </p:blipFill>
        <p:spPr>
          <a:xfrm>
            <a:off x="3952967" y="1801759"/>
            <a:ext cx="1929536" cy="1085364"/>
          </a:xfrm>
          <a:prstGeom prst="rect">
            <a:avLst/>
          </a:prstGeom>
          <a:noFill/>
          <a:ln>
            <a:noFill/>
          </a:ln>
        </p:spPr>
      </p:pic>
      <p:pic>
        <p:nvPicPr>
          <p:cNvPr id="57" name="Google Shape;57;p13"/>
          <p:cNvPicPr preferRelativeResize="0"/>
          <p:nvPr/>
        </p:nvPicPr>
        <p:blipFill>
          <a:blip r:embed="rId5">
            <a:alphaModFix/>
          </a:blip>
          <a:stretch>
            <a:fillRect/>
          </a:stretch>
        </p:blipFill>
        <p:spPr>
          <a:xfrm>
            <a:off x="1541715" y="3041325"/>
            <a:ext cx="1929517" cy="1085368"/>
          </a:xfrm>
          <a:prstGeom prst="rect">
            <a:avLst/>
          </a:prstGeom>
          <a:noFill/>
          <a:ln>
            <a:noFill/>
          </a:ln>
        </p:spPr>
      </p:pic>
      <p:pic>
        <p:nvPicPr>
          <p:cNvPr id="58" name="Google Shape;58;p13"/>
          <p:cNvPicPr preferRelativeResize="0"/>
          <p:nvPr/>
        </p:nvPicPr>
        <p:blipFill>
          <a:blip r:embed="rId6">
            <a:alphaModFix/>
          </a:blip>
          <a:stretch>
            <a:fillRect/>
          </a:stretch>
        </p:blipFill>
        <p:spPr>
          <a:xfrm>
            <a:off x="3952967" y="4331858"/>
            <a:ext cx="1929549" cy="1085368"/>
          </a:xfrm>
          <a:prstGeom prst="rect">
            <a:avLst/>
          </a:prstGeom>
          <a:noFill/>
          <a:ln>
            <a:noFill/>
          </a:ln>
        </p:spPr>
      </p:pic>
      <p:pic>
        <p:nvPicPr>
          <p:cNvPr id="59" name="Google Shape;59;p13"/>
          <p:cNvPicPr preferRelativeResize="0"/>
          <p:nvPr/>
        </p:nvPicPr>
        <p:blipFill>
          <a:blip r:embed="rId7">
            <a:alphaModFix/>
          </a:blip>
          <a:stretch>
            <a:fillRect/>
          </a:stretch>
        </p:blipFill>
        <p:spPr>
          <a:xfrm>
            <a:off x="1541701" y="4331858"/>
            <a:ext cx="1929543" cy="1085368"/>
          </a:xfrm>
          <a:prstGeom prst="rect">
            <a:avLst/>
          </a:prstGeom>
          <a:noFill/>
          <a:ln>
            <a:noFill/>
          </a:ln>
        </p:spPr>
      </p:pic>
      <p:pic>
        <p:nvPicPr>
          <p:cNvPr id="60" name="Google Shape;60;p13"/>
          <p:cNvPicPr preferRelativeResize="0"/>
          <p:nvPr/>
        </p:nvPicPr>
        <p:blipFill>
          <a:blip r:embed="rId8">
            <a:alphaModFix/>
          </a:blip>
          <a:stretch>
            <a:fillRect/>
          </a:stretch>
        </p:blipFill>
        <p:spPr>
          <a:xfrm>
            <a:off x="1541701" y="5622392"/>
            <a:ext cx="1929529" cy="1085368"/>
          </a:xfrm>
          <a:prstGeom prst="rect">
            <a:avLst/>
          </a:prstGeom>
          <a:noFill/>
          <a:ln>
            <a:noFill/>
          </a:ln>
        </p:spPr>
      </p:pic>
      <p:pic>
        <p:nvPicPr>
          <p:cNvPr id="61" name="Google Shape;61;p13"/>
          <p:cNvPicPr preferRelativeResize="0"/>
          <p:nvPr/>
        </p:nvPicPr>
        <p:blipFill>
          <a:blip r:embed="rId9">
            <a:alphaModFix/>
          </a:blip>
          <a:stretch>
            <a:fillRect/>
          </a:stretch>
        </p:blipFill>
        <p:spPr>
          <a:xfrm>
            <a:off x="3952967" y="5622392"/>
            <a:ext cx="1929536" cy="1085368"/>
          </a:xfrm>
          <a:prstGeom prst="rect">
            <a:avLst/>
          </a:prstGeom>
          <a:noFill/>
          <a:ln>
            <a:noFill/>
          </a:ln>
        </p:spPr>
      </p:pic>
      <p:pic>
        <p:nvPicPr>
          <p:cNvPr id="62" name="Google Shape;62;p13"/>
          <p:cNvPicPr preferRelativeResize="0"/>
          <p:nvPr/>
        </p:nvPicPr>
        <p:blipFill>
          <a:blip r:embed="rId10">
            <a:alphaModFix/>
          </a:blip>
          <a:stretch>
            <a:fillRect/>
          </a:stretch>
        </p:blipFill>
        <p:spPr>
          <a:xfrm>
            <a:off x="3986651" y="3085758"/>
            <a:ext cx="1862157" cy="1047467"/>
          </a:xfrm>
          <a:prstGeom prst="rect">
            <a:avLst/>
          </a:prstGeom>
          <a:noFill/>
          <a:ln>
            <a:noFill/>
          </a:ln>
        </p:spPr>
      </p:pic>
      <p:pic>
        <p:nvPicPr>
          <p:cNvPr id="63" name="Google Shape;63;p13"/>
          <p:cNvPicPr preferRelativeResize="0"/>
          <p:nvPr/>
        </p:nvPicPr>
        <p:blipFill>
          <a:blip r:embed="rId11">
            <a:alphaModFix/>
          </a:blip>
          <a:stretch>
            <a:fillRect/>
          </a:stretch>
        </p:blipFill>
        <p:spPr>
          <a:xfrm>
            <a:off x="6364237" y="1801759"/>
            <a:ext cx="1929536" cy="1085353"/>
          </a:xfrm>
          <a:prstGeom prst="rect">
            <a:avLst/>
          </a:prstGeom>
          <a:noFill/>
          <a:ln>
            <a:noFill/>
          </a:ln>
        </p:spPr>
      </p:pic>
      <p:pic>
        <p:nvPicPr>
          <p:cNvPr id="64" name="Google Shape;64;p13"/>
          <p:cNvPicPr preferRelativeResize="0"/>
          <p:nvPr/>
        </p:nvPicPr>
        <p:blipFill>
          <a:blip r:embed="rId12">
            <a:alphaModFix/>
          </a:blip>
          <a:stretch>
            <a:fillRect/>
          </a:stretch>
        </p:blipFill>
        <p:spPr>
          <a:xfrm>
            <a:off x="6364236" y="3041325"/>
            <a:ext cx="1929536" cy="1085360"/>
          </a:xfrm>
          <a:prstGeom prst="rect">
            <a:avLst/>
          </a:prstGeom>
          <a:noFill/>
          <a:ln>
            <a:noFill/>
          </a:ln>
        </p:spPr>
      </p:pic>
      <p:pic>
        <p:nvPicPr>
          <p:cNvPr id="65" name="Google Shape;65;p13"/>
          <p:cNvPicPr preferRelativeResize="0"/>
          <p:nvPr/>
        </p:nvPicPr>
        <p:blipFill>
          <a:blip r:embed="rId13">
            <a:alphaModFix/>
          </a:blip>
          <a:stretch>
            <a:fillRect/>
          </a:stretch>
        </p:blipFill>
        <p:spPr>
          <a:xfrm>
            <a:off x="8775501" y="1801758"/>
            <a:ext cx="1929540" cy="1085367"/>
          </a:xfrm>
          <a:prstGeom prst="rect">
            <a:avLst/>
          </a:prstGeom>
          <a:noFill/>
          <a:ln>
            <a:noFill/>
          </a:ln>
        </p:spPr>
      </p:pic>
      <p:pic>
        <p:nvPicPr>
          <p:cNvPr id="66" name="Google Shape;66;p13"/>
          <p:cNvPicPr preferRelativeResize="0"/>
          <p:nvPr/>
        </p:nvPicPr>
        <p:blipFill>
          <a:blip r:embed="rId14">
            <a:alphaModFix/>
          </a:blip>
          <a:stretch>
            <a:fillRect/>
          </a:stretch>
        </p:blipFill>
        <p:spPr>
          <a:xfrm>
            <a:off x="8775500" y="3041341"/>
            <a:ext cx="1929536" cy="1085347"/>
          </a:xfrm>
          <a:prstGeom prst="rect">
            <a:avLst/>
          </a:prstGeom>
          <a:noFill/>
          <a:ln>
            <a:noFill/>
          </a:ln>
        </p:spPr>
      </p:pic>
      <p:pic>
        <p:nvPicPr>
          <p:cNvPr id="67" name="Google Shape;67;p13"/>
          <p:cNvPicPr preferRelativeResize="0"/>
          <p:nvPr/>
        </p:nvPicPr>
        <p:blipFill>
          <a:blip r:embed="rId15">
            <a:alphaModFix/>
          </a:blip>
          <a:stretch>
            <a:fillRect/>
          </a:stretch>
        </p:blipFill>
        <p:spPr>
          <a:xfrm>
            <a:off x="6397933" y="4350810"/>
            <a:ext cx="1862131" cy="1047452"/>
          </a:xfrm>
          <a:prstGeom prst="rect">
            <a:avLst/>
          </a:prstGeom>
          <a:noFill/>
          <a:ln>
            <a:noFill/>
          </a:ln>
        </p:spPr>
      </p:pic>
      <p:pic>
        <p:nvPicPr>
          <p:cNvPr id="68" name="Google Shape;68;p13"/>
          <p:cNvPicPr preferRelativeResize="0"/>
          <p:nvPr/>
        </p:nvPicPr>
        <p:blipFill>
          <a:blip r:embed="rId16">
            <a:alphaModFix/>
          </a:blip>
          <a:stretch>
            <a:fillRect/>
          </a:stretch>
        </p:blipFill>
        <p:spPr>
          <a:xfrm>
            <a:off x="8775500" y="4341382"/>
            <a:ext cx="1929536" cy="1085357"/>
          </a:xfrm>
          <a:prstGeom prst="rect">
            <a:avLst/>
          </a:prstGeom>
          <a:noFill/>
          <a:ln>
            <a:noFill/>
          </a:ln>
        </p:spPr>
      </p:pic>
      <p:pic>
        <p:nvPicPr>
          <p:cNvPr id="69" name="Google Shape;69;p13"/>
          <p:cNvPicPr preferRelativeResize="0"/>
          <p:nvPr/>
        </p:nvPicPr>
        <p:blipFill>
          <a:blip r:embed="rId17">
            <a:alphaModFix/>
          </a:blip>
          <a:stretch>
            <a:fillRect/>
          </a:stretch>
        </p:blipFill>
        <p:spPr>
          <a:xfrm>
            <a:off x="6397933" y="5641348"/>
            <a:ext cx="1862131" cy="1047460"/>
          </a:xfrm>
          <a:prstGeom prst="rect">
            <a:avLst/>
          </a:prstGeom>
          <a:noFill/>
          <a:ln>
            <a:noFill/>
          </a:ln>
        </p:spPr>
      </p:pic>
      <p:pic>
        <p:nvPicPr>
          <p:cNvPr id="70" name="Google Shape;70;p13"/>
          <p:cNvPicPr preferRelativeResize="0"/>
          <p:nvPr/>
        </p:nvPicPr>
        <p:blipFill>
          <a:blip r:embed="rId18">
            <a:alphaModFix/>
          </a:blip>
          <a:stretch>
            <a:fillRect/>
          </a:stretch>
        </p:blipFill>
        <p:spPr>
          <a:xfrm>
            <a:off x="8775499" y="5622392"/>
            <a:ext cx="1862087" cy="1047435"/>
          </a:xfrm>
          <a:prstGeom prst="rect">
            <a:avLst/>
          </a:prstGeom>
          <a:noFill/>
          <a:ln>
            <a:noFill/>
          </a:ln>
        </p:spPr>
      </p:pic>
      <p:pic>
        <p:nvPicPr>
          <p:cNvPr id="3" name="Picture 2" descr="A black text on a white background&#10;&#10;Description automatically generated">
            <a:extLst>
              <a:ext uri="{FF2B5EF4-FFF2-40B4-BE49-F238E27FC236}">
                <a16:creationId xmlns:a16="http://schemas.microsoft.com/office/drawing/2014/main" id="{C604A4C3-4A23-DF96-C756-26CFC26EDDDA}"/>
              </a:ext>
            </a:extLst>
          </p:cNvPr>
          <p:cNvPicPr>
            <a:picLocks noChangeAspect="1"/>
          </p:cNvPicPr>
          <p:nvPr/>
        </p:nvPicPr>
        <p:blipFill>
          <a:blip r:embed="rId19"/>
          <a:stretch>
            <a:fillRect/>
          </a:stretch>
        </p:blipFill>
        <p:spPr>
          <a:xfrm>
            <a:off x="145654" y="129964"/>
            <a:ext cx="3956748" cy="581538"/>
          </a:xfrm>
          <a:prstGeom prst="rect">
            <a:avLst/>
          </a:prstGeom>
        </p:spPr>
      </p:pic>
    </p:spTree>
    <p:extLst>
      <p:ext uri="{BB962C8B-B14F-4D97-AF65-F5344CB8AC3E}">
        <p14:creationId xmlns:p14="http://schemas.microsoft.com/office/powerpoint/2010/main" val="1502477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graphicFrame>
        <p:nvGraphicFramePr>
          <p:cNvPr id="75" name="Google Shape;75;p14"/>
          <p:cNvGraphicFramePr/>
          <p:nvPr>
            <p:extLst>
              <p:ext uri="{D42A27DB-BD31-4B8C-83A1-F6EECF244321}">
                <p14:modId xmlns:p14="http://schemas.microsoft.com/office/powerpoint/2010/main" val="4205104875"/>
              </p:ext>
            </p:extLst>
          </p:nvPr>
        </p:nvGraphicFramePr>
        <p:xfrm>
          <a:off x="1270000" y="323885"/>
          <a:ext cx="9760000" cy="5798539"/>
        </p:xfrm>
        <a:graphic>
          <a:graphicData uri="http://schemas.openxmlformats.org/drawingml/2006/table">
            <a:tbl>
              <a:tblPr>
                <a:noFill/>
              </a:tblPr>
              <a:tblGrid>
                <a:gridCol w="2440000">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2440000">
                  <a:extLst>
                    <a:ext uri="{9D8B030D-6E8A-4147-A177-3AD203B41FA5}">
                      <a16:colId xmlns:a16="http://schemas.microsoft.com/office/drawing/2014/main" val="20002"/>
                    </a:ext>
                  </a:extLst>
                </a:gridCol>
                <a:gridCol w="2440000">
                  <a:extLst>
                    <a:ext uri="{9D8B030D-6E8A-4147-A177-3AD203B41FA5}">
                      <a16:colId xmlns:a16="http://schemas.microsoft.com/office/drawing/2014/main" val="20003"/>
                    </a:ext>
                  </a:extLst>
                </a:gridCol>
              </a:tblGrid>
              <a:tr h="568920">
                <a:tc gridSpan="4">
                  <a:txBody>
                    <a:bodyPr/>
                    <a:lstStyle/>
                    <a:p>
                      <a:pPr marL="0" lvl="0" indent="0" algn="ctr" rtl="0">
                        <a:spcBef>
                          <a:spcPts val="0"/>
                        </a:spcBef>
                        <a:spcAft>
                          <a:spcPts val="0"/>
                        </a:spcAft>
                        <a:buNone/>
                      </a:pPr>
                      <a:r>
                        <a:rPr lang="en" sz="2100" b="1" dirty="0">
                          <a:latin typeface="Times New Roman"/>
                          <a:ea typeface="Times New Roman"/>
                          <a:cs typeface="Times New Roman"/>
                          <a:sym typeface="Times New Roman"/>
                        </a:rPr>
                        <a:t>Results of CycleGAN</a:t>
                      </a:r>
                      <a:endParaRPr sz="2100" b="1" dirty="0">
                        <a:latin typeface="Times New Roman"/>
                        <a:ea typeface="Times New Roman"/>
                        <a:cs typeface="Times New Roman"/>
                        <a:sym typeface="Times New Roman"/>
                      </a:endParaRPr>
                    </a:p>
                  </a:txBody>
                  <a:tcPr marL="121900" marR="121900" marT="121900" marB="12190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68920">
                <a:tc gridSpan="4">
                  <a:txBody>
                    <a:bodyPr/>
                    <a:lstStyle/>
                    <a:p>
                      <a:pPr marL="0" lvl="0" indent="0" algn="ctr" rtl="0">
                        <a:spcBef>
                          <a:spcPts val="0"/>
                        </a:spcBef>
                        <a:spcAft>
                          <a:spcPts val="0"/>
                        </a:spcAft>
                        <a:buNone/>
                      </a:pPr>
                      <a:r>
                        <a:rPr lang="en" sz="2100" b="1" dirty="0">
                          <a:latin typeface="Times New Roman"/>
                          <a:ea typeface="Times New Roman"/>
                          <a:cs typeface="Times New Roman"/>
                          <a:sym typeface="Times New Roman"/>
                        </a:rPr>
                        <a:t>Class A to Class B (Success)</a:t>
                      </a:r>
                      <a:endParaRPr sz="2100" b="1" dirty="0">
                        <a:latin typeface="Times New Roman"/>
                        <a:ea typeface="Times New Roman"/>
                        <a:cs typeface="Times New Roman"/>
                        <a:sym typeface="Times New Roman"/>
                      </a:endParaRPr>
                    </a:p>
                  </a:txBody>
                  <a:tcPr marL="121900" marR="121900" marT="121900" marB="12190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587433">
                <a:tc gridSpan="2">
                  <a:txBody>
                    <a:bodyPr/>
                    <a:lstStyle/>
                    <a:p>
                      <a:pPr marL="0" lvl="0" indent="0" algn="ctr" rtl="0">
                        <a:spcBef>
                          <a:spcPts val="0"/>
                        </a:spcBef>
                        <a:spcAft>
                          <a:spcPts val="0"/>
                        </a:spcAft>
                        <a:buNone/>
                      </a:pPr>
                      <a:endParaRPr sz="2400"/>
                    </a:p>
                  </a:txBody>
                  <a:tcPr marL="121900" marR="121900" marT="121900" marB="121900"/>
                </a:tc>
                <a:tc hMerge="1">
                  <a:txBody>
                    <a:bodyPr/>
                    <a:lstStyle/>
                    <a:p>
                      <a:endParaRPr lang="en-US"/>
                    </a:p>
                  </a:txBody>
                  <a:tcPr/>
                </a:tc>
                <a:tc gridSpan="2">
                  <a:txBody>
                    <a:bodyPr/>
                    <a:lstStyle/>
                    <a:p>
                      <a:pPr marL="0" lvl="0" indent="0" algn="ctr" rtl="0">
                        <a:spcBef>
                          <a:spcPts val="0"/>
                        </a:spcBef>
                        <a:spcAft>
                          <a:spcPts val="0"/>
                        </a:spcAft>
                        <a:buNone/>
                      </a:pPr>
                      <a:endParaRPr sz="2400"/>
                    </a:p>
                  </a:txBody>
                  <a:tcPr marL="121900" marR="121900" marT="121900" marB="121900"/>
                </a:tc>
                <a:tc hMerge="1">
                  <a:txBody>
                    <a:bodyPr/>
                    <a:lstStyle/>
                    <a:p>
                      <a:endParaRPr lang="en-US"/>
                    </a:p>
                  </a:txBody>
                  <a:tcPr/>
                </a:tc>
                <a:extLst>
                  <a:ext uri="{0D108BD9-81ED-4DB2-BD59-A6C34878D82A}">
                    <a16:rowId xmlns:a16="http://schemas.microsoft.com/office/drawing/2014/main" val="10002"/>
                  </a:ext>
                </a:extLst>
              </a:tr>
              <a:tr h="1587433">
                <a:tc gridSpan="2">
                  <a:txBody>
                    <a:bodyPr/>
                    <a:lstStyle/>
                    <a:p>
                      <a:pPr marL="0" lvl="0" indent="0" algn="ctr" rtl="0">
                        <a:spcBef>
                          <a:spcPts val="0"/>
                        </a:spcBef>
                        <a:spcAft>
                          <a:spcPts val="0"/>
                        </a:spcAft>
                        <a:buNone/>
                      </a:pPr>
                      <a:endParaRPr sz="2400"/>
                    </a:p>
                  </a:txBody>
                  <a:tcPr marL="121900" marR="121900" marT="121900" marB="121900"/>
                </a:tc>
                <a:tc hMerge="1">
                  <a:txBody>
                    <a:bodyPr/>
                    <a:lstStyle/>
                    <a:p>
                      <a:endParaRPr lang="en-US"/>
                    </a:p>
                  </a:txBody>
                  <a:tcPr/>
                </a:tc>
                <a:tc gridSpan="2">
                  <a:txBody>
                    <a:bodyPr/>
                    <a:lstStyle/>
                    <a:p>
                      <a:pPr marL="0" lvl="0" indent="0" algn="ctr" rtl="0">
                        <a:spcBef>
                          <a:spcPts val="0"/>
                        </a:spcBef>
                        <a:spcAft>
                          <a:spcPts val="0"/>
                        </a:spcAft>
                        <a:buNone/>
                      </a:pPr>
                      <a:endParaRPr sz="2400"/>
                    </a:p>
                  </a:txBody>
                  <a:tcPr marL="121900" marR="121900" marT="121900" marB="121900"/>
                </a:tc>
                <a:tc hMerge="1">
                  <a:txBody>
                    <a:bodyPr/>
                    <a:lstStyle/>
                    <a:p>
                      <a:endParaRPr lang="en-US"/>
                    </a:p>
                  </a:txBody>
                  <a:tcPr/>
                </a:tc>
                <a:extLst>
                  <a:ext uri="{0D108BD9-81ED-4DB2-BD59-A6C34878D82A}">
                    <a16:rowId xmlns:a16="http://schemas.microsoft.com/office/drawing/2014/main" val="10003"/>
                  </a:ext>
                </a:extLst>
              </a:tr>
              <a:tr h="1485833">
                <a:tc gridSpan="2">
                  <a:txBody>
                    <a:bodyPr/>
                    <a:lstStyle/>
                    <a:p>
                      <a:pPr marL="0" lvl="0" indent="0" algn="ctr" rtl="0">
                        <a:spcBef>
                          <a:spcPts val="0"/>
                        </a:spcBef>
                        <a:spcAft>
                          <a:spcPts val="0"/>
                        </a:spcAft>
                        <a:buNone/>
                      </a:pPr>
                      <a:endParaRPr sz="2400"/>
                    </a:p>
                  </a:txBody>
                  <a:tcPr marL="121900" marR="121900" marT="121900" marB="121900"/>
                </a:tc>
                <a:tc hMerge="1">
                  <a:txBody>
                    <a:bodyPr/>
                    <a:lstStyle/>
                    <a:p>
                      <a:endParaRPr lang="en-US"/>
                    </a:p>
                  </a:txBody>
                  <a:tcPr/>
                </a:tc>
                <a:tc gridSpan="2">
                  <a:txBody>
                    <a:bodyPr/>
                    <a:lstStyle/>
                    <a:p>
                      <a:pPr marL="0" lvl="0" indent="0" algn="ctr" rtl="0">
                        <a:spcBef>
                          <a:spcPts val="0"/>
                        </a:spcBef>
                        <a:spcAft>
                          <a:spcPts val="0"/>
                        </a:spcAft>
                        <a:buNone/>
                      </a:pPr>
                      <a:endParaRPr sz="2400" dirty="0"/>
                    </a:p>
                  </a:txBody>
                  <a:tcPr marL="121900" marR="121900" marT="121900" marB="121900"/>
                </a:tc>
                <a:tc hMerge="1">
                  <a:txBody>
                    <a:bodyPr/>
                    <a:lstStyle/>
                    <a:p>
                      <a:endParaRPr lang="en-US"/>
                    </a:p>
                  </a:txBody>
                  <a:tcPr/>
                </a:tc>
                <a:extLst>
                  <a:ext uri="{0D108BD9-81ED-4DB2-BD59-A6C34878D82A}">
                    <a16:rowId xmlns:a16="http://schemas.microsoft.com/office/drawing/2014/main" val="10004"/>
                  </a:ext>
                </a:extLst>
              </a:tr>
            </a:tbl>
          </a:graphicData>
        </a:graphic>
      </p:graphicFrame>
      <p:pic>
        <p:nvPicPr>
          <p:cNvPr id="76" name="Google Shape;76;p14"/>
          <p:cNvPicPr preferRelativeResize="0"/>
          <p:nvPr/>
        </p:nvPicPr>
        <p:blipFill>
          <a:blip r:embed="rId3">
            <a:alphaModFix/>
          </a:blip>
          <a:stretch>
            <a:fillRect/>
          </a:stretch>
        </p:blipFill>
        <p:spPr>
          <a:xfrm>
            <a:off x="1673401" y="2051726"/>
            <a:ext cx="4122265" cy="1374100"/>
          </a:xfrm>
          <a:prstGeom prst="rect">
            <a:avLst/>
          </a:prstGeom>
          <a:noFill/>
          <a:ln>
            <a:noFill/>
          </a:ln>
        </p:spPr>
      </p:pic>
      <p:pic>
        <p:nvPicPr>
          <p:cNvPr id="77" name="Google Shape;77;p14"/>
          <p:cNvPicPr preferRelativeResize="0"/>
          <p:nvPr/>
        </p:nvPicPr>
        <p:blipFill>
          <a:blip r:embed="rId4">
            <a:alphaModFix/>
          </a:blip>
          <a:stretch>
            <a:fillRect/>
          </a:stretch>
        </p:blipFill>
        <p:spPr>
          <a:xfrm>
            <a:off x="6524801" y="1985051"/>
            <a:ext cx="4122257" cy="1374100"/>
          </a:xfrm>
          <a:prstGeom prst="rect">
            <a:avLst/>
          </a:prstGeom>
          <a:noFill/>
          <a:ln>
            <a:noFill/>
          </a:ln>
        </p:spPr>
      </p:pic>
      <p:pic>
        <p:nvPicPr>
          <p:cNvPr id="78" name="Google Shape;78;p14"/>
          <p:cNvPicPr preferRelativeResize="0"/>
          <p:nvPr/>
        </p:nvPicPr>
        <p:blipFill>
          <a:blip r:embed="rId5">
            <a:alphaModFix/>
          </a:blip>
          <a:stretch>
            <a:fillRect/>
          </a:stretch>
        </p:blipFill>
        <p:spPr>
          <a:xfrm>
            <a:off x="1597201" y="3604300"/>
            <a:ext cx="4122265" cy="1374088"/>
          </a:xfrm>
          <a:prstGeom prst="rect">
            <a:avLst/>
          </a:prstGeom>
          <a:noFill/>
          <a:ln>
            <a:noFill/>
          </a:ln>
        </p:spPr>
      </p:pic>
      <p:pic>
        <p:nvPicPr>
          <p:cNvPr id="79" name="Google Shape;79;p14"/>
          <p:cNvPicPr preferRelativeResize="0"/>
          <p:nvPr/>
        </p:nvPicPr>
        <p:blipFill>
          <a:blip r:embed="rId6">
            <a:alphaModFix/>
          </a:blip>
          <a:stretch>
            <a:fillRect/>
          </a:stretch>
        </p:blipFill>
        <p:spPr>
          <a:xfrm>
            <a:off x="6524801" y="3642401"/>
            <a:ext cx="4122257" cy="1374100"/>
          </a:xfrm>
          <a:prstGeom prst="rect">
            <a:avLst/>
          </a:prstGeom>
          <a:noFill/>
          <a:ln>
            <a:noFill/>
          </a:ln>
        </p:spPr>
      </p:pic>
      <p:pic>
        <p:nvPicPr>
          <p:cNvPr id="80" name="Google Shape;80;p14"/>
          <p:cNvPicPr preferRelativeResize="0"/>
          <p:nvPr/>
        </p:nvPicPr>
        <p:blipFill>
          <a:blip r:embed="rId7">
            <a:alphaModFix/>
          </a:blip>
          <a:stretch>
            <a:fillRect/>
          </a:stretch>
        </p:blipFill>
        <p:spPr>
          <a:xfrm>
            <a:off x="1568659" y="5209875"/>
            <a:ext cx="4122199" cy="1374067"/>
          </a:xfrm>
          <a:prstGeom prst="rect">
            <a:avLst/>
          </a:prstGeom>
          <a:noFill/>
          <a:ln>
            <a:noFill/>
          </a:ln>
        </p:spPr>
      </p:pic>
      <p:pic>
        <p:nvPicPr>
          <p:cNvPr id="81" name="Google Shape;81;p14"/>
          <p:cNvPicPr preferRelativeResize="0"/>
          <p:nvPr/>
        </p:nvPicPr>
        <p:blipFill>
          <a:blip r:embed="rId8">
            <a:alphaModFix/>
          </a:blip>
          <a:stretch>
            <a:fillRect/>
          </a:stretch>
        </p:blipFill>
        <p:spPr>
          <a:xfrm>
            <a:off x="6524784" y="5209860"/>
            <a:ext cx="4122299" cy="1374100"/>
          </a:xfrm>
          <a:prstGeom prst="rect">
            <a:avLst/>
          </a:prstGeom>
          <a:noFill/>
          <a:ln>
            <a:noFill/>
          </a:ln>
        </p:spPr>
      </p:pic>
      <p:sp>
        <p:nvSpPr>
          <p:cNvPr id="82" name="Google Shape;82;p14"/>
          <p:cNvSpPr txBox="1"/>
          <p:nvPr/>
        </p:nvSpPr>
        <p:spPr>
          <a:xfrm>
            <a:off x="1673225" y="2844801"/>
            <a:ext cx="1270000" cy="553957"/>
          </a:xfrm>
          <a:prstGeom prst="rect">
            <a:avLst/>
          </a:prstGeom>
          <a:noFill/>
          <a:ln>
            <a:noFill/>
          </a:ln>
        </p:spPr>
        <p:txBody>
          <a:bodyPr spcFirstLastPara="1" wrap="square" lIns="121900" tIns="121900" rIns="121900" bIns="121900" anchor="t" anchorCtr="0">
            <a:spAutoFit/>
          </a:bodyPr>
          <a:lstStyle/>
          <a:p>
            <a:r>
              <a:rPr lang="en" sz="2000" dirty="0"/>
              <a:t>reference</a:t>
            </a:r>
            <a:endParaRPr sz="2000" dirty="0"/>
          </a:p>
        </p:txBody>
      </p:sp>
      <p:sp>
        <p:nvSpPr>
          <p:cNvPr id="83" name="Google Shape;83;p14"/>
          <p:cNvSpPr txBox="1"/>
          <p:nvPr/>
        </p:nvSpPr>
        <p:spPr>
          <a:xfrm>
            <a:off x="3045508" y="2816226"/>
            <a:ext cx="1435200" cy="553957"/>
          </a:xfrm>
          <a:prstGeom prst="rect">
            <a:avLst/>
          </a:prstGeom>
          <a:noFill/>
          <a:ln>
            <a:noFill/>
          </a:ln>
        </p:spPr>
        <p:txBody>
          <a:bodyPr spcFirstLastPara="1" wrap="square" lIns="121900" tIns="121900" rIns="121900" bIns="121900" anchor="t" anchorCtr="0">
            <a:spAutoFit/>
          </a:bodyPr>
          <a:lstStyle/>
          <a:p>
            <a:r>
              <a:rPr lang="en" sz="2000" dirty="0"/>
              <a:t>generated</a:t>
            </a:r>
            <a:endParaRPr lang="en-US" sz="2000">
              <a:ea typeface="Calibri"/>
              <a:cs typeface="Calibri"/>
            </a:endParaRPr>
          </a:p>
        </p:txBody>
      </p:sp>
      <p:pic>
        <p:nvPicPr>
          <p:cNvPr id="3" name="Picture 2" descr="A black text on a white background&#10;&#10;Description automatically generated">
            <a:extLst>
              <a:ext uri="{FF2B5EF4-FFF2-40B4-BE49-F238E27FC236}">
                <a16:creationId xmlns:a16="http://schemas.microsoft.com/office/drawing/2014/main" id="{D487ED43-6754-B7A2-00AF-5CA51813FB57}"/>
              </a:ext>
            </a:extLst>
          </p:cNvPr>
          <p:cNvPicPr>
            <a:picLocks noChangeAspect="1"/>
          </p:cNvPicPr>
          <p:nvPr/>
        </p:nvPicPr>
        <p:blipFill>
          <a:blip r:embed="rId9"/>
          <a:stretch>
            <a:fillRect/>
          </a:stretch>
        </p:blipFill>
        <p:spPr>
          <a:xfrm>
            <a:off x="145654" y="129964"/>
            <a:ext cx="3956748" cy="581538"/>
          </a:xfrm>
          <a:prstGeom prst="rect">
            <a:avLst/>
          </a:prstGeom>
        </p:spPr>
      </p:pic>
    </p:spTree>
    <p:extLst>
      <p:ext uri="{BB962C8B-B14F-4D97-AF65-F5344CB8AC3E}">
        <p14:creationId xmlns:p14="http://schemas.microsoft.com/office/powerpoint/2010/main" val="3288142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5"/>
          <p:cNvGraphicFramePr/>
          <p:nvPr/>
        </p:nvGraphicFramePr>
        <p:xfrm>
          <a:off x="1270000" y="323884"/>
          <a:ext cx="9760000" cy="5034046"/>
        </p:xfrm>
        <a:graphic>
          <a:graphicData uri="http://schemas.openxmlformats.org/drawingml/2006/table">
            <a:tbl>
              <a:tblPr>
                <a:noFill/>
              </a:tblPr>
              <a:tblGrid>
                <a:gridCol w="2440000">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2440000">
                  <a:extLst>
                    <a:ext uri="{9D8B030D-6E8A-4147-A177-3AD203B41FA5}">
                      <a16:colId xmlns:a16="http://schemas.microsoft.com/office/drawing/2014/main" val="20002"/>
                    </a:ext>
                  </a:extLst>
                </a:gridCol>
                <a:gridCol w="2440000">
                  <a:extLst>
                    <a:ext uri="{9D8B030D-6E8A-4147-A177-3AD203B41FA5}">
                      <a16:colId xmlns:a16="http://schemas.microsoft.com/office/drawing/2014/main" val="20003"/>
                    </a:ext>
                  </a:extLst>
                </a:gridCol>
              </a:tblGrid>
              <a:tr h="513508">
                <a:tc gridSpan="4">
                  <a:txBody>
                    <a:bodyPr/>
                    <a:lstStyle/>
                    <a:p>
                      <a:pPr marL="0" lvl="0" indent="0" algn="ctr" rtl="0">
                        <a:spcBef>
                          <a:spcPts val="0"/>
                        </a:spcBef>
                        <a:spcAft>
                          <a:spcPts val="0"/>
                        </a:spcAft>
                        <a:buNone/>
                      </a:pPr>
                      <a:r>
                        <a:rPr lang="en" sz="2100" b="1">
                          <a:latin typeface="Times New Roman"/>
                          <a:ea typeface="Times New Roman"/>
                          <a:cs typeface="Times New Roman"/>
                          <a:sym typeface="Times New Roman"/>
                        </a:rPr>
                        <a:t>Results of CycleGAN</a:t>
                      </a:r>
                      <a:endParaRPr sz="2100" b="1">
                        <a:latin typeface="Times New Roman"/>
                        <a:ea typeface="Times New Roman"/>
                        <a:cs typeface="Times New Roman"/>
                        <a:sym typeface="Times New Roman"/>
                      </a:endParaRPr>
                    </a:p>
                  </a:txBody>
                  <a:tcPr marL="121900" marR="121900" marT="121900" marB="12190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3508">
                <a:tc gridSpan="4">
                  <a:txBody>
                    <a:bodyPr/>
                    <a:lstStyle/>
                    <a:p>
                      <a:pPr marL="0" lvl="0" indent="0" algn="ctr" rtl="0">
                        <a:spcBef>
                          <a:spcPts val="0"/>
                        </a:spcBef>
                        <a:spcAft>
                          <a:spcPts val="0"/>
                        </a:spcAft>
                        <a:buNone/>
                      </a:pPr>
                      <a:r>
                        <a:rPr lang="en" sz="2100" b="1">
                          <a:latin typeface="Times New Roman"/>
                          <a:ea typeface="Times New Roman"/>
                          <a:cs typeface="Times New Roman"/>
                          <a:sym typeface="Times New Roman"/>
                        </a:rPr>
                        <a:t>Class A to Class B (Failures)</a:t>
                      </a:r>
                      <a:endParaRPr sz="2100" b="1">
                        <a:latin typeface="Times New Roman"/>
                        <a:ea typeface="Times New Roman"/>
                        <a:cs typeface="Times New Roman"/>
                        <a:sym typeface="Times New Roman"/>
                      </a:endParaRPr>
                    </a:p>
                  </a:txBody>
                  <a:tcPr marL="121900" marR="121900" marT="121900" marB="12190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705497">
                <a:tc gridSpan="2">
                  <a:txBody>
                    <a:bodyPr/>
                    <a:lstStyle/>
                    <a:p>
                      <a:pPr marL="0" lvl="0" indent="0" algn="ctr" rtl="0">
                        <a:spcBef>
                          <a:spcPts val="0"/>
                        </a:spcBef>
                        <a:spcAft>
                          <a:spcPts val="0"/>
                        </a:spcAft>
                        <a:buNone/>
                      </a:pPr>
                      <a:endParaRPr sz="2400"/>
                    </a:p>
                  </a:txBody>
                  <a:tcPr marL="121900" marR="121900" marT="121900" marB="121900"/>
                </a:tc>
                <a:tc hMerge="1">
                  <a:txBody>
                    <a:bodyPr/>
                    <a:lstStyle/>
                    <a:p>
                      <a:endParaRPr lang="en-US"/>
                    </a:p>
                  </a:txBody>
                  <a:tcPr/>
                </a:tc>
                <a:tc gridSpan="2">
                  <a:txBody>
                    <a:bodyPr/>
                    <a:lstStyle/>
                    <a:p>
                      <a:pPr marL="0" lvl="0" indent="0" algn="ctr" rtl="0">
                        <a:spcBef>
                          <a:spcPts val="0"/>
                        </a:spcBef>
                        <a:spcAft>
                          <a:spcPts val="0"/>
                        </a:spcAft>
                        <a:buNone/>
                      </a:pPr>
                      <a:endParaRPr sz="2400"/>
                    </a:p>
                  </a:txBody>
                  <a:tcPr marL="121900" marR="121900" marT="121900" marB="121900"/>
                </a:tc>
                <a:tc hMerge="1">
                  <a:txBody>
                    <a:bodyPr/>
                    <a:lstStyle/>
                    <a:p>
                      <a:endParaRPr lang="en-US"/>
                    </a:p>
                  </a:txBody>
                  <a:tcPr/>
                </a:tc>
                <a:extLst>
                  <a:ext uri="{0D108BD9-81ED-4DB2-BD59-A6C34878D82A}">
                    <a16:rowId xmlns:a16="http://schemas.microsoft.com/office/drawing/2014/main" val="10002"/>
                  </a:ext>
                </a:extLst>
              </a:tr>
              <a:tr h="2200869">
                <a:tc gridSpan="4">
                  <a:txBody>
                    <a:bodyPr/>
                    <a:lstStyle/>
                    <a:p>
                      <a:pPr marL="0" lvl="0" indent="0" algn="ctr" rtl="0">
                        <a:spcBef>
                          <a:spcPts val="0"/>
                        </a:spcBef>
                        <a:spcAft>
                          <a:spcPts val="0"/>
                        </a:spcAft>
                        <a:buNone/>
                      </a:pPr>
                      <a:r>
                        <a:rPr lang="en" sz="2000" dirty="0">
                          <a:latin typeface="Times New Roman"/>
                          <a:ea typeface="Times New Roman"/>
                          <a:cs typeface="Times New Roman"/>
                          <a:sym typeface="Times New Roman"/>
                        </a:rPr>
                        <a:t>The model seems to not work properly with white background where there is not sufficient contrast  between the 3D specimen and the background (left) and in environments with high light intensities causing the objects to have a shiny surface while capturing images, due to which the model is not able replicate the expected texture and color for the generated object even though the generated shape matches (right).</a:t>
                      </a:r>
                      <a:endParaRPr sz="2000" dirty="0">
                        <a:latin typeface="Times New Roman"/>
                        <a:ea typeface="Times New Roman"/>
                        <a:cs typeface="Times New Roman"/>
                        <a:sym typeface="Times New Roman"/>
                      </a:endParaRPr>
                    </a:p>
                  </a:txBody>
                  <a:tcPr marL="121900" marR="121900" marT="121900" marB="12190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pic>
        <p:nvPicPr>
          <p:cNvPr id="89" name="Google Shape;89;p15"/>
          <p:cNvPicPr preferRelativeResize="0"/>
          <p:nvPr/>
        </p:nvPicPr>
        <p:blipFill>
          <a:blip r:embed="rId3">
            <a:alphaModFix/>
          </a:blip>
          <a:stretch>
            <a:fillRect/>
          </a:stretch>
        </p:blipFill>
        <p:spPr>
          <a:xfrm>
            <a:off x="1346201" y="1991242"/>
            <a:ext cx="4749801" cy="1583267"/>
          </a:xfrm>
          <a:prstGeom prst="rect">
            <a:avLst/>
          </a:prstGeom>
          <a:noFill/>
          <a:ln>
            <a:noFill/>
          </a:ln>
        </p:spPr>
      </p:pic>
      <p:pic>
        <p:nvPicPr>
          <p:cNvPr id="90" name="Google Shape;90;p15"/>
          <p:cNvPicPr preferRelativeResize="0"/>
          <p:nvPr/>
        </p:nvPicPr>
        <p:blipFill>
          <a:blip r:embed="rId4">
            <a:alphaModFix/>
          </a:blip>
          <a:stretch>
            <a:fillRect/>
          </a:stretch>
        </p:blipFill>
        <p:spPr>
          <a:xfrm>
            <a:off x="6232550" y="1991258"/>
            <a:ext cx="4749801" cy="1583267"/>
          </a:xfrm>
          <a:prstGeom prst="rect">
            <a:avLst/>
          </a:prstGeom>
          <a:noFill/>
          <a:ln>
            <a:noFill/>
          </a:ln>
        </p:spPr>
      </p:pic>
      <p:sp>
        <p:nvSpPr>
          <p:cNvPr id="91" name="Google Shape;91;p15"/>
          <p:cNvSpPr txBox="1"/>
          <p:nvPr/>
        </p:nvSpPr>
        <p:spPr>
          <a:xfrm>
            <a:off x="1346201" y="1483017"/>
            <a:ext cx="1759814" cy="615513"/>
          </a:xfrm>
          <a:prstGeom prst="rect">
            <a:avLst/>
          </a:prstGeom>
          <a:noFill/>
          <a:ln>
            <a:noFill/>
          </a:ln>
        </p:spPr>
        <p:txBody>
          <a:bodyPr spcFirstLastPara="1" wrap="square" lIns="121900" tIns="121900" rIns="121900" bIns="121900" anchor="t" anchorCtr="0">
            <a:spAutoFit/>
          </a:bodyPr>
          <a:lstStyle/>
          <a:p>
            <a:r>
              <a:rPr lang="en" sz="2400" dirty="0"/>
              <a:t>reference</a:t>
            </a:r>
            <a:endParaRPr sz="2400" dirty="0"/>
          </a:p>
        </p:txBody>
      </p:sp>
      <p:sp>
        <p:nvSpPr>
          <p:cNvPr id="92" name="Google Shape;92;p15"/>
          <p:cNvSpPr txBox="1"/>
          <p:nvPr/>
        </p:nvSpPr>
        <p:spPr>
          <a:xfrm>
            <a:off x="2973119" y="1483017"/>
            <a:ext cx="1828777" cy="615513"/>
          </a:xfrm>
          <a:prstGeom prst="rect">
            <a:avLst/>
          </a:prstGeom>
          <a:noFill/>
          <a:ln>
            <a:noFill/>
          </a:ln>
        </p:spPr>
        <p:txBody>
          <a:bodyPr spcFirstLastPara="1" wrap="square" lIns="121900" tIns="121900" rIns="121900" bIns="121900" anchor="t" anchorCtr="0">
            <a:spAutoFit/>
          </a:bodyPr>
          <a:lstStyle/>
          <a:p>
            <a:r>
              <a:rPr lang="en" sz="2400" dirty="0"/>
              <a:t>generated</a:t>
            </a:r>
            <a:endParaRPr sz="2400" dirty="0"/>
          </a:p>
        </p:txBody>
      </p:sp>
      <p:pic>
        <p:nvPicPr>
          <p:cNvPr id="3" name="Picture 2" descr="A black text on a white background&#10;&#10;Description automatically generated">
            <a:extLst>
              <a:ext uri="{FF2B5EF4-FFF2-40B4-BE49-F238E27FC236}">
                <a16:creationId xmlns:a16="http://schemas.microsoft.com/office/drawing/2014/main" id="{41F2671C-2869-5A78-9A24-986A6F56D2B6}"/>
              </a:ext>
            </a:extLst>
          </p:cNvPr>
          <p:cNvPicPr>
            <a:picLocks noChangeAspect="1"/>
          </p:cNvPicPr>
          <p:nvPr/>
        </p:nvPicPr>
        <p:blipFill>
          <a:blip r:embed="rId5"/>
          <a:stretch>
            <a:fillRect/>
          </a:stretch>
        </p:blipFill>
        <p:spPr>
          <a:xfrm>
            <a:off x="117079" y="6121189"/>
            <a:ext cx="3956748" cy="581538"/>
          </a:xfrm>
          <a:prstGeom prst="rect">
            <a:avLst/>
          </a:prstGeom>
        </p:spPr>
      </p:pic>
    </p:spTree>
    <p:extLst>
      <p:ext uri="{BB962C8B-B14F-4D97-AF65-F5344CB8AC3E}">
        <p14:creationId xmlns:p14="http://schemas.microsoft.com/office/powerpoint/2010/main" val="1107772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0AF9-39E4-DBD4-BAEC-4097F2D1C23C}"/>
              </a:ext>
            </a:extLst>
          </p:cNvPr>
          <p:cNvSpPr>
            <a:spLocks noGrp="1"/>
          </p:cNvSpPr>
          <p:nvPr>
            <p:ph type="title"/>
          </p:nvPr>
        </p:nvSpPr>
        <p:spPr>
          <a:xfrm>
            <a:off x="4563750" y="1917806"/>
            <a:ext cx="3064497" cy="1325563"/>
          </a:xfrm>
        </p:spPr>
        <p:txBody>
          <a:bodyPr/>
          <a:lstStyle/>
          <a:p>
            <a:r>
              <a:rPr lang="en-IN" dirty="0"/>
              <a:t>Thank You.</a:t>
            </a:r>
          </a:p>
        </p:txBody>
      </p:sp>
      <p:sp>
        <p:nvSpPr>
          <p:cNvPr id="5" name="TextBox 4">
            <a:extLst>
              <a:ext uri="{FF2B5EF4-FFF2-40B4-BE49-F238E27FC236}">
                <a16:creationId xmlns:a16="http://schemas.microsoft.com/office/drawing/2014/main" id="{604E27F3-ABD1-30EB-E988-A2394B2245C8}"/>
              </a:ext>
            </a:extLst>
          </p:cNvPr>
          <p:cNvSpPr txBox="1"/>
          <p:nvPr/>
        </p:nvSpPr>
        <p:spPr>
          <a:xfrm>
            <a:off x="8335652" y="6077635"/>
            <a:ext cx="6094428" cy="646331"/>
          </a:xfrm>
          <a:prstGeom prst="rect">
            <a:avLst/>
          </a:prstGeom>
          <a:noFill/>
        </p:spPr>
        <p:txBody>
          <a:bodyPr wrap="square">
            <a:spAutoFit/>
          </a:bodyPr>
          <a:lstStyle/>
          <a:p>
            <a:r>
              <a:rPr lang="en-IN" dirty="0">
                <a:latin typeface="Arial" panose="020B0604020202020204" pitchFamily="34" charset="0"/>
                <a:cs typeface="Arial" panose="020B0604020202020204" pitchFamily="34" charset="0"/>
              </a:rPr>
              <a:t>By </a:t>
            </a:r>
            <a:r>
              <a:rPr lang="en-IN" dirty="0" err="1">
                <a:latin typeface="Arial" panose="020B0604020202020204" pitchFamily="34" charset="0"/>
                <a:cs typeface="Arial" panose="020B0604020202020204" pitchFamily="34" charset="0"/>
              </a:rPr>
              <a:t>Gyanig</a:t>
            </a:r>
            <a:r>
              <a:rPr lang="en-IN" dirty="0">
                <a:latin typeface="Arial" panose="020B0604020202020204" pitchFamily="34" charset="0"/>
                <a:cs typeface="Arial" panose="020B0604020202020204" pitchFamily="34" charset="0"/>
              </a:rPr>
              <a:t> Kumar</a:t>
            </a:r>
          </a:p>
          <a:p>
            <a:r>
              <a:rPr lang="en-IN" dirty="0">
                <a:latin typeface="Arial" panose="020B0604020202020204" pitchFamily="34" charset="0"/>
                <a:cs typeface="Arial" panose="020B0604020202020204" pitchFamily="34" charset="0"/>
              </a:rPr>
              <a:t>Research Assistant, I3D Lab, IISc</a:t>
            </a:r>
          </a:p>
        </p:txBody>
      </p:sp>
      <p:pic>
        <p:nvPicPr>
          <p:cNvPr id="15362" name="Picture 2">
            <a:extLst>
              <a:ext uri="{FF2B5EF4-FFF2-40B4-BE49-F238E27FC236}">
                <a16:creationId xmlns:a16="http://schemas.microsoft.com/office/drawing/2014/main" id="{612C33ED-0552-1753-C182-C6B572955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091781"/>
            <a:ext cx="1219200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C0EAFEA-B898-E038-298F-37EC2171A52B}"/>
              </a:ext>
            </a:extLst>
          </p:cNvPr>
          <p:cNvPicPr>
            <a:picLocks noChangeAspect="1"/>
          </p:cNvPicPr>
          <p:nvPr/>
        </p:nvPicPr>
        <p:blipFill>
          <a:blip r:embed="rId3"/>
          <a:stretch>
            <a:fillRect/>
          </a:stretch>
        </p:blipFill>
        <p:spPr>
          <a:xfrm>
            <a:off x="145654" y="129964"/>
            <a:ext cx="3956748" cy="581538"/>
          </a:xfrm>
          <a:prstGeom prst="rect">
            <a:avLst/>
          </a:prstGeom>
        </p:spPr>
      </p:pic>
    </p:spTree>
    <p:extLst>
      <p:ext uri="{BB962C8B-B14F-4D97-AF65-F5344CB8AC3E}">
        <p14:creationId xmlns:p14="http://schemas.microsoft.com/office/powerpoint/2010/main" val="1155377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99ECB-3E46-450A-25DF-AEBB5F8256D6}"/>
              </a:ext>
            </a:extLst>
          </p:cNvPr>
          <p:cNvSpPr>
            <a:spLocks noGrp="1"/>
          </p:cNvSpPr>
          <p:nvPr>
            <p:ph type="title"/>
          </p:nvPr>
        </p:nvSpPr>
        <p:spPr/>
        <p:txBody>
          <a:bodyPr/>
          <a:lstStyle/>
          <a:p>
            <a:r>
              <a:rPr lang="en-US" dirty="0"/>
              <a:t>Generating Random Variables</a:t>
            </a:r>
          </a:p>
        </p:txBody>
      </p:sp>
      <p:graphicFrame>
        <p:nvGraphicFramePr>
          <p:cNvPr id="5" name="Content Placeholder 2">
            <a:extLst>
              <a:ext uri="{FF2B5EF4-FFF2-40B4-BE49-F238E27FC236}">
                <a16:creationId xmlns:a16="http://schemas.microsoft.com/office/drawing/2014/main" id="{AB2E958D-3D8C-76F6-F47D-85F92BE75EE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85054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99ECB-3E46-450A-25DF-AEBB5F8256D6}"/>
              </a:ext>
            </a:extLst>
          </p:cNvPr>
          <p:cNvSpPr>
            <a:spLocks noGrp="1"/>
          </p:cNvSpPr>
          <p:nvPr>
            <p:ph type="title"/>
          </p:nvPr>
        </p:nvSpPr>
        <p:spPr/>
        <p:txBody>
          <a:bodyPr/>
          <a:lstStyle/>
          <a:p>
            <a:r>
              <a:rPr lang="en-US" dirty="0"/>
              <a:t>Generating Random Variables</a:t>
            </a:r>
          </a:p>
        </p:txBody>
      </p:sp>
      <p:graphicFrame>
        <p:nvGraphicFramePr>
          <p:cNvPr id="5" name="Content Placeholder 2">
            <a:extLst>
              <a:ext uri="{FF2B5EF4-FFF2-40B4-BE49-F238E27FC236}">
                <a16:creationId xmlns:a16="http://schemas.microsoft.com/office/drawing/2014/main" id="{C62F2ACB-3D41-91DA-394D-CAB4486790F4}"/>
              </a:ext>
            </a:extLst>
          </p:cNvPr>
          <p:cNvGraphicFramePr>
            <a:graphicFrameLocks noGrp="1"/>
          </p:cNvGraphicFramePr>
          <p:nvPr>
            <p:ph idx="1"/>
            <p:extLst>
              <p:ext uri="{D42A27DB-BD31-4B8C-83A1-F6EECF244321}">
                <p14:modId xmlns:p14="http://schemas.microsoft.com/office/powerpoint/2010/main" val="64362931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0034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599ECB-3E46-450A-25DF-AEBB5F8256D6}"/>
              </a:ext>
            </a:extLst>
          </p:cNvPr>
          <p:cNvSpPr>
            <a:spLocks noGrp="1"/>
          </p:cNvSpPr>
          <p:nvPr>
            <p:ph type="title"/>
          </p:nvPr>
        </p:nvSpPr>
        <p:spPr>
          <a:xfrm>
            <a:off x="838200" y="365125"/>
            <a:ext cx="10515600" cy="1325563"/>
          </a:xfrm>
        </p:spPr>
        <p:txBody>
          <a:bodyPr>
            <a:normAutofit/>
          </a:bodyPr>
          <a:lstStyle/>
          <a:p>
            <a:r>
              <a:rPr lang="en-US" sz="5400"/>
              <a:t>Generating Random Variables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1ABA677-1077-C33F-8A1E-664FC5C3D993}"/>
              </a:ext>
            </a:extLst>
          </p:cNvPr>
          <p:cNvPicPr>
            <a:picLocks noChangeAspect="1"/>
          </p:cNvPicPr>
          <p:nvPr/>
        </p:nvPicPr>
        <p:blipFill>
          <a:blip r:embed="rId2"/>
          <a:stretch>
            <a:fillRect/>
          </a:stretch>
        </p:blipFill>
        <p:spPr>
          <a:xfrm>
            <a:off x="2391130" y="4402753"/>
            <a:ext cx="6727818" cy="2451432"/>
          </a:xfrm>
          <a:prstGeom prst="rect">
            <a:avLst/>
          </a:prstGeom>
        </p:spPr>
      </p:pic>
      <p:sp>
        <p:nvSpPr>
          <p:cNvPr id="3" name="Content Placeholder 2">
            <a:extLst>
              <a:ext uri="{FF2B5EF4-FFF2-40B4-BE49-F238E27FC236}">
                <a16:creationId xmlns:a16="http://schemas.microsoft.com/office/drawing/2014/main" id="{266342FF-9378-DDF9-C91A-C07D00011688}"/>
              </a:ext>
            </a:extLst>
          </p:cNvPr>
          <p:cNvSpPr>
            <a:spLocks noGrp="1"/>
          </p:cNvSpPr>
          <p:nvPr>
            <p:ph idx="1"/>
          </p:nvPr>
        </p:nvSpPr>
        <p:spPr>
          <a:xfrm>
            <a:off x="838200" y="1929384"/>
            <a:ext cx="10515600" cy="4251960"/>
          </a:xfrm>
        </p:spPr>
        <p:txBody>
          <a:bodyPr>
            <a:normAutofit/>
          </a:bodyPr>
          <a:lstStyle/>
          <a:p>
            <a:pPr marL="0" indent="0">
              <a:buNone/>
            </a:pPr>
            <a:r>
              <a:rPr lang="en-US" sz="2200" b="1" dirty="0"/>
              <a:t>inverse transform method</a:t>
            </a:r>
          </a:p>
          <a:p>
            <a:endParaRPr lang="en-US" sz="2200" dirty="0"/>
          </a:p>
          <a:p>
            <a:r>
              <a:rPr lang="en-US" sz="2200" dirty="0"/>
              <a:t>Let X be a complex random variable we want to sample from </a:t>
            </a:r>
          </a:p>
          <a:p>
            <a:r>
              <a:rPr lang="en-US" sz="2200" dirty="0"/>
              <a:t>U be a uniform random variable over [0,1] we know how to sample from</a:t>
            </a:r>
          </a:p>
          <a:p>
            <a:r>
              <a:rPr lang="en-US" sz="2200" dirty="0"/>
              <a:t>a random variable is fully defined by its Cumulative Distribution Function (CDF)</a:t>
            </a:r>
          </a:p>
          <a:p>
            <a:r>
              <a:rPr lang="en-US" sz="2200" dirty="0"/>
              <a:t>CDF of a random variable is a function from the domain of definition of the random variable to the interval [0,1]</a:t>
            </a:r>
          </a:p>
          <a:p>
            <a:pPr marL="0" indent="0">
              <a:buNone/>
            </a:pPr>
            <a:endParaRPr lang="en-US" sz="2200" dirty="0"/>
          </a:p>
        </p:txBody>
      </p:sp>
    </p:spTree>
    <p:extLst>
      <p:ext uri="{BB962C8B-B14F-4D97-AF65-F5344CB8AC3E}">
        <p14:creationId xmlns:p14="http://schemas.microsoft.com/office/powerpoint/2010/main" val="3626740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599ECB-3E46-450A-25DF-AEBB5F8256D6}"/>
              </a:ext>
            </a:extLst>
          </p:cNvPr>
          <p:cNvSpPr>
            <a:spLocks noGrp="1"/>
          </p:cNvSpPr>
          <p:nvPr>
            <p:ph type="title"/>
          </p:nvPr>
        </p:nvSpPr>
        <p:spPr>
          <a:xfrm>
            <a:off x="838200" y="365125"/>
            <a:ext cx="10515600" cy="1325563"/>
          </a:xfrm>
        </p:spPr>
        <p:txBody>
          <a:bodyPr>
            <a:normAutofit/>
          </a:bodyPr>
          <a:lstStyle/>
          <a:p>
            <a:r>
              <a:rPr lang="en-US" sz="5400"/>
              <a:t>Generating Random Variables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66342FF-9378-DDF9-C91A-C07D00011688}"/>
              </a:ext>
            </a:extLst>
          </p:cNvPr>
          <p:cNvSpPr>
            <a:spLocks noGrp="1"/>
          </p:cNvSpPr>
          <p:nvPr>
            <p:ph idx="1"/>
          </p:nvPr>
        </p:nvSpPr>
        <p:spPr>
          <a:xfrm>
            <a:off x="838200" y="1929384"/>
            <a:ext cx="10515600" cy="4251960"/>
          </a:xfrm>
        </p:spPr>
        <p:txBody>
          <a:bodyPr>
            <a:normAutofit/>
          </a:bodyPr>
          <a:lstStyle/>
          <a:p>
            <a:pPr marL="0" indent="0">
              <a:buNone/>
            </a:pPr>
            <a:r>
              <a:rPr lang="en-US" sz="2200" b="1" dirty="0"/>
              <a:t>inverse transform method</a:t>
            </a:r>
          </a:p>
          <a:p>
            <a:endParaRPr lang="en-US" sz="2200" dirty="0"/>
          </a:p>
          <a:p>
            <a:r>
              <a:rPr lang="en-US" sz="1600" b="0" i="0" dirty="0">
                <a:solidFill>
                  <a:srgbClr val="242424"/>
                </a:solidFill>
                <a:effectLst/>
                <a:latin typeface="source-serif-pro"/>
              </a:rPr>
              <a:t>way to generate a random variable that follows a given distribution by making a uniform random variable goes through a well designed “transform function” (inverse CDF)</a:t>
            </a:r>
            <a:endParaRPr lang="en-US" sz="2200" dirty="0"/>
          </a:p>
        </p:txBody>
      </p:sp>
      <p:pic>
        <p:nvPicPr>
          <p:cNvPr id="1026" name="Picture 2">
            <a:extLst>
              <a:ext uri="{FF2B5EF4-FFF2-40B4-BE49-F238E27FC236}">
                <a16:creationId xmlns:a16="http://schemas.microsoft.com/office/drawing/2014/main" id="{518D26D8-81C9-42F0-CCF2-031B62532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5751" y="3312809"/>
            <a:ext cx="7717076" cy="2765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11A4F0B-95DE-BFB2-5E9C-AF8ED02A6E6F}"/>
              </a:ext>
            </a:extLst>
          </p:cNvPr>
          <p:cNvSpPr txBox="1"/>
          <p:nvPr/>
        </p:nvSpPr>
        <p:spPr>
          <a:xfrm>
            <a:off x="838200" y="6043857"/>
            <a:ext cx="10853928" cy="646331"/>
          </a:xfrm>
          <a:prstGeom prst="rect">
            <a:avLst/>
          </a:prstGeom>
          <a:noFill/>
        </p:spPr>
        <p:txBody>
          <a:bodyPr wrap="square">
            <a:spAutoFit/>
          </a:bodyPr>
          <a:lstStyle/>
          <a:p>
            <a:pPr algn="ctr"/>
            <a:r>
              <a:rPr lang="en-US" b="0" i="0" dirty="0">
                <a:solidFill>
                  <a:srgbClr val="6B6B6B"/>
                </a:solidFill>
                <a:effectLst/>
                <a:latin typeface="sohne"/>
              </a:rPr>
              <a:t>Illustration of the inverse transform method. In blue: the uniform distribution over [0,1]. In orange: the standard gaussian distribution. In grey: the mapping from the uniform to the gaussian distribution (inverse CDF).</a:t>
            </a:r>
            <a:endParaRPr lang="en-US" dirty="0"/>
          </a:p>
        </p:txBody>
      </p:sp>
    </p:spTree>
    <p:extLst>
      <p:ext uri="{BB962C8B-B14F-4D97-AF65-F5344CB8AC3E}">
        <p14:creationId xmlns:p14="http://schemas.microsoft.com/office/powerpoint/2010/main" val="104989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FBEE45-F140-49D5-85EA-C78C2434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A5B206-EE98-FADB-CDFB-7E8DDC49A73A}"/>
              </a:ext>
            </a:extLst>
          </p:cNvPr>
          <p:cNvSpPr>
            <a:spLocks noGrp="1"/>
          </p:cNvSpPr>
          <p:nvPr>
            <p:ph type="title"/>
          </p:nvPr>
        </p:nvSpPr>
        <p:spPr>
          <a:xfrm>
            <a:off x="838200" y="365125"/>
            <a:ext cx="4928387" cy="5763963"/>
          </a:xfrm>
        </p:spPr>
        <p:txBody>
          <a:bodyPr vert="horz" lIns="91440" tIns="45720" rIns="91440" bIns="45720" rtlCol="0" anchor="ctr">
            <a:normAutofit/>
          </a:bodyPr>
          <a:lstStyle/>
          <a:p>
            <a:r>
              <a:rPr lang="en-US" sz="5200" b="1" kern="1200">
                <a:solidFill>
                  <a:schemeClr val="tx1"/>
                </a:solidFill>
                <a:latin typeface="+mj-lt"/>
                <a:ea typeface="+mj-ea"/>
                <a:cs typeface="+mj-cs"/>
              </a:rPr>
              <a:t>G</a:t>
            </a:r>
            <a:r>
              <a:rPr lang="en-US" sz="5200" b="1" i="0" kern="1200">
                <a:solidFill>
                  <a:schemeClr val="tx1"/>
                </a:solidFill>
                <a:effectLst/>
                <a:latin typeface="+mj-lt"/>
                <a:ea typeface="+mj-ea"/>
                <a:cs typeface="+mj-cs"/>
              </a:rPr>
              <a:t>enerate very complex random variables</a:t>
            </a:r>
            <a:br>
              <a:rPr lang="en-US" sz="5200" b="1" i="0" kern="1200">
                <a:solidFill>
                  <a:schemeClr val="tx1"/>
                </a:solidFill>
                <a:effectLst/>
                <a:latin typeface="+mj-lt"/>
                <a:ea typeface="+mj-ea"/>
                <a:cs typeface="+mj-cs"/>
              </a:rPr>
            </a:br>
            <a:endParaRPr lang="en-US" sz="5200" kern="120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C01E06E3-0210-614C-8027-934B16999375}"/>
              </a:ext>
            </a:extLst>
          </p:cNvPr>
          <p:cNvSpPr>
            <a:spLocks noGrp="1"/>
          </p:cNvSpPr>
          <p:nvPr>
            <p:ph idx="1"/>
          </p:nvPr>
        </p:nvSpPr>
        <p:spPr>
          <a:xfrm>
            <a:off x="6191252" y="365125"/>
            <a:ext cx="5181600" cy="2806296"/>
          </a:xfrm>
        </p:spPr>
        <p:txBody>
          <a:bodyPr vert="horz" lIns="91440" tIns="45720" rIns="91440" bIns="45720" rtlCol="0">
            <a:noAutofit/>
          </a:bodyPr>
          <a:lstStyle/>
          <a:p>
            <a:pPr marL="0" algn="ctr"/>
            <a:r>
              <a:rPr lang="en-US" b="0" i="0" dirty="0">
                <a:solidFill>
                  <a:srgbClr val="FF0000"/>
                </a:solidFill>
                <a:effectLst/>
              </a:rPr>
              <a:t>Problem of generating a new image of dog is equivalent to the problem of generating a new vector following the “dog probability distribution” over the N dimensional vector space. So we are, in fact, facing a problem of generating a random variable with respect to a specific probability distribution.</a:t>
            </a:r>
            <a:endParaRPr lang="en-US" dirty="0">
              <a:solidFill>
                <a:srgbClr val="FF0000"/>
              </a:solidFill>
            </a:endParaRPr>
          </a:p>
        </p:txBody>
      </p:sp>
      <p:sp>
        <p:nvSpPr>
          <p:cNvPr id="5" name="TextBox 4">
            <a:extLst>
              <a:ext uri="{FF2B5EF4-FFF2-40B4-BE49-F238E27FC236}">
                <a16:creationId xmlns:a16="http://schemas.microsoft.com/office/drawing/2014/main" id="{080B2A3C-2CE8-70AD-A4AC-E94F51023F27}"/>
              </a:ext>
            </a:extLst>
          </p:cNvPr>
          <p:cNvSpPr txBox="1"/>
          <p:nvPr/>
        </p:nvSpPr>
        <p:spPr>
          <a:xfrm>
            <a:off x="676405" y="5454852"/>
            <a:ext cx="10835014" cy="2806296"/>
          </a:xfrm>
          <a:prstGeom prst="rect">
            <a:avLst/>
          </a:prstGeom>
        </p:spPr>
        <p:txBody>
          <a:bodyPr vert="horz" lIns="91440" tIns="45720" rIns="91440" bIns="45720" rtlCol="0">
            <a:normAutofit/>
          </a:bodyPr>
          <a:lstStyle/>
          <a:p>
            <a:pPr indent="-228600" algn="ctr">
              <a:lnSpc>
                <a:spcPct val="90000"/>
              </a:lnSpc>
              <a:spcAft>
                <a:spcPts val="600"/>
              </a:spcAft>
              <a:buFont typeface="Arial" panose="020B0604020202020204" pitchFamily="34" charset="0"/>
              <a:buChar char="•"/>
            </a:pPr>
            <a:r>
              <a:rPr lang="en-US" sz="2800" b="1" i="0" dirty="0">
                <a:solidFill>
                  <a:srgbClr val="00B050"/>
                </a:solidFill>
                <a:effectLst/>
              </a:rPr>
              <a:t>… so let’s use transform method with a neural network as function!</a:t>
            </a:r>
          </a:p>
        </p:txBody>
      </p:sp>
    </p:spTree>
    <p:extLst>
      <p:ext uri="{BB962C8B-B14F-4D97-AF65-F5344CB8AC3E}">
        <p14:creationId xmlns:p14="http://schemas.microsoft.com/office/powerpoint/2010/main" val="258451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0D7D13-1912-AA2E-EFB3-F956623FEAED}"/>
              </a:ext>
            </a:extLst>
          </p:cNvPr>
          <p:cNvSpPr>
            <a:spLocks noGrp="1"/>
          </p:cNvSpPr>
          <p:nvPr>
            <p:ph type="title"/>
          </p:nvPr>
        </p:nvSpPr>
        <p:spPr>
          <a:xfrm>
            <a:off x="466722" y="586855"/>
            <a:ext cx="3201366" cy="3387497"/>
          </a:xfrm>
        </p:spPr>
        <p:txBody>
          <a:bodyPr anchor="b">
            <a:normAutofit/>
          </a:bodyPr>
          <a:lstStyle/>
          <a:p>
            <a:pPr algn="r"/>
            <a:r>
              <a:rPr lang="en-US" sz="4000" b="1" i="0">
                <a:solidFill>
                  <a:srgbClr val="FFFFFF"/>
                </a:solidFill>
                <a:effectLst/>
                <a:latin typeface="sohne"/>
              </a:rPr>
              <a:t>Generative Matching Networks</a:t>
            </a:r>
            <a:br>
              <a:rPr lang="en-US" sz="4000" b="1" i="0">
                <a:solidFill>
                  <a:srgbClr val="FFFFFF"/>
                </a:solidFill>
                <a:effectLst/>
                <a:latin typeface="sohne"/>
              </a:rPr>
            </a:br>
            <a:endParaRPr lang="en-US" sz="4000">
              <a:solidFill>
                <a:srgbClr val="FFFFFF"/>
              </a:solidFill>
            </a:endParaRPr>
          </a:p>
        </p:txBody>
      </p:sp>
      <p:sp>
        <p:nvSpPr>
          <p:cNvPr id="3" name="Content Placeholder 2">
            <a:extLst>
              <a:ext uri="{FF2B5EF4-FFF2-40B4-BE49-F238E27FC236}">
                <a16:creationId xmlns:a16="http://schemas.microsoft.com/office/drawing/2014/main" id="{B2736072-2D2E-ED68-6426-E4D96F7D1D2B}"/>
              </a:ext>
            </a:extLst>
          </p:cNvPr>
          <p:cNvSpPr>
            <a:spLocks noGrp="1"/>
          </p:cNvSpPr>
          <p:nvPr>
            <p:ph idx="1"/>
          </p:nvPr>
        </p:nvSpPr>
        <p:spPr>
          <a:xfrm>
            <a:off x="4810259" y="649480"/>
            <a:ext cx="6555347" cy="5546047"/>
          </a:xfrm>
        </p:spPr>
        <p:txBody>
          <a:bodyPr anchor="ctr">
            <a:normAutofit/>
          </a:bodyPr>
          <a:lstStyle/>
          <a:p>
            <a:r>
              <a:rPr lang="en-US" sz="2000" dirty="0"/>
              <a:t>Optimization needs two matching techniques</a:t>
            </a:r>
          </a:p>
          <a:p>
            <a:pPr lvl="1"/>
            <a:r>
              <a:rPr lang="en-US" sz="2000" dirty="0"/>
              <a:t>Direct</a:t>
            </a:r>
          </a:p>
          <a:p>
            <a:pPr lvl="1"/>
            <a:r>
              <a:rPr lang="en-US" sz="2000" dirty="0"/>
              <a:t>Indirect</a:t>
            </a:r>
          </a:p>
          <a:p>
            <a:pPr marL="0" indent="0">
              <a:buNone/>
            </a:pPr>
            <a:endParaRPr lang="en-US" sz="2000" dirty="0"/>
          </a:p>
          <a:p>
            <a:pPr marL="0" indent="0">
              <a:buNone/>
            </a:pPr>
            <a:r>
              <a:rPr lang="en-US" sz="2000" b="1" dirty="0"/>
              <a:t>Direct method</a:t>
            </a:r>
          </a:p>
          <a:p>
            <a:r>
              <a:rPr lang="en-US" sz="2000" b="0" i="0" dirty="0">
                <a:effectLst/>
                <a:latin typeface="source-serif-pro"/>
              </a:rPr>
              <a:t>comparing the true and the generated probability distributions</a:t>
            </a:r>
          </a:p>
          <a:p>
            <a:r>
              <a:rPr lang="en-US" sz="2000" dirty="0">
                <a:latin typeface="source-serif-pro"/>
              </a:rPr>
              <a:t>Backpropagating the difference through the network</a:t>
            </a:r>
          </a:p>
          <a:p>
            <a:pPr marL="0" indent="0">
              <a:buNone/>
            </a:pPr>
            <a:r>
              <a:rPr lang="en-US" sz="2000" b="1" dirty="0">
                <a:latin typeface="source-serif-pro"/>
              </a:rPr>
              <a:t>Indirect method</a:t>
            </a:r>
          </a:p>
          <a:p>
            <a:r>
              <a:rPr lang="en-US" sz="2000" b="0" i="0" dirty="0">
                <a:effectLst/>
                <a:latin typeface="source-serif-pro"/>
              </a:rPr>
              <a:t>train the generative network by making these two distributions go through a downstream task</a:t>
            </a:r>
          </a:p>
          <a:p>
            <a:r>
              <a:rPr lang="en-US" sz="2000" b="0" i="0" dirty="0">
                <a:effectLst/>
                <a:latin typeface="source-serif-pro"/>
              </a:rPr>
              <a:t>optimization process will enforce the generated distribution to be close to the true distribution</a:t>
            </a:r>
            <a:endParaRPr lang="en-US" sz="2000" dirty="0"/>
          </a:p>
        </p:txBody>
      </p:sp>
    </p:spTree>
    <p:extLst>
      <p:ext uri="{BB962C8B-B14F-4D97-AF65-F5344CB8AC3E}">
        <p14:creationId xmlns:p14="http://schemas.microsoft.com/office/powerpoint/2010/main" val="39427282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73D51-E9F4-DACD-7A85-8331157BC2C8}"/>
              </a:ext>
            </a:extLst>
          </p:cNvPr>
          <p:cNvSpPr>
            <a:spLocks noGrp="1"/>
          </p:cNvSpPr>
          <p:nvPr>
            <p:ph type="title"/>
          </p:nvPr>
        </p:nvSpPr>
        <p:spPr>
          <a:xfrm>
            <a:off x="841248" y="334644"/>
            <a:ext cx="10509504" cy="1076914"/>
          </a:xfrm>
        </p:spPr>
        <p:txBody>
          <a:bodyPr anchor="ctr">
            <a:normAutofit/>
          </a:bodyPr>
          <a:lstStyle/>
          <a:p>
            <a:r>
              <a:rPr lang="en-US" sz="4000"/>
              <a:t>CycleGAN</a:t>
            </a:r>
          </a:p>
        </p:txBody>
      </p:sp>
      <p:sp>
        <p:nvSpPr>
          <p:cNvPr id="3" name="Content Placeholder 2">
            <a:extLst>
              <a:ext uri="{FF2B5EF4-FFF2-40B4-BE49-F238E27FC236}">
                <a16:creationId xmlns:a16="http://schemas.microsoft.com/office/drawing/2014/main" id="{EB609EF3-904E-5B15-6123-3834DF9694E3}"/>
              </a:ext>
            </a:extLst>
          </p:cNvPr>
          <p:cNvSpPr>
            <a:spLocks noGrp="1"/>
          </p:cNvSpPr>
          <p:nvPr>
            <p:ph idx="1"/>
          </p:nvPr>
        </p:nvSpPr>
        <p:spPr>
          <a:xfrm>
            <a:off x="920087" y="3077857"/>
            <a:ext cx="10342682" cy="3128568"/>
          </a:xfrm>
        </p:spPr>
        <p:txBody>
          <a:bodyPr/>
          <a:lstStyle/>
          <a:p>
            <a:pPr marL="0" indent="0" defTabSz="896112">
              <a:spcBef>
                <a:spcPts val="980"/>
              </a:spcBef>
              <a:buNone/>
            </a:pPr>
            <a:r>
              <a:rPr lang="en-US" sz="2744" kern="1200">
                <a:solidFill>
                  <a:schemeClr val="tx1"/>
                </a:solidFill>
                <a:latin typeface="+mn-lt"/>
                <a:ea typeface="+mn-ea"/>
                <a:cs typeface="+mn-cs"/>
              </a:rPr>
              <a:t>Advantages over Pix2Pix</a:t>
            </a:r>
          </a:p>
          <a:p>
            <a:pPr marL="0" indent="0">
              <a:buNone/>
            </a:pPr>
            <a:endParaRPr lang="en-US" dirty="0"/>
          </a:p>
        </p:txBody>
      </p:sp>
      <p:graphicFrame>
        <p:nvGraphicFramePr>
          <p:cNvPr id="4" name="Table 4">
            <a:extLst>
              <a:ext uri="{FF2B5EF4-FFF2-40B4-BE49-F238E27FC236}">
                <a16:creationId xmlns:a16="http://schemas.microsoft.com/office/drawing/2014/main" id="{C1F37058-7AB6-955F-AA79-DB5894BCA9D5}"/>
              </a:ext>
            </a:extLst>
          </p:cNvPr>
          <p:cNvGraphicFramePr>
            <a:graphicFrameLocks noGrp="1"/>
          </p:cNvGraphicFramePr>
          <p:nvPr/>
        </p:nvGraphicFramePr>
        <p:xfrm>
          <a:off x="1712335" y="3929442"/>
          <a:ext cx="8128000" cy="238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500986668"/>
                    </a:ext>
                  </a:extLst>
                </a:gridCol>
                <a:gridCol w="4064000">
                  <a:extLst>
                    <a:ext uri="{9D8B030D-6E8A-4147-A177-3AD203B41FA5}">
                      <a16:colId xmlns:a16="http://schemas.microsoft.com/office/drawing/2014/main" val="3862732633"/>
                    </a:ext>
                  </a:extLst>
                </a:gridCol>
              </a:tblGrid>
              <a:tr h="370840">
                <a:tc>
                  <a:txBody>
                    <a:bodyPr/>
                    <a:lstStyle/>
                    <a:p>
                      <a:r>
                        <a:rPr lang="en-US" dirty="0"/>
                        <a:t>Disadvantages of Pix2Pix</a:t>
                      </a:r>
                    </a:p>
                  </a:txBody>
                  <a:tcPr/>
                </a:tc>
                <a:tc>
                  <a:txBody>
                    <a:bodyPr/>
                    <a:lstStyle/>
                    <a:p>
                      <a:r>
                        <a:rPr lang="en-US" dirty="0"/>
                        <a:t>Overcome by </a:t>
                      </a:r>
                      <a:r>
                        <a:rPr lang="en-US" dirty="0" err="1"/>
                        <a:t>CycleGAN</a:t>
                      </a:r>
                      <a:endParaRPr lang="en-US" dirty="0"/>
                    </a:p>
                  </a:txBody>
                  <a:tcPr/>
                </a:tc>
                <a:extLst>
                  <a:ext uri="{0D108BD9-81ED-4DB2-BD59-A6C34878D82A}">
                    <a16:rowId xmlns:a16="http://schemas.microsoft.com/office/drawing/2014/main" val="1525528671"/>
                  </a:ext>
                </a:extLst>
              </a:tr>
              <a:tr h="613104">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Data required for training should be paired i.e., the images of source and target domain should be of same location</a:t>
                      </a:r>
                    </a:p>
                    <a:p>
                      <a:pPr marL="285750" indent="-285750">
                        <a:buFont typeface="Arial" panose="020B0604020202020204" pitchFamily="34" charset="0"/>
                        <a:buChar char="•"/>
                      </a:pPr>
                      <a:endParaRPr lang="en-US" sz="1800" b="0" i="0" kern="1200" dirty="0">
                        <a:solidFill>
                          <a:schemeClr val="dk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Number of images of both the domains should also be same</a:t>
                      </a:r>
                      <a:endParaRPr lang="en-US" dirty="0"/>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training a deep convolutional neural network for image-to-image translation tasks</a:t>
                      </a:r>
                    </a:p>
                    <a:p>
                      <a:pPr marL="285750" indent="-285750">
                        <a:buFont typeface="Arial" panose="020B0604020202020204" pitchFamily="34" charset="0"/>
                        <a:buChar char="•"/>
                      </a:pPr>
                      <a:endParaRPr lang="en-US" sz="1800" b="0" i="0" kern="1200" dirty="0">
                        <a:solidFill>
                          <a:schemeClr val="dk1"/>
                        </a:solidFill>
                        <a:effectLst/>
                        <a:latin typeface="+mn-lt"/>
                        <a:ea typeface="+mn-ea"/>
                        <a:cs typeface="+mn-cs"/>
                      </a:endParaRP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mapping between input and output images using unpaired dataset</a:t>
                      </a:r>
                      <a:endParaRPr lang="en-US" dirty="0"/>
                    </a:p>
                  </a:txBody>
                  <a:tcPr/>
                </a:tc>
                <a:extLst>
                  <a:ext uri="{0D108BD9-81ED-4DB2-BD59-A6C34878D82A}">
                    <a16:rowId xmlns:a16="http://schemas.microsoft.com/office/drawing/2014/main" val="3181932799"/>
                  </a:ext>
                </a:extLst>
              </a:tr>
            </a:tbl>
          </a:graphicData>
        </a:graphic>
      </p:graphicFrame>
      <p:sp>
        <p:nvSpPr>
          <p:cNvPr id="6" name="TextBox 5">
            <a:extLst>
              <a:ext uri="{FF2B5EF4-FFF2-40B4-BE49-F238E27FC236}">
                <a16:creationId xmlns:a16="http://schemas.microsoft.com/office/drawing/2014/main" id="{38653BCF-0608-21F3-240D-83270BA7D29B}"/>
              </a:ext>
            </a:extLst>
          </p:cNvPr>
          <p:cNvSpPr txBox="1"/>
          <p:nvPr/>
        </p:nvSpPr>
        <p:spPr>
          <a:xfrm>
            <a:off x="920087" y="1737360"/>
            <a:ext cx="10004907" cy="635703"/>
          </a:xfrm>
          <a:prstGeom prst="rect">
            <a:avLst/>
          </a:prstGeom>
          <a:noFill/>
        </p:spPr>
        <p:txBody>
          <a:bodyPr wrap="square">
            <a:spAutoFit/>
          </a:bodyPr>
          <a:lstStyle/>
          <a:p>
            <a:pPr defTabSz="896112">
              <a:spcAft>
                <a:spcPts val="600"/>
              </a:spcAft>
            </a:pPr>
            <a:r>
              <a:rPr lang="en-US" sz="1764" b="1" kern="1200">
                <a:solidFill>
                  <a:srgbClr val="151515"/>
                </a:solidFill>
                <a:latin typeface="Avenir Next W01"/>
                <a:ea typeface="+mn-ea"/>
                <a:cs typeface="+mn-cs"/>
              </a:rPr>
              <a:t>an extension of Pix2Pix architecture which involves simultaneous training of two generator models and two discriminator models</a:t>
            </a:r>
            <a:endParaRPr lang="en-US" b="1"/>
          </a:p>
        </p:txBody>
      </p:sp>
      <p:sp>
        <p:nvSpPr>
          <p:cNvPr id="7" name="TextBox 6">
            <a:extLst>
              <a:ext uri="{FF2B5EF4-FFF2-40B4-BE49-F238E27FC236}">
                <a16:creationId xmlns:a16="http://schemas.microsoft.com/office/drawing/2014/main" id="{2DE01AA1-E69D-59AE-A63D-3FA9EE1F0BB7}"/>
              </a:ext>
            </a:extLst>
          </p:cNvPr>
          <p:cNvSpPr txBox="1"/>
          <p:nvPr/>
        </p:nvSpPr>
        <p:spPr>
          <a:xfrm>
            <a:off x="140465" y="6422205"/>
            <a:ext cx="6097836" cy="369332"/>
          </a:xfrm>
          <a:prstGeom prst="rect">
            <a:avLst/>
          </a:prstGeom>
          <a:noFill/>
        </p:spPr>
        <p:txBody>
          <a:bodyPr wrap="square">
            <a:spAutoFit/>
          </a:bodyPr>
          <a:lstStyle/>
          <a:p>
            <a:r>
              <a:rPr lang="en-US" dirty="0"/>
              <a:t>https://arxiv.org/abs/1703.10593</a:t>
            </a:r>
          </a:p>
        </p:txBody>
      </p:sp>
    </p:spTree>
    <p:extLst>
      <p:ext uri="{BB962C8B-B14F-4D97-AF65-F5344CB8AC3E}">
        <p14:creationId xmlns:p14="http://schemas.microsoft.com/office/powerpoint/2010/main" val="319179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BFF2A-DD45-FCC4-CBB6-DE3DAABB9DD7}"/>
              </a:ext>
            </a:extLst>
          </p:cNvPr>
          <p:cNvSpPr>
            <a:spLocks noGrp="1"/>
          </p:cNvSpPr>
          <p:nvPr>
            <p:ph type="title"/>
          </p:nvPr>
        </p:nvSpPr>
        <p:spPr/>
        <p:txBody>
          <a:bodyPr/>
          <a:lstStyle/>
          <a:p>
            <a:r>
              <a:rPr lang="en-US" dirty="0"/>
              <a:t>Pix2Pix</a:t>
            </a:r>
          </a:p>
        </p:txBody>
      </p:sp>
      <p:graphicFrame>
        <p:nvGraphicFramePr>
          <p:cNvPr id="7" name="Content Placeholder 2">
            <a:extLst>
              <a:ext uri="{FF2B5EF4-FFF2-40B4-BE49-F238E27FC236}">
                <a16:creationId xmlns:a16="http://schemas.microsoft.com/office/drawing/2014/main" id="{B50658D7-E7CB-CDA1-54CE-725DE331185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9FD91A97-0DD1-E8B4-F5E3-B49AE068BAA0}"/>
              </a:ext>
            </a:extLst>
          </p:cNvPr>
          <p:cNvSpPr txBox="1"/>
          <p:nvPr/>
        </p:nvSpPr>
        <p:spPr>
          <a:xfrm>
            <a:off x="10550658" y="6320680"/>
            <a:ext cx="803142" cy="344390"/>
          </a:xfrm>
          <a:prstGeom prst="rect">
            <a:avLst/>
          </a:prstGeom>
          <a:noFill/>
        </p:spPr>
        <p:txBody>
          <a:bodyPr wrap="square" rtlCol="0">
            <a:spAutoFit/>
          </a:bodyPr>
          <a:lstStyle/>
          <a:p>
            <a:pPr defTabSz="832104">
              <a:spcAft>
                <a:spcPts val="600"/>
              </a:spcAft>
            </a:pPr>
            <a:r>
              <a:rPr lang="en-US" sz="1638" b="1" kern="1200" dirty="0">
                <a:solidFill>
                  <a:schemeClr val="tx1"/>
                </a:solidFill>
                <a:latin typeface="+mn-lt"/>
                <a:ea typeface="+mn-ea"/>
                <a:cs typeface="+mn-cs"/>
              </a:rPr>
              <a:t>Cont..</a:t>
            </a:r>
            <a:endParaRPr lang="en-US" b="1" dirty="0"/>
          </a:p>
        </p:txBody>
      </p:sp>
    </p:spTree>
    <p:extLst>
      <p:ext uri="{BB962C8B-B14F-4D97-AF65-F5344CB8AC3E}">
        <p14:creationId xmlns:p14="http://schemas.microsoft.com/office/powerpoint/2010/main" val="33614553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B974EC-13B0-B132-E559-95F9C7AD7402}"/>
              </a:ext>
            </a:extLst>
          </p:cNvPr>
          <p:cNvSpPr>
            <a:spLocks noGrp="1"/>
          </p:cNvSpPr>
          <p:nvPr>
            <p:ph type="title"/>
          </p:nvPr>
        </p:nvSpPr>
        <p:spPr>
          <a:xfrm>
            <a:off x="761995" y="307447"/>
            <a:ext cx="10693884" cy="1109932"/>
          </a:xfrm>
        </p:spPr>
        <p:txBody>
          <a:bodyPr>
            <a:normAutofit/>
          </a:bodyPr>
          <a:lstStyle/>
          <a:p>
            <a:r>
              <a:rPr lang="en-US" sz="3700" b="0" i="0">
                <a:effectLst/>
                <a:latin typeface="Avenir Next W01"/>
              </a:rPr>
              <a:t>Patch-GAN Discriminator</a:t>
            </a:r>
            <a:br>
              <a:rPr lang="en-US" sz="3700" b="0" i="0">
                <a:effectLst/>
                <a:latin typeface="Avenir Next W01"/>
              </a:rPr>
            </a:br>
            <a:endParaRPr lang="en-US" sz="3700"/>
          </a:p>
        </p:txBody>
      </p:sp>
      <p:pic>
        <p:nvPicPr>
          <p:cNvPr id="5" name="Picture 4">
            <a:extLst>
              <a:ext uri="{FF2B5EF4-FFF2-40B4-BE49-F238E27FC236}">
                <a16:creationId xmlns:a16="http://schemas.microsoft.com/office/drawing/2014/main" id="{FAE24C52-67FA-1823-5537-8E1F67D6FE5E}"/>
              </a:ext>
            </a:extLst>
          </p:cNvPr>
          <p:cNvPicPr>
            <a:picLocks noChangeAspect="1"/>
          </p:cNvPicPr>
          <p:nvPr/>
        </p:nvPicPr>
        <p:blipFill>
          <a:blip r:embed="rId3"/>
          <a:stretch>
            <a:fillRect/>
          </a:stretch>
        </p:blipFill>
        <p:spPr>
          <a:xfrm>
            <a:off x="-9962" y="3099155"/>
            <a:ext cx="7216981" cy="2850707"/>
          </a:xfrm>
          <a:prstGeom prst="rect">
            <a:avLst/>
          </a:prstGeom>
        </p:spPr>
      </p:pic>
      <p:sp>
        <p:nvSpPr>
          <p:cNvPr id="3" name="Content Placeholder 2">
            <a:extLst>
              <a:ext uri="{FF2B5EF4-FFF2-40B4-BE49-F238E27FC236}">
                <a16:creationId xmlns:a16="http://schemas.microsoft.com/office/drawing/2014/main" id="{8176CE57-47AC-6F9B-E0EC-529869E2A394}"/>
              </a:ext>
            </a:extLst>
          </p:cNvPr>
          <p:cNvSpPr>
            <a:spLocks noGrp="1"/>
          </p:cNvSpPr>
          <p:nvPr>
            <p:ph idx="1"/>
          </p:nvPr>
        </p:nvSpPr>
        <p:spPr>
          <a:xfrm>
            <a:off x="7190509" y="2357888"/>
            <a:ext cx="4265370" cy="3902635"/>
          </a:xfrm>
        </p:spPr>
        <p:txBody>
          <a:bodyPr anchor="ctr">
            <a:normAutofit/>
          </a:bodyPr>
          <a:lstStyle/>
          <a:p>
            <a:r>
              <a:rPr lang="en-US" sz="1900" dirty="0">
                <a:latin typeface="Avenir Next W01"/>
              </a:rPr>
              <a:t>W</a:t>
            </a:r>
            <a:r>
              <a:rPr lang="en-US" sz="1900" b="0" i="0" dirty="0">
                <a:effectLst/>
                <a:latin typeface="Avenir Next W01"/>
              </a:rPr>
              <a:t>orks by classifying a patch of (n*n) in an image into real and fake</a:t>
            </a:r>
          </a:p>
          <a:p>
            <a:r>
              <a:rPr lang="en-US" sz="1900" b="0" i="0" dirty="0">
                <a:effectLst/>
                <a:latin typeface="Avenir Next W01"/>
              </a:rPr>
              <a:t>This forces more constraints and encourages sharp high frequency details</a:t>
            </a:r>
            <a:endParaRPr lang="en-US" sz="1900" dirty="0">
              <a:latin typeface="Avenir Next W01"/>
            </a:endParaRPr>
          </a:p>
          <a:p>
            <a:r>
              <a:rPr lang="en-US" sz="1900" dirty="0">
                <a:latin typeface="Avenir Next W01"/>
              </a:rPr>
              <a:t>D</a:t>
            </a:r>
            <a:r>
              <a:rPr lang="en-US" sz="1900" b="0" i="0" dirty="0">
                <a:effectLst/>
                <a:latin typeface="Avenir Next W01"/>
              </a:rPr>
              <a:t>iscriminator accepts two image pairs as input, input image, target image and input image, generated image</a:t>
            </a:r>
          </a:p>
          <a:p>
            <a:r>
              <a:rPr lang="en-US" sz="1900" b="0" i="0" dirty="0">
                <a:effectLst/>
                <a:latin typeface="Avenir Next W01"/>
              </a:rPr>
              <a:t>loss consists of two losses; one is a sigmoid cross-entropy loss between real image and array of ones, and another is between generated image and array of zeros</a:t>
            </a:r>
            <a:endParaRPr lang="en-US" sz="1900" dirty="0"/>
          </a:p>
        </p:txBody>
      </p:sp>
    </p:spTree>
    <p:extLst>
      <p:ext uri="{BB962C8B-B14F-4D97-AF65-F5344CB8AC3E}">
        <p14:creationId xmlns:p14="http://schemas.microsoft.com/office/powerpoint/2010/main" val="4120284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1171</TotalTime>
  <Words>4459</Words>
  <Application>Microsoft Office PowerPoint</Application>
  <PresentationFormat>Widescreen</PresentationFormat>
  <Paragraphs>337</Paragraphs>
  <Slides>43</Slides>
  <Notes>29</Notes>
  <HiddenSlides>11</HiddenSlides>
  <MMClips>2</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Generative AI</vt:lpstr>
      <vt:lpstr>Use-Case Example in a Typical Computer Vision Domain –  Object Detection in Advanced Manufacturing Setup</vt:lpstr>
      <vt:lpstr>Part I Introduction to GAN</vt:lpstr>
      <vt:lpstr>Introduction</vt:lpstr>
      <vt:lpstr>Background: What is Generative Model?</vt:lpstr>
      <vt:lpstr>PowerPoint Presentation</vt:lpstr>
      <vt:lpstr>Overview of GAN Structure</vt:lpstr>
      <vt:lpstr>PowerPoint Presentation</vt:lpstr>
      <vt:lpstr>Discriminator</vt:lpstr>
      <vt:lpstr>Generator</vt:lpstr>
      <vt:lpstr>Generating Random Variables</vt:lpstr>
      <vt:lpstr>Generating Random Variables</vt:lpstr>
      <vt:lpstr>Use the Discriminator to train Generator</vt:lpstr>
      <vt:lpstr>Generative model approximation</vt:lpstr>
      <vt:lpstr>Training GAN</vt:lpstr>
      <vt:lpstr>Loss Functions</vt:lpstr>
      <vt:lpstr>Loss Functions</vt:lpstr>
      <vt:lpstr>The approximation: GAN</vt:lpstr>
      <vt:lpstr>Direct method</vt:lpstr>
      <vt:lpstr>The “indirect” training method </vt:lpstr>
      <vt:lpstr>Type of GANs</vt:lpstr>
      <vt:lpstr>Type of GANs</vt:lpstr>
      <vt:lpstr>Type of GANs</vt:lpstr>
      <vt:lpstr>Part II Synthetic Data</vt:lpstr>
      <vt:lpstr>Use-Case Example in a Typical Computer Vision Domain –  Object Detection in Advanced Manufacturing Setup</vt:lpstr>
      <vt:lpstr>Generation of Synthetic Data </vt:lpstr>
      <vt:lpstr>CycleGAN</vt:lpstr>
      <vt:lpstr>Examples</vt:lpstr>
      <vt:lpstr>Cycle Consistency Loss</vt:lpstr>
      <vt:lpstr>PowerPoint Presentation</vt:lpstr>
      <vt:lpstr>PowerPoint Presentation</vt:lpstr>
      <vt:lpstr>PowerPoint Presentation</vt:lpstr>
      <vt:lpstr>PowerPoint Presentation</vt:lpstr>
      <vt:lpstr>Thank You.</vt:lpstr>
      <vt:lpstr>Generating Random Variables</vt:lpstr>
      <vt:lpstr>Generating Random Variables</vt:lpstr>
      <vt:lpstr>Generating Random Variables</vt:lpstr>
      <vt:lpstr>Generating Random Variables</vt:lpstr>
      <vt:lpstr>Generate very complex random variables </vt:lpstr>
      <vt:lpstr>Generative Matching Networks </vt:lpstr>
      <vt:lpstr>CycleGAN</vt:lpstr>
      <vt:lpstr>Pix2Pix</vt:lpstr>
      <vt:lpstr>Patch-GAN Discriminator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Adversarial Network</dc:title>
  <dc:creator>Abhishek Mukhopadhyay</dc:creator>
  <cp:lastModifiedBy>Vinay Krishna Sharma</cp:lastModifiedBy>
  <cp:revision>147</cp:revision>
  <dcterms:created xsi:type="dcterms:W3CDTF">2023-08-01T11:34:01Z</dcterms:created>
  <dcterms:modified xsi:type="dcterms:W3CDTF">2024-01-06T16:07:57Z</dcterms:modified>
</cp:coreProperties>
</file>